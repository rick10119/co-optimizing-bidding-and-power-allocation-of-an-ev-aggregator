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4178" r:id="rId2"/>
  </p:sldMasterIdLst>
  <p:notesMasterIdLst>
    <p:notesMasterId r:id="rId36"/>
  </p:notesMasterIdLst>
  <p:handoutMasterIdLst>
    <p:handoutMasterId r:id="rId37"/>
  </p:handoutMasterIdLst>
  <p:sldIdLst>
    <p:sldId id="1714" r:id="rId3"/>
    <p:sldId id="2065" r:id="rId4"/>
    <p:sldId id="2056" r:id="rId5"/>
    <p:sldId id="2058" r:id="rId6"/>
    <p:sldId id="2048" r:id="rId7"/>
    <p:sldId id="2084" r:id="rId8"/>
    <p:sldId id="2085" r:id="rId9"/>
    <p:sldId id="2061" r:id="rId10"/>
    <p:sldId id="2062" r:id="rId11"/>
    <p:sldId id="2060" r:id="rId12"/>
    <p:sldId id="2064" r:id="rId13"/>
    <p:sldId id="2063" r:id="rId14"/>
    <p:sldId id="2049" r:id="rId15"/>
    <p:sldId id="2028" r:id="rId16"/>
    <p:sldId id="2082" r:id="rId17"/>
    <p:sldId id="2080" r:id="rId18"/>
    <p:sldId id="2081" r:id="rId19"/>
    <p:sldId id="2067" r:id="rId20"/>
    <p:sldId id="2008" r:id="rId21"/>
    <p:sldId id="2068" r:id="rId22"/>
    <p:sldId id="2069" r:id="rId23"/>
    <p:sldId id="2070" r:id="rId24"/>
    <p:sldId id="2039" r:id="rId25"/>
    <p:sldId id="2071" r:id="rId26"/>
    <p:sldId id="2086" r:id="rId27"/>
    <p:sldId id="2073" r:id="rId28"/>
    <p:sldId id="1908" r:id="rId29"/>
    <p:sldId id="2074" r:id="rId30"/>
    <p:sldId id="2076" r:id="rId31"/>
    <p:sldId id="2075" r:id="rId32"/>
    <p:sldId id="2077" r:id="rId33"/>
    <p:sldId id="2078" r:id="rId34"/>
    <p:sldId id="2079"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4" clrIdx="0">
    <p:extLst>
      <p:ext uri="{19B8F6BF-5375-455C-9EA6-DF929625EA0E}">
        <p15:presenceInfo xmlns:p15="http://schemas.microsoft.com/office/powerpoint/2012/main" userId="lenovo" providerId="None"/>
      </p:ext>
    </p:extLst>
  </p:cmAuthor>
  <p:cmAuthor id="2" name="鸿业 郭" initials="鸿业" lastIdx="7" clrIdx="1">
    <p:extLst>
      <p:ext uri="{19B8F6BF-5375-455C-9EA6-DF929625EA0E}">
        <p15:presenceInfo xmlns:p15="http://schemas.microsoft.com/office/powerpoint/2012/main" userId="48de884c3fc48668" providerId="Windows Live"/>
      </p:ext>
    </p:extLst>
  </p:cmAuthor>
  <p:cmAuthor id="3" name="ThinkPad" initials="TP" lastIdx="33" clrIdx="2">
    <p:extLst>
      <p:ext uri="{19B8F6BF-5375-455C-9EA6-DF929625EA0E}">
        <p15:presenceInfo xmlns:p15="http://schemas.microsoft.com/office/powerpoint/2012/main" userId="ThinkPad" providerId="None"/>
      </p:ext>
    </p:extLst>
  </p:cmAuthor>
  <p:cmAuthor id="4" name="Dell" initials="Dell" lastIdx="1" clrIdx="3">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6FC6"/>
    <a:srgbClr val="EAF6FC"/>
    <a:srgbClr val="D4ECF8"/>
    <a:srgbClr val="36B2E1"/>
    <a:srgbClr val="F1F6F9"/>
    <a:srgbClr val="37B3E2"/>
    <a:srgbClr val="26ACDF"/>
    <a:srgbClr val="069FDA"/>
    <a:srgbClr val="32B0E0"/>
    <a:srgbClr val="2DA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39" autoAdjust="0"/>
    <p:restoredTop sz="96265" autoAdjust="0"/>
  </p:normalViewPr>
  <p:slideViewPr>
    <p:cSldViewPr snapToGrid="0" showGuides="1">
      <p:cViewPr varScale="1">
        <p:scale>
          <a:sx n="96" d="100"/>
          <a:sy n="96" d="100"/>
        </p:scale>
        <p:origin x="72" y="480"/>
      </p:cViewPr>
      <p:guideLst>
        <p:guide orient="horz" pos="4110"/>
        <p:guide pos="3840"/>
      </p:guideLst>
    </p:cSldViewPr>
  </p:slideViewPr>
  <p:notesTextViewPr>
    <p:cViewPr>
      <p:scale>
        <a:sx n="125" d="100"/>
        <a:sy n="125" d="100"/>
      </p:scale>
      <p:origin x="0" y="0"/>
    </p:cViewPr>
  </p:notesTextViewPr>
  <p:sorterViewPr>
    <p:cViewPr>
      <p:scale>
        <a:sx n="200" d="100"/>
        <a:sy n="200" d="100"/>
      </p:scale>
      <p:origin x="0" y="-2461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5581ACA-B165-4BDB-881C-B01890A1EB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986734F-DD04-4E14-9761-33D690B94B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123574-364C-453D-973C-7E48CD468F75}" type="datetimeFigureOut">
              <a:rPr lang="zh-CN" altLang="en-US" smtClean="0"/>
              <a:t>2023/12/8</a:t>
            </a:fld>
            <a:endParaRPr lang="zh-CN" altLang="en-US"/>
          </a:p>
        </p:txBody>
      </p:sp>
      <p:sp>
        <p:nvSpPr>
          <p:cNvPr id="4" name="页脚占位符 3">
            <a:extLst>
              <a:ext uri="{FF2B5EF4-FFF2-40B4-BE49-F238E27FC236}">
                <a16:creationId xmlns:a16="http://schemas.microsoft.com/office/drawing/2014/main" id="{B9612996-9E69-4A6D-BEC8-7240F22527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02AEE808-F261-428E-9106-35A1CF0E0C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2B91D3-5640-46CB-87A6-1909AA7604FB}" type="slidenum">
              <a:rPr lang="zh-CN" altLang="en-US" smtClean="0"/>
              <a:t>‹#›</a:t>
            </a:fld>
            <a:endParaRPr lang="zh-CN" altLang="en-US"/>
          </a:p>
        </p:txBody>
      </p:sp>
    </p:spTree>
    <p:extLst>
      <p:ext uri="{BB962C8B-B14F-4D97-AF65-F5344CB8AC3E}">
        <p14:creationId xmlns:p14="http://schemas.microsoft.com/office/powerpoint/2010/main" val="20815443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6DA15-4BB0-44B8-A452-7E468A6337AC}" type="datetimeFigureOut">
              <a:rPr lang="zh-CN" altLang="en-US" smtClean="0"/>
              <a:t>2023/12/8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3E3FAA-938B-40A0-A190-366E443E7FCB}" type="slidenum">
              <a:rPr lang="zh-CN" altLang="en-US" smtClean="0"/>
              <a:t>‹#›</a:t>
            </a:fld>
            <a:endParaRPr lang="zh-CN" altLang="en-US"/>
          </a:p>
        </p:txBody>
      </p:sp>
    </p:spTree>
    <p:extLst>
      <p:ext uri="{BB962C8B-B14F-4D97-AF65-F5344CB8AC3E}">
        <p14:creationId xmlns:p14="http://schemas.microsoft.com/office/powerpoint/2010/main" val="220270468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E3E3FAA-938B-40A0-A190-366E443E7FCB}" type="slidenum">
              <a:rPr lang="zh-CN" altLang="en-US" smtClean="0"/>
              <a:t>1</a:t>
            </a:fld>
            <a:endParaRPr lang="zh-CN" altLang="en-US"/>
          </a:p>
        </p:txBody>
      </p:sp>
    </p:spTree>
    <p:extLst>
      <p:ext uri="{BB962C8B-B14F-4D97-AF65-F5344CB8AC3E}">
        <p14:creationId xmlns:p14="http://schemas.microsoft.com/office/powerpoint/2010/main" val="605414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2</a:t>
            </a:fld>
            <a:endParaRPr lang="zh-CN" altLang="en-US"/>
          </a:p>
        </p:txBody>
      </p:sp>
    </p:spTree>
    <p:extLst>
      <p:ext uri="{BB962C8B-B14F-4D97-AF65-F5344CB8AC3E}">
        <p14:creationId xmlns:p14="http://schemas.microsoft.com/office/powerpoint/2010/main" val="703889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5</a:t>
            </a:fld>
            <a:endParaRPr lang="zh-CN" altLang="en-US"/>
          </a:p>
        </p:txBody>
      </p:sp>
    </p:spTree>
    <p:extLst>
      <p:ext uri="{BB962C8B-B14F-4D97-AF65-F5344CB8AC3E}">
        <p14:creationId xmlns:p14="http://schemas.microsoft.com/office/powerpoint/2010/main" val="2993994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6</a:t>
            </a:fld>
            <a:endParaRPr lang="zh-CN" altLang="en-US"/>
          </a:p>
        </p:txBody>
      </p:sp>
    </p:spTree>
    <p:extLst>
      <p:ext uri="{BB962C8B-B14F-4D97-AF65-F5344CB8AC3E}">
        <p14:creationId xmlns:p14="http://schemas.microsoft.com/office/powerpoint/2010/main" val="3336466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7</a:t>
            </a:fld>
            <a:endParaRPr lang="zh-CN" altLang="en-US"/>
          </a:p>
        </p:txBody>
      </p:sp>
    </p:spTree>
    <p:extLst>
      <p:ext uri="{BB962C8B-B14F-4D97-AF65-F5344CB8AC3E}">
        <p14:creationId xmlns:p14="http://schemas.microsoft.com/office/powerpoint/2010/main" val="3637425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8</a:t>
            </a:fld>
            <a:endParaRPr lang="zh-CN" altLang="en-US"/>
          </a:p>
        </p:txBody>
      </p:sp>
    </p:spTree>
    <p:extLst>
      <p:ext uri="{BB962C8B-B14F-4D97-AF65-F5344CB8AC3E}">
        <p14:creationId xmlns:p14="http://schemas.microsoft.com/office/powerpoint/2010/main" val="3915746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9</a:t>
            </a:fld>
            <a:endParaRPr lang="zh-CN" altLang="en-US"/>
          </a:p>
        </p:txBody>
      </p:sp>
    </p:spTree>
    <p:extLst>
      <p:ext uri="{BB962C8B-B14F-4D97-AF65-F5344CB8AC3E}">
        <p14:creationId xmlns:p14="http://schemas.microsoft.com/office/powerpoint/2010/main" val="2873415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10</a:t>
            </a:fld>
            <a:endParaRPr lang="zh-CN" altLang="en-US"/>
          </a:p>
        </p:txBody>
      </p:sp>
    </p:spTree>
    <p:extLst>
      <p:ext uri="{BB962C8B-B14F-4D97-AF65-F5344CB8AC3E}">
        <p14:creationId xmlns:p14="http://schemas.microsoft.com/office/powerpoint/2010/main" val="1838985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11</a:t>
            </a:fld>
            <a:endParaRPr lang="zh-CN" altLang="en-US"/>
          </a:p>
        </p:txBody>
      </p:sp>
    </p:spTree>
    <p:extLst>
      <p:ext uri="{BB962C8B-B14F-4D97-AF65-F5344CB8AC3E}">
        <p14:creationId xmlns:p14="http://schemas.microsoft.com/office/powerpoint/2010/main" val="3299509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12</a:t>
            </a:fld>
            <a:endParaRPr lang="zh-CN" altLang="en-US"/>
          </a:p>
        </p:txBody>
      </p:sp>
    </p:spTree>
    <p:extLst>
      <p:ext uri="{BB962C8B-B14F-4D97-AF65-F5344CB8AC3E}">
        <p14:creationId xmlns:p14="http://schemas.microsoft.com/office/powerpoint/2010/main" val="465050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13</a:t>
            </a:fld>
            <a:endParaRPr lang="zh-CN" altLang="en-US"/>
          </a:p>
        </p:txBody>
      </p:sp>
    </p:spTree>
    <p:extLst>
      <p:ext uri="{BB962C8B-B14F-4D97-AF65-F5344CB8AC3E}">
        <p14:creationId xmlns:p14="http://schemas.microsoft.com/office/powerpoint/2010/main" val="1607623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14</a:t>
            </a:fld>
            <a:endParaRPr lang="zh-CN" altLang="en-US"/>
          </a:p>
        </p:txBody>
      </p:sp>
    </p:spTree>
    <p:extLst>
      <p:ext uri="{BB962C8B-B14F-4D97-AF65-F5344CB8AC3E}">
        <p14:creationId xmlns:p14="http://schemas.microsoft.com/office/powerpoint/2010/main" val="1670683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15</a:t>
            </a:fld>
            <a:endParaRPr lang="zh-CN" altLang="en-US"/>
          </a:p>
        </p:txBody>
      </p:sp>
    </p:spTree>
    <p:extLst>
      <p:ext uri="{BB962C8B-B14F-4D97-AF65-F5344CB8AC3E}">
        <p14:creationId xmlns:p14="http://schemas.microsoft.com/office/powerpoint/2010/main" val="85937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16</a:t>
            </a:fld>
            <a:endParaRPr lang="zh-CN" altLang="en-US"/>
          </a:p>
        </p:txBody>
      </p:sp>
    </p:spTree>
    <p:extLst>
      <p:ext uri="{BB962C8B-B14F-4D97-AF65-F5344CB8AC3E}">
        <p14:creationId xmlns:p14="http://schemas.microsoft.com/office/powerpoint/2010/main" val="870302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17</a:t>
            </a:fld>
            <a:endParaRPr lang="zh-CN" altLang="en-US"/>
          </a:p>
        </p:txBody>
      </p:sp>
    </p:spTree>
    <p:extLst>
      <p:ext uri="{BB962C8B-B14F-4D97-AF65-F5344CB8AC3E}">
        <p14:creationId xmlns:p14="http://schemas.microsoft.com/office/powerpoint/2010/main" val="16089630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18</a:t>
            </a:fld>
            <a:endParaRPr lang="zh-CN" altLang="en-US"/>
          </a:p>
        </p:txBody>
      </p:sp>
    </p:spTree>
    <p:extLst>
      <p:ext uri="{BB962C8B-B14F-4D97-AF65-F5344CB8AC3E}">
        <p14:creationId xmlns:p14="http://schemas.microsoft.com/office/powerpoint/2010/main" val="1164521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19</a:t>
            </a:fld>
            <a:endParaRPr lang="zh-CN" altLang="en-US"/>
          </a:p>
        </p:txBody>
      </p:sp>
    </p:spTree>
    <p:extLst>
      <p:ext uri="{BB962C8B-B14F-4D97-AF65-F5344CB8AC3E}">
        <p14:creationId xmlns:p14="http://schemas.microsoft.com/office/powerpoint/2010/main" val="3296869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20</a:t>
            </a:fld>
            <a:endParaRPr lang="zh-CN" altLang="en-US"/>
          </a:p>
        </p:txBody>
      </p:sp>
    </p:spTree>
    <p:extLst>
      <p:ext uri="{BB962C8B-B14F-4D97-AF65-F5344CB8AC3E}">
        <p14:creationId xmlns:p14="http://schemas.microsoft.com/office/powerpoint/2010/main" val="107371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21</a:t>
            </a:fld>
            <a:endParaRPr lang="zh-CN" altLang="en-US"/>
          </a:p>
        </p:txBody>
      </p:sp>
    </p:spTree>
    <p:extLst>
      <p:ext uri="{BB962C8B-B14F-4D97-AF65-F5344CB8AC3E}">
        <p14:creationId xmlns:p14="http://schemas.microsoft.com/office/powerpoint/2010/main" val="16014512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22</a:t>
            </a:fld>
            <a:endParaRPr lang="zh-CN" altLang="en-US"/>
          </a:p>
        </p:txBody>
      </p:sp>
    </p:spTree>
    <p:extLst>
      <p:ext uri="{BB962C8B-B14F-4D97-AF65-F5344CB8AC3E}">
        <p14:creationId xmlns:p14="http://schemas.microsoft.com/office/powerpoint/2010/main" val="485256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23</a:t>
            </a:fld>
            <a:endParaRPr lang="zh-CN" altLang="en-US"/>
          </a:p>
        </p:txBody>
      </p:sp>
    </p:spTree>
    <p:extLst>
      <p:ext uri="{BB962C8B-B14F-4D97-AF65-F5344CB8AC3E}">
        <p14:creationId xmlns:p14="http://schemas.microsoft.com/office/powerpoint/2010/main" val="2709162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E3E3FAA-938B-40A0-A190-366E443E7FCB}" type="slidenum">
              <a:rPr lang="zh-CN" altLang="en-US" smtClean="0"/>
              <a:t>24</a:t>
            </a:fld>
            <a:endParaRPr lang="zh-CN" altLang="en-US"/>
          </a:p>
        </p:txBody>
      </p:sp>
    </p:spTree>
    <p:extLst>
      <p:ext uri="{BB962C8B-B14F-4D97-AF65-F5344CB8AC3E}">
        <p14:creationId xmlns:p14="http://schemas.microsoft.com/office/powerpoint/2010/main" val="1910991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26</a:t>
            </a:fld>
            <a:endParaRPr lang="zh-CN" altLang="en-US"/>
          </a:p>
        </p:txBody>
      </p:sp>
    </p:spTree>
    <p:extLst>
      <p:ext uri="{BB962C8B-B14F-4D97-AF65-F5344CB8AC3E}">
        <p14:creationId xmlns:p14="http://schemas.microsoft.com/office/powerpoint/2010/main" val="127355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27</a:t>
            </a:fld>
            <a:endParaRPr lang="zh-CN" altLang="en-US"/>
          </a:p>
        </p:txBody>
      </p:sp>
    </p:spTree>
    <p:extLst>
      <p:ext uri="{BB962C8B-B14F-4D97-AF65-F5344CB8AC3E}">
        <p14:creationId xmlns:p14="http://schemas.microsoft.com/office/powerpoint/2010/main" val="634427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28</a:t>
            </a:fld>
            <a:endParaRPr lang="zh-CN" altLang="en-US"/>
          </a:p>
        </p:txBody>
      </p:sp>
    </p:spTree>
    <p:extLst>
      <p:ext uri="{BB962C8B-B14F-4D97-AF65-F5344CB8AC3E}">
        <p14:creationId xmlns:p14="http://schemas.microsoft.com/office/powerpoint/2010/main" val="2904340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29</a:t>
            </a:fld>
            <a:endParaRPr lang="zh-CN" altLang="en-US"/>
          </a:p>
        </p:txBody>
      </p:sp>
    </p:spTree>
    <p:extLst>
      <p:ext uri="{BB962C8B-B14F-4D97-AF65-F5344CB8AC3E}">
        <p14:creationId xmlns:p14="http://schemas.microsoft.com/office/powerpoint/2010/main" val="1390811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30</a:t>
            </a:fld>
            <a:endParaRPr lang="zh-CN" altLang="en-US"/>
          </a:p>
        </p:txBody>
      </p:sp>
    </p:spTree>
    <p:extLst>
      <p:ext uri="{BB962C8B-B14F-4D97-AF65-F5344CB8AC3E}">
        <p14:creationId xmlns:p14="http://schemas.microsoft.com/office/powerpoint/2010/main" val="16147891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31</a:t>
            </a:fld>
            <a:endParaRPr lang="zh-CN" altLang="en-US"/>
          </a:p>
        </p:txBody>
      </p:sp>
    </p:spTree>
    <p:extLst>
      <p:ext uri="{BB962C8B-B14F-4D97-AF65-F5344CB8AC3E}">
        <p14:creationId xmlns:p14="http://schemas.microsoft.com/office/powerpoint/2010/main" val="41964406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6E3E3FAA-938B-40A0-A190-366E443E7FCB}" type="slidenum">
              <a:rPr lang="zh-CN" altLang="en-US" smtClean="0"/>
              <a:t>32</a:t>
            </a:fld>
            <a:endParaRPr lang="zh-CN" altLang="en-US"/>
          </a:p>
        </p:txBody>
      </p:sp>
    </p:spTree>
    <p:extLst>
      <p:ext uri="{BB962C8B-B14F-4D97-AF65-F5344CB8AC3E}">
        <p14:creationId xmlns:p14="http://schemas.microsoft.com/office/powerpoint/2010/main" val="474831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CF8969B-FE48-4DDA-B49D-A767EE149BE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50876" b="14304"/>
          <a:stretch/>
        </p:blipFill>
        <p:spPr>
          <a:xfrm flipV="1">
            <a:off x="8591076" y="-1"/>
            <a:ext cx="3600924" cy="5911205"/>
          </a:xfrm>
          <a:prstGeom prst="rect">
            <a:avLst/>
          </a:prstGeom>
        </p:spPr>
      </p:pic>
      <p:sp>
        <p:nvSpPr>
          <p:cNvPr id="7" name="Slide Number Placeholder 5">
            <a:extLst>
              <a:ext uri="{FF2B5EF4-FFF2-40B4-BE49-F238E27FC236}">
                <a16:creationId xmlns:a16="http://schemas.microsoft.com/office/drawing/2014/main" id="{49763ACC-896F-4DD5-874B-3B7FBBD241D8}"/>
              </a:ext>
            </a:extLst>
          </p:cNvPr>
          <p:cNvSpPr>
            <a:spLocks noGrp="1"/>
          </p:cNvSpPr>
          <p:nvPr>
            <p:ph type="sldNum" sz="quarter" idx="12"/>
          </p:nvPr>
        </p:nvSpPr>
        <p:spPr>
          <a:xfrm>
            <a:off x="10623792" y="6356350"/>
            <a:ext cx="730008" cy="365125"/>
          </a:xfrm>
          <a:prstGeom prst="rect">
            <a:avLst/>
          </a:prstGeom>
        </p:spPr>
        <p:txBody>
          <a:bodyPr/>
          <a:lstStyle/>
          <a:p>
            <a:fld id="{04FD9700-F5CC-49AF-BD2D-23D2173C44DC}" type="slidenum">
              <a:rPr lang="en-US" smtClean="0"/>
              <a:t>‹#›</a:t>
            </a:fld>
            <a:endParaRPr lang="en-US"/>
          </a:p>
        </p:txBody>
      </p:sp>
      <p:pic>
        <p:nvPicPr>
          <p:cNvPr id="8" name="图片 7"/>
          <p:cNvPicPr>
            <a:picLocks noChangeAspect="1"/>
          </p:cNvPicPr>
          <p:nvPr userDrawn="1"/>
        </p:nvPicPr>
        <p:blipFill>
          <a:blip r:embed="rId3"/>
          <a:stretch>
            <a:fillRect/>
          </a:stretch>
        </p:blipFill>
        <p:spPr>
          <a:xfrm>
            <a:off x="164340" y="129577"/>
            <a:ext cx="2099889" cy="795263"/>
          </a:xfrm>
          <a:prstGeom prst="rect">
            <a:avLst/>
          </a:prstGeom>
        </p:spPr>
      </p:pic>
    </p:spTree>
    <p:extLst>
      <p:ext uri="{BB962C8B-B14F-4D97-AF65-F5344CB8AC3E}">
        <p14:creationId xmlns:p14="http://schemas.microsoft.com/office/powerpoint/2010/main" val="3395433090"/>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5C3A70E-EE3B-4909-BD60-859D39A012B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551" b="49330"/>
          <a:stretch/>
        </p:blipFill>
        <p:spPr>
          <a:xfrm rot="10800000">
            <a:off x="-2" y="-1"/>
            <a:ext cx="2124373" cy="1703852"/>
          </a:xfrm>
          <a:prstGeom prst="rect">
            <a:avLst/>
          </a:prstGeom>
        </p:spPr>
      </p:pic>
      <p:pic>
        <p:nvPicPr>
          <p:cNvPr id="5" name="图片 4">
            <a:extLst>
              <a:ext uri="{FF2B5EF4-FFF2-40B4-BE49-F238E27FC236}">
                <a16:creationId xmlns:a16="http://schemas.microsoft.com/office/drawing/2014/main" id="{05CF43FF-D497-4CB2-8105-827B5F2C54D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40328" t="50766"/>
          <a:stretch/>
        </p:blipFill>
        <p:spPr>
          <a:xfrm flipH="1" flipV="1">
            <a:off x="10527822" y="5565912"/>
            <a:ext cx="1664178" cy="1292086"/>
          </a:xfrm>
          <a:prstGeom prst="rect">
            <a:avLst/>
          </a:prstGeom>
        </p:spPr>
      </p:pic>
      <p:pic>
        <p:nvPicPr>
          <p:cNvPr id="7" name="图片 6"/>
          <p:cNvPicPr>
            <a:picLocks noChangeAspect="1"/>
          </p:cNvPicPr>
          <p:nvPr userDrawn="1"/>
        </p:nvPicPr>
        <p:blipFill>
          <a:blip r:embed="rId4"/>
          <a:stretch>
            <a:fillRect/>
          </a:stretch>
        </p:blipFill>
        <p:spPr>
          <a:xfrm>
            <a:off x="10092111" y="64262"/>
            <a:ext cx="2099889" cy="795263"/>
          </a:xfrm>
          <a:prstGeom prst="rect">
            <a:avLst/>
          </a:prstGeom>
        </p:spPr>
      </p:pic>
    </p:spTree>
    <p:extLst>
      <p:ext uri="{BB962C8B-B14F-4D97-AF65-F5344CB8AC3E}">
        <p14:creationId xmlns:p14="http://schemas.microsoft.com/office/powerpoint/2010/main" val="2805808587"/>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D40FB7F-1A48-4D5B-A9B7-6DF42DEAF9F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flipV="1">
            <a:off x="-300744" y="343912"/>
            <a:ext cx="4985882" cy="4691794"/>
          </a:xfrm>
          <a:prstGeom prst="rect">
            <a:avLst/>
          </a:prstGeom>
        </p:spPr>
      </p:pic>
      <p:pic>
        <p:nvPicPr>
          <p:cNvPr id="6" name="图片 5">
            <a:extLst>
              <a:ext uri="{FF2B5EF4-FFF2-40B4-BE49-F238E27FC236}">
                <a16:creationId xmlns:a16="http://schemas.microsoft.com/office/drawing/2014/main" id="{508BF2AD-B41C-4049-A45D-08DDD92FFE1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3084" b="64359"/>
          <a:stretch/>
        </p:blipFill>
        <p:spPr>
          <a:xfrm rot="10800000">
            <a:off x="-1" y="-1"/>
            <a:ext cx="2509951" cy="1479034"/>
          </a:xfrm>
          <a:prstGeom prst="rect">
            <a:avLst/>
          </a:prstGeom>
        </p:spPr>
      </p:pic>
      <p:pic>
        <p:nvPicPr>
          <p:cNvPr id="7" name="图片 6">
            <a:extLst>
              <a:ext uri="{FF2B5EF4-FFF2-40B4-BE49-F238E27FC236}">
                <a16:creationId xmlns:a16="http://schemas.microsoft.com/office/drawing/2014/main" id="{CF456856-48F1-4AA2-92E7-94BF7FC93C9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36101" b="54280"/>
          <a:stretch/>
        </p:blipFill>
        <p:spPr>
          <a:xfrm rot="20700000">
            <a:off x="9722650" y="5217983"/>
            <a:ext cx="2817929" cy="1897309"/>
          </a:xfrm>
          <a:prstGeom prst="rect">
            <a:avLst/>
          </a:prstGeom>
        </p:spPr>
      </p:pic>
      <p:sp>
        <p:nvSpPr>
          <p:cNvPr id="8" name="Slide Number Placeholder 5">
            <a:extLst>
              <a:ext uri="{FF2B5EF4-FFF2-40B4-BE49-F238E27FC236}">
                <a16:creationId xmlns:a16="http://schemas.microsoft.com/office/drawing/2014/main" id="{565C0C4B-3C13-4224-A65A-8FA4256601DA}"/>
              </a:ext>
            </a:extLst>
          </p:cNvPr>
          <p:cNvSpPr>
            <a:spLocks noGrp="1"/>
          </p:cNvSpPr>
          <p:nvPr>
            <p:ph type="sldNum" sz="quarter" idx="12"/>
          </p:nvPr>
        </p:nvSpPr>
        <p:spPr>
          <a:xfrm>
            <a:off x="10868098" y="6356350"/>
            <a:ext cx="485702" cy="365125"/>
          </a:xfrm>
          <a:prstGeom prst="rect">
            <a:avLst/>
          </a:prstGeom>
        </p:spPr>
        <p:txBody>
          <a:bodyPr/>
          <a:lstStyle/>
          <a:p>
            <a:fld id="{04FD9700-F5CC-49AF-BD2D-23D2173C44DC}" type="slidenum">
              <a:rPr lang="en-US" smtClean="0"/>
              <a:t>‹#›</a:t>
            </a:fld>
            <a:endParaRPr lang="en-US"/>
          </a:p>
        </p:txBody>
      </p:sp>
      <p:pic>
        <p:nvPicPr>
          <p:cNvPr id="9" name="图片 8"/>
          <p:cNvPicPr>
            <a:picLocks noChangeAspect="1"/>
          </p:cNvPicPr>
          <p:nvPr userDrawn="1"/>
        </p:nvPicPr>
        <p:blipFill>
          <a:blip r:embed="rId4"/>
          <a:stretch>
            <a:fillRect/>
          </a:stretch>
        </p:blipFill>
        <p:spPr>
          <a:xfrm>
            <a:off x="10092111" y="64262"/>
            <a:ext cx="2099889" cy="795263"/>
          </a:xfrm>
          <a:prstGeom prst="rect">
            <a:avLst/>
          </a:prstGeom>
        </p:spPr>
      </p:pic>
    </p:spTree>
    <p:extLst>
      <p:ext uri="{BB962C8B-B14F-4D97-AF65-F5344CB8AC3E}">
        <p14:creationId xmlns:p14="http://schemas.microsoft.com/office/powerpoint/2010/main" val="2066506626"/>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1486419" y="6362192"/>
            <a:ext cx="503686" cy="365125"/>
          </a:xfrm>
          <a:prstGeom prst="rect">
            <a:avLst/>
          </a:prstGeom>
        </p:spPr>
        <p:txBody>
          <a:bodyPr anchor="ctr"/>
          <a:lstStyle>
            <a:lvl1pPr algn="ctr">
              <a:defRPr sz="1100"/>
            </a:lvl1pPr>
          </a:lstStyle>
          <a:p>
            <a:fld id="{04FD9700-F5CC-49AF-BD2D-23D2173C44DC}" type="slidenum">
              <a:rPr lang="en-US" smtClean="0"/>
              <a:pPr/>
              <a:t>‹#›</a:t>
            </a:fld>
            <a:endParaRPr lang="en-US" dirty="0"/>
          </a:p>
        </p:txBody>
      </p:sp>
      <p:pic>
        <p:nvPicPr>
          <p:cNvPr id="8" name="图片 7">
            <a:extLst>
              <a:ext uri="{FF2B5EF4-FFF2-40B4-BE49-F238E27FC236}">
                <a16:creationId xmlns:a16="http://schemas.microsoft.com/office/drawing/2014/main" id="{14EC50F5-431E-4492-BF18-33ACC90FF27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3084" b="64359"/>
          <a:stretch/>
        </p:blipFill>
        <p:spPr>
          <a:xfrm rot="10800000">
            <a:off x="-1" y="-1"/>
            <a:ext cx="2509951" cy="1479034"/>
          </a:xfrm>
          <a:prstGeom prst="rect">
            <a:avLst/>
          </a:prstGeom>
        </p:spPr>
      </p:pic>
      <p:pic>
        <p:nvPicPr>
          <p:cNvPr id="9" name="图片 8"/>
          <p:cNvPicPr>
            <a:picLocks noChangeAspect="1"/>
          </p:cNvPicPr>
          <p:nvPr userDrawn="1"/>
        </p:nvPicPr>
        <p:blipFill>
          <a:blip r:embed="rId3"/>
          <a:stretch>
            <a:fillRect/>
          </a:stretch>
        </p:blipFill>
        <p:spPr>
          <a:xfrm>
            <a:off x="10092111" y="64262"/>
            <a:ext cx="2099889" cy="795263"/>
          </a:xfrm>
          <a:prstGeom prst="rect">
            <a:avLst/>
          </a:prstGeom>
        </p:spPr>
      </p:pic>
    </p:spTree>
    <p:extLst>
      <p:ext uri="{BB962C8B-B14F-4D97-AF65-F5344CB8AC3E}">
        <p14:creationId xmlns:p14="http://schemas.microsoft.com/office/powerpoint/2010/main" val="4008351926"/>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5C7E636-AF46-4331-AFF2-484DCDD224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3084" b="64359"/>
          <a:stretch/>
        </p:blipFill>
        <p:spPr>
          <a:xfrm rot="10800000">
            <a:off x="-1" y="-1"/>
            <a:ext cx="2509951" cy="1479034"/>
          </a:xfrm>
          <a:prstGeom prst="rect">
            <a:avLst/>
          </a:prstGeom>
        </p:spPr>
      </p:pic>
      <p:pic>
        <p:nvPicPr>
          <p:cNvPr id="4" name="图片 3">
            <a:extLst>
              <a:ext uri="{FF2B5EF4-FFF2-40B4-BE49-F238E27FC236}">
                <a16:creationId xmlns:a16="http://schemas.microsoft.com/office/drawing/2014/main" id="{26E42610-6844-48B5-B9BB-A1846172424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36304" b="54655"/>
          <a:stretch/>
        </p:blipFill>
        <p:spPr>
          <a:xfrm rot="20700000">
            <a:off x="9720790" y="5219410"/>
            <a:ext cx="2808949" cy="1881755"/>
          </a:xfrm>
          <a:prstGeom prst="rect">
            <a:avLst/>
          </a:prstGeom>
        </p:spPr>
      </p:pic>
      <p:sp>
        <p:nvSpPr>
          <p:cNvPr id="5" name="Slide Number Placeholder 5">
            <a:extLst>
              <a:ext uri="{FF2B5EF4-FFF2-40B4-BE49-F238E27FC236}">
                <a16:creationId xmlns:a16="http://schemas.microsoft.com/office/drawing/2014/main" id="{15F804B2-5423-406B-994F-31A131AC0C46}"/>
              </a:ext>
            </a:extLst>
          </p:cNvPr>
          <p:cNvSpPr>
            <a:spLocks noGrp="1"/>
          </p:cNvSpPr>
          <p:nvPr>
            <p:ph type="sldNum" sz="quarter" idx="12"/>
          </p:nvPr>
        </p:nvSpPr>
        <p:spPr>
          <a:xfrm>
            <a:off x="10791316" y="6356350"/>
            <a:ext cx="562484" cy="365125"/>
          </a:xfrm>
          <a:prstGeom prst="rect">
            <a:avLst/>
          </a:prstGeom>
        </p:spPr>
        <p:txBody>
          <a:bodyPr/>
          <a:lstStyle/>
          <a:p>
            <a:fld id="{04FD9700-F5CC-49AF-BD2D-23D2173C44DC}" type="slidenum">
              <a:rPr lang="en-US" smtClean="0"/>
              <a:t>‹#›</a:t>
            </a:fld>
            <a:endParaRPr lang="en-US"/>
          </a:p>
        </p:txBody>
      </p:sp>
      <p:pic>
        <p:nvPicPr>
          <p:cNvPr id="7" name="图片 6"/>
          <p:cNvPicPr>
            <a:picLocks noChangeAspect="1"/>
          </p:cNvPicPr>
          <p:nvPr userDrawn="1"/>
        </p:nvPicPr>
        <p:blipFill>
          <a:blip r:embed="rId3"/>
          <a:stretch>
            <a:fillRect/>
          </a:stretch>
        </p:blipFill>
        <p:spPr>
          <a:xfrm>
            <a:off x="10092111" y="64262"/>
            <a:ext cx="2099889" cy="795263"/>
          </a:xfrm>
          <a:prstGeom prst="rect">
            <a:avLst/>
          </a:prstGeom>
        </p:spPr>
      </p:pic>
    </p:spTree>
    <p:extLst>
      <p:ext uri="{BB962C8B-B14F-4D97-AF65-F5344CB8AC3E}">
        <p14:creationId xmlns:p14="http://schemas.microsoft.com/office/powerpoint/2010/main" val="490994410"/>
      </p:ext>
    </p:extLst>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C9A7E-543C-4D64-8A1B-7C49C64F5F07}"/>
              </a:ext>
            </a:extLst>
          </p:cNvPr>
          <p:cNvSpPr>
            <a:spLocks noGrp="1"/>
          </p:cNvSpPr>
          <p:nvPr>
            <p:ph type="title"/>
          </p:nvPr>
        </p:nvSpPr>
        <p:spPr>
          <a:xfrm>
            <a:off x="838200" y="365126"/>
            <a:ext cx="10515600" cy="813044"/>
          </a:xfrm>
          <a:prstGeom prst="rect">
            <a:avLst/>
          </a:prstGeom>
        </p:spPr>
        <p:txBody>
          <a:bodyPr/>
          <a:lstStyle>
            <a:lvl1pPr algn="ctr">
              <a:defRPr>
                <a:latin typeface="+mn-lt"/>
              </a:defRPr>
            </a:lvl1pPr>
          </a:lstStyle>
          <a:p>
            <a:r>
              <a:rPr lang="zh-CN" altLang="en-US" dirty="0"/>
              <a:t>单击此处编辑母版标题样式</a:t>
            </a:r>
          </a:p>
        </p:txBody>
      </p:sp>
      <p:sp>
        <p:nvSpPr>
          <p:cNvPr id="3" name="文本框 2">
            <a:extLst>
              <a:ext uri="{FF2B5EF4-FFF2-40B4-BE49-F238E27FC236}">
                <a16:creationId xmlns:a16="http://schemas.microsoft.com/office/drawing/2014/main" id="{3BE8EDED-4BBC-47C8-80CD-3DAF12BCB514}"/>
              </a:ext>
            </a:extLst>
          </p:cNvPr>
          <p:cNvSpPr txBox="1"/>
          <p:nvPr userDrawn="1"/>
        </p:nvSpPr>
        <p:spPr>
          <a:xfrm>
            <a:off x="720969" y="1547446"/>
            <a:ext cx="10884877" cy="369332"/>
          </a:xfrm>
          <a:prstGeom prst="rect">
            <a:avLst/>
          </a:prstGeom>
          <a:noFill/>
        </p:spPr>
        <p:txBody>
          <a:bodyPr wrap="square" rtlCol="0">
            <a:spAutoFit/>
          </a:bodyPr>
          <a:lstStyle/>
          <a:p>
            <a:pPr marL="285750" indent="-285750">
              <a:buFont typeface="Arial" panose="020B0604020202020204" pitchFamily="34" charset="0"/>
              <a:buChar char="•"/>
            </a:pPr>
            <a:endParaRPr lang="zh-CN" altLang="en-US" dirty="0"/>
          </a:p>
        </p:txBody>
      </p:sp>
      <p:pic>
        <p:nvPicPr>
          <p:cNvPr id="5" name="图片 4">
            <a:extLst>
              <a:ext uri="{FF2B5EF4-FFF2-40B4-BE49-F238E27FC236}">
                <a16:creationId xmlns:a16="http://schemas.microsoft.com/office/drawing/2014/main" id="{5FD04AF5-E510-4C41-83BC-42C1BC6B3EF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3084" b="64359"/>
          <a:stretch/>
        </p:blipFill>
        <p:spPr>
          <a:xfrm rot="10800000">
            <a:off x="-1" y="-1"/>
            <a:ext cx="2509951" cy="1479034"/>
          </a:xfrm>
          <a:prstGeom prst="rect">
            <a:avLst/>
          </a:prstGeom>
        </p:spPr>
      </p:pic>
      <p:pic>
        <p:nvPicPr>
          <p:cNvPr id="6" name="图片 5">
            <a:extLst>
              <a:ext uri="{FF2B5EF4-FFF2-40B4-BE49-F238E27FC236}">
                <a16:creationId xmlns:a16="http://schemas.microsoft.com/office/drawing/2014/main" id="{B1B81E6A-7594-4A70-A112-D01367984FF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37159" b="53631"/>
          <a:stretch/>
        </p:blipFill>
        <p:spPr>
          <a:xfrm rot="20700000">
            <a:off x="9726932" y="5223563"/>
            <a:ext cx="2771266" cy="1924250"/>
          </a:xfrm>
          <a:prstGeom prst="rect">
            <a:avLst/>
          </a:prstGeom>
        </p:spPr>
      </p:pic>
      <p:sp>
        <p:nvSpPr>
          <p:cNvPr id="7" name="Slide Number Placeholder 5">
            <a:extLst>
              <a:ext uri="{FF2B5EF4-FFF2-40B4-BE49-F238E27FC236}">
                <a16:creationId xmlns:a16="http://schemas.microsoft.com/office/drawing/2014/main" id="{55D5A6B9-C848-4668-9746-7E69965FD991}"/>
              </a:ext>
            </a:extLst>
          </p:cNvPr>
          <p:cNvSpPr>
            <a:spLocks noGrp="1"/>
          </p:cNvSpPr>
          <p:nvPr>
            <p:ph type="sldNum" sz="quarter" idx="12"/>
          </p:nvPr>
        </p:nvSpPr>
        <p:spPr>
          <a:xfrm>
            <a:off x="10637208" y="6356350"/>
            <a:ext cx="716592" cy="365125"/>
          </a:xfrm>
          <a:prstGeom prst="rect">
            <a:avLst/>
          </a:prstGeom>
        </p:spPr>
        <p:txBody>
          <a:bodyPr/>
          <a:lstStyle/>
          <a:p>
            <a:fld id="{04FD9700-F5CC-49AF-BD2D-23D2173C44DC}" type="slidenum">
              <a:rPr lang="en-US" smtClean="0"/>
              <a:t>‹#›</a:t>
            </a:fld>
            <a:endParaRPr lang="en-US"/>
          </a:p>
        </p:txBody>
      </p:sp>
      <p:pic>
        <p:nvPicPr>
          <p:cNvPr id="9" name="图片 8"/>
          <p:cNvPicPr>
            <a:picLocks noChangeAspect="1"/>
          </p:cNvPicPr>
          <p:nvPr userDrawn="1"/>
        </p:nvPicPr>
        <p:blipFill>
          <a:blip r:embed="rId3"/>
          <a:stretch>
            <a:fillRect/>
          </a:stretch>
        </p:blipFill>
        <p:spPr>
          <a:xfrm>
            <a:off x="10092111" y="64262"/>
            <a:ext cx="2099889" cy="795263"/>
          </a:xfrm>
          <a:prstGeom prst="rect">
            <a:avLst/>
          </a:prstGeom>
        </p:spPr>
      </p:pic>
    </p:spTree>
    <p:extLst>
      <p:ext uri="{BB962C8B-B14F-4D97-AF65-F5344CB8AC3E}">
        <p14:creationId xmlns:p14="http://schemas.microsoft.com/office/powerpoint/2010/main" val="3701555443"/>
      </p:ext>
    </p:extLst>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C9A7E-543C-4D64-8A1B-7C49C64F5F07}"/>
              </a:ext>
            </a:extLst>
          </p:cNvPr>
          <p:cNvSpPr>
            <a:spLocks noGrp="1"/>
          </p:cNvSpPr>
          <p:nvPr>
            <p:ph type="title"/>
          </p:nvPr>
        </p:nvSpPr>
        <p:spPr>
          <a:xfrm>
            <a:off x="838200" y="365126"/>
            <a:ext cx="10515600" cy="813044"/>
          </a:xfrm>
          <a:prstGeom prst="rect">
            <a:avLst/>
          </a:prstGeom>
        </p:spPr>
        <p:txBody>
          <a:bodyPr/>
          <a:lstStyle>
            <a:lvl1pPr algn="ctr">
              <a:defRPr>
                <a:latin typeface="+mn-lt"/>
              </a:defRPr>
            </a:lvl1pPr>
          </a:lstStyle>
          <a:p>
            <a:r>
              <a:rPr lang="zh-CN" altLang="en-US" dirty="0"/>
              <a:t>单击此处编辑母版标题样式</a:t>
            </a:r>
          </a:p>
        </p:txBody>
      </p:sp>
      <p:sp>
        <p:nvSpPr>
          <p:cNvPr id="3" name="文本框 2">
            <a:extLst>
              <a:ext uri="{FF2B5EF4-FFF2-40B4-BE49-F238E27FC236}">
                <a16:creationId xmlns:a16="http://schemas.microsoft.com/office/drawing/2014/main" id="{3BE8EDED-4BBC-47C8-80CD-3DAF12BCB514}"/>
              </a:ext>
            </a:extLst>
          </p:cNvPr>
          <p:cNvSpPr txBox="1"/>
          <p:nvPr userDrawn="1"/>
        </p:nvSpPr>
        <p:spPr>
          <a:xfrm>
            <a:off x="720969" y="1547446"/>
            <a:ext cx="10884877" cy="369332"/>
          </a:xfrm>
          <a:prstGeom prst="rect">
            <a:avLst/>
          </a:prstGeom>
          <a:noFill/>
        </p:spPr>
        <p:txBody>
          <a:bodyPr wrap="square" rtlCol="0">
            <a:spAutoFit/>
          </a:bodyPr>
          <a:lstStyle/>
          <a:p>
            <a:pPr marL="285750" indent="-285750">
              <a:buFont typeface="Arial" panose="020B0604020202020204" pitchFamily="34" charset="0"/>
              <a:buChar char="•"/>
            </a:pPr>
            <a:endParaRPr lang="zh-CN" altLang="en-US" dirty="0"/>
          </a:p>
        </p:txBody>
      </p:sp>
      <p:pic>
        <p:nvPicPr>
          <p:cNvPr id="5" name="图片 4">
            <a:extLst>
              <a:ext uri="{FF2B5EF4-FFF2-40B4-BE49-F238E27FC236}">
                <a16:creationId xmlns:a16="http://schemas.microsoft.com/office/drawing/2014/main" id="{5FD04AF5-E510-4C41-83BC-42C1BC6B3EF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3084" b="64359"/>
          <a:stretch/>
        </p:blipFill>
        <p:spPr>
          <a:xfrm rot="10800000">
            <a:off x="-1" y="-1"/>
            <a:ext cx="2509951" cy="1479034"/>
          </a:xfrm>
          <a:prstGeom prst="rect">
            <a:avLst/>
          </a:prstGeom>
        </p:spPr>
      </p:pic>
      <p:sp>
        <p:nvSpPr>
          <p:cNvPr id="6" name="Slide Number Placeholder 5">
            <a:extLst>
              <a:ext uri="{FF2B5EF4-FFF2-40B4-BE49-F238E27FC236}">
                <a16:creationId xmlns:a16="http://schemas.microsoft.com/office/drawing/2014/main" id="{9541557C-1C2B-4D56-BAF6-E84491423329}"/>
              </a:ext>
            </a:extLst>
          </p:cNvPr>
          <p:cNvSpPr>
            <a:spLocks noGrp="1"/>
          </p:cNvSpPr>
          <p:nvPr>
            <p:ph type="sldNum" sz="quarter" idx="12"/>
          </p:nvPr>
        </p:nvSpPr>
        <p:spPr>
          <a:xfrm>
            <a:off x="10735474" y="6356350"/>
            <a:ext cx="618325" cy="365125"/>
          </a:xfrm>
          <a:prstGeom prst="rect">
            <a:avLst/>
          </a:prstGeom>
        </p:spPr>
        <p:txBody>
          <a:bodyPr/>
          <a:lstStyle/>
          <a:p>
            <a:fld id="{04FD9700-F5CC-49AF-BD2D-23D2173C44DC}" type="slidenum">
              <a:rPr lang="en-US" smtClean="0"/>
              <a:t>‹#›</a:t>
            </a:fld>
            <a:endParaRPr lang="en-US"/>
          </a:p>
        </p:txBody>
      </p:sp>
      <p:pic>
        <p:nvPicPr>
          <p:cNvPr id="8" name="图片 7"/>
          <p:cNvPicPr>
            <a:picLocks noChangeAspect="1"/>
          </p:cNvPicPr>
          <p:nvPr userDrawn="1"/>
        </p:nvPicPr>
        <p:blipFill>
          <a:blip r:embed="rId3"/>
          <a:stretch>
            <a:fillRect/>
          </a:stretch>
        </p:blipFill>
        <p:spPr>
          <a:xfrm>
            <a:off x="10092111" y="64262"/>
            <a:ext cx="2099889" cy="795263"/>
          </a:xfrm>
          <a:prstGeom prst="rect">
            <a:avLst/>
          </a:prstGeom>
        </p:spPr>
      </p:pic>
    </p:spTree>
    <p:extLst>
      <p:ext uri="{BB962C8B-B14F-4D97-AF65-F5344CB8AC3E}">
        <p14:creationId xmlns:p14="http://schemas.microsoft.com/office/powerpoint/2010/main" val="2186595797"/>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7641937"/>
      </p:ext>
    </p:extLst>
  </p:cSld>
  <p:clrMap bg1="lt1" tx1="dk1" bg2="lt2" tx2="dk2" accent1="accent1" accent2="accent2" accent3="accent3" accent4="accent4" accent5="accent5" accent6="accent6" hlink="hlink" folHlink="folHlink"/>
  <p:sldLayoutIdLst>
    <p:sldLayoutId id="2147484175" r:id="rId1"/>
    <p:sldLayoutId id="2147484176" r:id="rId2"/>
    <p:sldLayoutId id="2147484177" r:id="rId3"/>
    <p:sldLayoutId id="2147484179" r:id="rId4"/>
    <p:sldLayoutId id="2147484228" r:id="rId5"/>
    <p:sldLayoutId id="2147484227" r:id="rId6"/>
    <p:sldLayoutId id="2147484229" r:id="rId7"/>
  </p:sldLayoutIdLst>
  <p:transition spd="med">
    <p:pull/>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6.xml"/><Relationship Id="rId7" Type="http://schemas.openxmlformats.org/officeDocument/2006/relationships/image" Target="../media/image41.emf"/><Relationship Id="rId2" Type="http://schemas.openxmlformats.org/officeDocument/2006/relationships/tags" Target="../tags/tag5.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slideLayout" Target="../slideLayouts/slideLayout4.xml"/><Relationship Id="rId10" Type="http://schemas.openxmlformats.org/officeDocument/2006/relationships/image" Target="../media/image43.png"/><Relationship Id="rId4" Type="http://schemas.openxmlformats.org/officeDocument/2006/relationships/tags" Target="../tags/tag7.xml"/><Relationship Id="rId9" Type="http://schemas.openxmlformats.org/officeDocument/2006/relationships/image" Target="../media/image42.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24.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dirty="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30" name="文本框 29"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49D5F6A-1DD7-40BD-979E-F2F34AFF897C}"/>
              </a:ext>
            </a:extLst>
          </p:cNvPr>
          <p:cNvSpPr txBox="1"/>
          <p:nvPr/>
        </p:nvSpPr>
        <p:spPr>
          <a:xfrm>
            <a:off x="323272" y="2095988"/>
            <a:ext cx="9614263" cy="2529923"/>
          </a:xfrm>
          <a:prstGeom prst="rect">
            <a:avLst/>
          </a:prstGeom>
          <a:noFill/>
        </p:spPr>
        <p:txBody>
          <a:bodyPr wrap="square" rtlCol="0">
            <a:spAutoFit/>
          </a:bodyPr>
          <a:lstStyle/>
          <a:p>
            <a:pPr>
              <a:lnSpc>
                <a:spcPct val="120000"/>
              </a:lnSpc>
            </a:pPr>
            <a:r>
              <a:rPr lang="en-US" altLang="zh-CN" sz="4400" b="1" dirty="0">
                <a:solidFill>
                  <a:srgbClr val="0070C0"/>
                </a:solidFill>
                <a:cs typeface="+mn-ea"/>
                <a:sym typeface="+mn-lt"/>
              </a:rPr>
              <a:t>Optimal power disaggregation </a:t>
            </a:r>
          </a:p>
          <a:p>
            <a:pPr>
              <a:lnSpc>
                <a:spcPct val="120000"/>
              </a:lnSpc>
            </a:pPr>
            <a:r>
              <a:rPr lang="en-US" altLang="zh-CN" sz="4400" b="1" dirty="0">
                <a:solidFill>
                  <a:srgbClr val="0070C0"/>
                </a:solidFill>
                <a:cs typeface="+mn-ea"/>
                <a:sym typeface="+mn-lt"/>
              </a:rPr>
              <a:t>among heterogeneous resources </a:t>
            </a:r>
          </a:p>
          <a:p>
            <a:pPr>
              <a:lnSpc>
                <a:spcPct val="120000"/>
              </a:lnSpc>
            </a:pPr>
            <a:r>
              <a:rPr lang="en-US" altLang="zh-CN" sz="4400" b="1" dirty="0">
                <a:solidFill>
                  <a:srgbClr val="0070C0"/>
                </a:solidFill>
                <a:cs typeface="+mn-ea"/>
                <a:sym typeface="+mn-lt"/>
              </a:rPr>
              <a:t>for providing frequency regulation</a:t>
            </a:r>
          </a:p>
        </p:txBody>
      </p:sp>
      <p:cxnSp>
        <p:nvCxnSpPr>
          <p:cNvPr id="46" name="直接连接符 45"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D5E1F3A-3D4C-41FA-BC9C-D4F9656179D4}"/>
              </a:ext>
            </a:extLst>
          </p:cNvPr>
          <p:cNvCxnSpPr>
            <a:cxnSpLocks/>
          </p:cNvCxnSpPr>
          <p:nvPr/>
        </p:nvCxnSpPr>
        <p:spPr>
          <a:xfrm>
            <a:off x="409009" y="4746835"/>
            <a:ext cx="254504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AutoShape 2"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2195E436-260B-4E8B-94A2-4BE2DAD0442A}"/>
              </a:ext>
            </a:extLst>
          </p:cNvPr>
          <p:cNvSpPr>
            <a:spLocks/>
          </p:cNvSpPr>
          <p:nvPr/>
        </p:nvSpPr>
        <p:spPr bwMode="auto">
          <a:xfrm>
            <a:off x="409009" y="4892922"/>
            <a:ext cx="6188840" cy="15900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1pPr>
            <a:lvl2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2pPr>
            <a:lvl3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3pPr>
            <a:lvl4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4pPr>
            <a:lvl5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5pPr>
            <a:lvl6pPr marL="39243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6pPr>
            <a:lvl7pPr marL="43815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7pPr>
            <a:lvl8pPr marL="48387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8pPr>
            <a:lvl9pPr marL="52959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9pPr>
          </a:lstStyle>
          <a:p>
            <a:pPr>
              <a:lnSpc>
                <a:spcPct val="150000"/>
              </a:lnSpc>
            </a:pPr>
            <a:r>
              <a:rPr lang="en-US" altLang="zh-CN" sz="2000" b="1" dirty="0" err="1">
                <a:solidFill>
                  <a:srgbClr val="0070C0"/>
                </a:solidFill>
                <a:cs typeface="+mn-ea"/>
                <a:sym typeface="+mn-lt"/>
              </a:rPr>
              <a:t>Ruike</a:t>
            </a:r>
            <a:r>
              <a:rPr lang="en-US" altLang="zh-CN" sz="2000" b="1" dirty="0">
                <a:solidFill>
                  <a:srgbClr val="0070C0"/>
                </a:solidFill>
                <a:cs typeface="+mn-ea"/>
                <a:sym typeface="+mn-lt"/>
              </a:rPr>
              <a:t> </a:t>
            </a:r>
            <a:r>
              <a:rPr lang="en-US" altLang="zh-CN" sz="2000" b="1" dirty="0" err="1">
                <a:solidFill>
                  <a:srgbClr val="0070C0"/>
                </a:solidFill>
                <a:cs typeface="+mn-ea"/>
                <a:sym typeface="+mn-lt"/>
              </a:rPr>
              <a:t>Lyu</a:t>
            </a:r>
            <a:r>
              <a:rPr lang="en-US" altLang="zh-CN" sz="2000" b="1" dirty="0">
                <a:solidFill>
                  <a:srgbClr val="0070C0"/>
                </a:solidFill>
                <a:cs typeface="+mn-ea"/>
                <a:sym typeface="+mn-lt"/>
              </a:rPr>
              <a:t> (</a:t>
            </a:r>
            <a:r>
              <a:rPr lang="zh-CN" altLang="en-US" sz="2000" b="1" dirty="0">
                <a:solidFill>
                  <a:srgbClr val="0070C0"/>
                </a:solidFill>
                <a:cs typeface="+mn-ea"/>
                <a:sym typeface="+mn-lt"/>
              </a:rPr>
              <a:t>吕睿可</a:t>
            </a:r>
            <a:r>
              <a:rPr lang="en-US" altLang="zh-CN" sz="2000" b="1" dirty="0">
                <a:solidFill>
                  <a:srgbClr val="0070C0"/>
                </a:solidFill>
                <a:cs typeface="+mn-ea"/>
                <a:sym typeface="+mn-lt"/>
              </a:rPr>
              <a:t>)</a:t>
            </a:r>
          </a:p>
          <a:p>
            <a:pPr>
              <a:lnSpc>
                <a:spcPct val="150000"/>
              </a:lnSpc>
            </a:pPr>
            <a:r>
              <a:rPr lang="en-US" altLang="zh-CN" sz="2000" b="1" dirty="0">
                <a:solidFill>
                  <a:srgbClr val="0070C0"/>
                </a:solidFill>
                <a:cs typeface="+mn-ea"/>
                <a:sym typeface="+mn-lt"/>
              </a:rPr>
              <a:t>Dec. 8, 2023</a:t>
            </a:r>
          </a:p>
        </p:txBody>
      </p:sp>
      <p:sp>
        <p:nvSpPr>
          <p:cNvPr id="2" name="矩形 1"/>
          <p:cNvSpPr/>
          <p:nvPr/>
        </p:nvSpPr>
        <p:spPr>
          <a:xfrm>
            <a:off x="323272" y="6159853"/>
            <a:ext cx="11951855" cy="646331"/>
          </a:xfrm>
          <a:prstGeom prst="rect">
            <a:avLst/>
          </a:prstGeom>
        </p:spPr>
        <p:txBody>
          <a:bodyPr wrap="square">
            <a:spAutoFit/>
          </a:bodyPr>
          <a:lstStyle/>
          <a:p>
            <a:r>
              <a:rPr lang="en-US" altLang="zh-CN" dirty="0" err="1">
                <a:solidFill>
                  <a:srgbClr val="222222"/>
                </a:solidFill>
                <a:latin typeface="Arial" panose="020B0604020202020204" pitchFamily="34" charset="0"/>
              </a:rPr>
              <a:t>Lyu</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Ruike</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Hongye</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Guo</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Kedi</a:t>
            </a:r>
            <a:r>
              <a:rPr lang="en-US" altLang="zh-CN" dirty="0">
                <a:solidFill>
                  <a:srgbClr val="222222"/>
                </a:solidFill>
                <a:latin typeface="Arial" panose="020B0604020202020204" pitchFamily="34" charset="0"/>
              </a:rPr>
              <a:t> Zheng, </a:t>
            </a:r>
            <a:r>
              <a:rPr lang="en-US" altLang="zh-CN" dirty="0" err="1">
                <a:solidFill>
                  <a:srgbClr val="222222"/>
                </a:solidFill>
                <a:latin typeface="Arial" panose="020B0604020202020204" pitchFamily="34" charset="0"/>
              </a:rPr>
              <a:t>Mingyang</a:t>
            </a:r>
            <a:r>
              <a:rPr lang="en-US" altLang="zh-CN" dirty="0">
                <a:solidFill>
                  <a:srgbClr val="222222"/>
                </a:solidFill>
                <a:latin typeface="Arial" panose="020B0604020202020204" pitchFamily="34" charset="0"/>
              </a:rPr>
              <a:t> Sun, and </a:t>
            </a:r>
            <a:r>
              <a:rPr lang="en-US" altLang="zh-CN" dirty="0" err="1">
                <a:solidFill>
                  <a:srgbClr val="222222"/>
                </a:solidFill>
                <a:latin typeface="Arial" panose="020B0604020202020204" pitchFamily="34" charset="0"/>
              </a:rPr>
              <a:t>Qixin</a:t>
            </a:r>
            <a:r>
              <a:rPr lang="en-US" altLang="zh-CN" dirty="0">
                <a:solidFill>
                  <a:srgbClr val="222222"/>
                </a:solidFill>
                <a:latin typeface="Arial" panose="020B0604020202020204" pitchFamily="34" charset="0"/>
              </a:rPr>
              <a:t> Chen. "Co-optimizing Bidding and Power Allocation of an EV Aggregator Providing Real-time Frequency Regulation Service." </a:t>
            </a:r>
            <a:r>
              <a:rPr lang="en-US" altLang="zh-CN" i="1" dirty="0">
                <a:solidFill>
                  <a:srgbClr val="222222"/>
                </a:solidFill>
                <a:latin typeface="Arial" panose="020B0604020202020204" pitchFamily="34" charset="0"/>
              </a:rPr>
              <a:t>IEEE Transactions on Smart Grid</a:t>
            </a:r>
            <a:r>
              <a:rPr lang="en-US" altLang="zh-CN" dirty="0">
                <a:solidFill>
                  <a:srgbClr val="222222"/>
                </a:solidFill>
                <a:latin typeface="Arial" panose="020B0604020202020204" pitchFamily="34" charset="0"/>
              </a:rPr>
              <a:t> (2023).</a:t>
            </a:r>
            <a:endParaRPr lang="zh-CN" altLang="en-US" dirty="0"/>
          </a:p>
        </p:txBody>
      </p:sp>
      <p:cxnSp>
        <p:nvCxnSpPr>
          <p:cNvPr id="7" name="直接连接符 6"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D5E1F3A-3D4C-41FA-BC9C-D4F9656179D4}"/>
              </a:ext>
            </a:extLst>
          </p:cNvPr>
          <p:cNvCxnSpPr>
            <a:cxnSpLocks/>
          </p:cNvCxnSpPr>
          <p:nvPr/>
        </p:nvCxnSpPr>
        <p:spPr>
          <a:xfrm>
            <a:off x="409009" y="6081490"/>
            <a:ext cx="11635209" cy="52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51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dirty="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33" name="文本框 32"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980AD58A-4B9C-486E-B9D7-2E3D0B2DACFC}"/>
              </a:ext>
            </a:extLst>
          </p:cNvPr>
          <p:cNvSpPr txBox="1"/>
          <p:nvPr/>
        </p:nvSpPr>
        <p:spPr>
          <a:xfrm>
            <a:off x="2841829" y="757775"/>
            <a:ext cx="2909604" cy="707886"/>
          </a:xfrm>
          <a:prstGeom prst="rect">
            <a:avLst/>
          </a:prstGeom>
          <a:noFill/>
        </p:spPr>
        <p:txBody>
          <a:bodyPr wrap="square" rtlCol="0">
            <a:spAutoFit/>
          </a:bodyPr>
          <a:lstStyle/>
          <a:p>
            <a:pPr algn="ctr"/>
            <a:r>
              <a:rPr lang="en-US" altLang="zh-CN" sz="4000" b="1" spc="600" dirty="0">
                <a:solidFill>
                  <a:schemeClr val="accent1"/>
                </a:solidFill>
                <a:cs typeface="+mn-ea"/>
                <a:sym typeface="+mn-lt"/>
              </a:rPr>
              <a:t>Contents</a:t>
            </a:r>
          </a:p>
        </p:txBody>
      </p:sp>
      <p:cxnSp>
        <p:nvCxnSpPr>
          <p:cNvPr id="35" name="直接连接符 34"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62E68CC6-D652-442B-8CFE-E1738739FCAB}"/>
              </a:ext>
            </a:extLst>
          </p:cNvPr>
          <p:cNvCxnSpPr>
            <a:cxnSpLocks/>
          </p:cNvCxnSpPr>
          <p:nvPr/>
        </p:nvCxnSpPr>
        <p:spPr>
          <a:xfrm>
            <a:off x="3775329" y="1475258"/>
            <a:ext cx="105944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09E96879-4550-4FE1-B0ED-CF7A3743437F}"/>
              </a:ext>
            </a:extLst>
          </p:cNvPr>
          <p:cNvSpPr>
            <a:spLocks noGrp="1"/>
          </p:cNvSpPr>
          <p:nvPr>
            <p:ph type="sldNum" sz="quarter" idx="4294967295"/>
          </p:nvPr>
        </p:nvSpPr>
        <p:spPr>
          <a:xfrm>
            <a:off x="11620130" y="6026719"/>
            <a:ext cx="464762" cy="365125"/>
          </a:xfrm>
          <a:prstGeom prst="rect">
            <a:avLst/>
          </a:prstGeom>
        </p:spPr>
        <p:txBody>
          <a:bodyPr/>
          <a:lstStyle/>
          <a:p>
            <a:fld id="{04FD9700-F5CC-49AF-BD2D-23D2173C44DC}" type="slidenum">
              <a:rPr lang="en-US" smtClean="0"/>
              <a:t>2</a:t>
            </a:fld>
            <a:endParaRPr lang="en-US" dirty="0"/>
          </a:p>
        </p:txBody>
      </p:sp>
      <p:grpSp>
        <p:nvGrpSpPr>
          <p:cNvPr id="55" name="组合 54">
            <a:extLst>
              <a:ext uri="{FF2B5EF4-FFF2-40B4-BE49-F238E27FC236}">
                <a16:creationId xmlns:a16="http://schemas.microsoft.com/office/drawing/2014/main" id="{16AC2CDE-3D20-4748-BB56-2876C6E466A0}"/>
              </a:ext>
            </a:extLst>
          </p:cNvPr>
          <p:cNvGrpSpPr/>
          <p:nvPr/>
        </p:nvGrpSpPr>
        <p:grpSpPr>
          <a:xfrm>
            <a:off x="2189086" y="4247929"/>
            <a:ext cx="8966594" cy="646331"/>
            <a:chOff x="6841647" y="4201573"/>
            <a:chExt cx="8966594" cy="646331"/>
          </a:xfrm>
        </p:grpSpPr>
        <p:sp>
          <p:nvSpPr>
            <p:cNvPr id="56" name="文本框 55"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8088852" cy="492443"/>
            </a:xfrm>
            <a:prstGeom prst="rect">
              <a:avLst/>
            </a:prstGeom>
            <a:noFill/>
          </p:spPr>
          <p:txBody>
            <a:bodyPr wrap="square" rtlCol="0">
              <a:spAutoFit/>
            </a:bodyPr>
            <a:lstStyle/>
            <a:p>
              <a:pPr lvl="0">
                <a:defRPr/>
              </a:pPr>
              <a:r>
                <a:rPr lang="en-US" altLang="zh-CN" sz="2600" b="1" dirty="0">
                  <a:cs typeface="+mn-ea"/>
                  <a:sym typeface="+mn-lt"/>
                </a:rPr>
                <a:t>Power Allocation Model Based on Lagrange Multipliers</a:t>
              </a:r>
              <a:endParaRPr lang="zh-CN" altLang="en-US" sz="2600" b="1" dirty="0">
                <a:cs typeface="+mn-ea"/>
                <a:sym typeface="+mn-lt"/>
              </a:endParaRPr>
            </a:p>
          </p:txBody>
        </p:sp>
        <p:cxnSp>
          <p:nvCxnSpPr>
            <p:cNvPr id="57" name="直接连接符 56"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文本框 57"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04</a:t>
              </a:r>
              <a:endParaRPr lang="zh-CN" altLang="en-US" sz="3600" b="1" dirty="0">
                <a:solidFill>
                  <a:schemeClr val="tx1">
                    <a:lumMod val="75000"/>
                    <a:lumOff val="25000"/>
                  </a:schemeClr>
                </a:solidFill>
                <a:cs typeface="+mn-ea"/>
                <a:sym typeface="+mn-lt"/>
              </a:endParaRPr>
            </a:p>
          </p:txBody>
        </p:sp>
      </p:grpSp>
      <p:grpSp>
        <p:nvGrpSpPr>
          <p:cNvPr id="87" name="组合 86">
            <a:extLst>
              <a:ext uri="{FF2B5EF4-FFF2-40B4-BE49-F238E27FC236}">
                <a16:creationId xmlns:a16="http://schemas.microsoft.com/office/drawing/2014/main" id="{5FC629E2-1EA5-48E8-B1FA-48F0D9290E6C}"/>
              </a:ext>
            </a:extLst>
          </p:cNvPr>
          <p:cNvGrpSpPr/>
          <p:nvPr/>
        </p:nvGrpSpPr>
        <p:grpSpPr>
          <a:xfrm>
            <a:off x="2189086" y="1888374"/>
            <a:ext cx="5384463" cy="646331"/>
            <a:chOff x="6841647" y="4201573"/>
            <a:chExt cx="5384463" cy="646331"/>
          </a:xfrm>
        </p:grpSpPr>
        <p:sp>
          <p:nvSpPr>
            <p:cNvPr id="88" name="文本框 8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55E5D7A-6AFD-4651-838A-5D4E4ADD8510}"/>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solidFill>
                    <a:schemeClr val="accent1"/>
                  </a:solidFill>
                  <a:cs typeface="+mn-ea"/>
                  <a:sym typeface="+mn-lt"/>
                </a:rPr>
                <a:t>Background and Motivation</a:t>
              </a:r>
              <a:endParaRPr lang="zh-CN" altLang="en-US" sz="2600" b="1" dirty="0">
                <a:solidFill>
                  <a:schemeClr val="accent1"/>
                </a:solidFill>
                <a:cs typeface="+mn-ea"/>
                <a:sym typeface="+mn-lt"/>
              </a:endParaRPr>
            </a:p>
          </p:txBody>
        </p:sp>
        <p:cxnSp>
          <p:nvCxnSpPr>
            <p:cNvPr id="89" name="直接连接符 8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AFE57C9-542A-4A57-94C9-67EDC8E9FE8F}"/>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1" name="文本框 90"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2BBF2294-CDAA-4F37-A18C-12ED54F33174}"/>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01</a:t>
              </a:r>
              <a:endParaRPr lang="zh-CN" altLang="en-US" sz="3600" b="1" dirty="0">
                <a:solidFill>
                  <a:schemeClr val="tx1">
                    <a:lumMod val="75000"/>
                    <a:lumOff val="25000"/>
                  </a:schemeClr>
                </a:solidFill>
                <a:cs typeface="+mn-ea"/>
                <a:sym typeface="+mn-lt"/>
              </a:endParaRPr>
            </a:p>
          </p:txBody>
        </p:sp>
      </p:grpSp>
      <p:grpSp>
        <p:nvGrpSpPr>
          <p:cNvPr id="92" name="组合 91">
            <a:extLst>
              <a:ext uri="{FF2B5EF4-FFF2-40B4-BE49-F238E27FC236}">
                <a16:creationId xmlns:a16="http://schemas.microsoft.com/office/drawing/2014/main" id="{09F7BB3A-1127-4FB9-9BC8-B98C987A73B9}"/>
              </a:ext>
            </a:extLst>
          </p:cNvPr>
          <p:cNvGrpSpPr/>
          <p:nvPr/>
        </p:nvGrpSpPr>
        <p:grpSpPr>
          <a:xfrm>
            <a:off x="2189086" y="2650904"/>
            <a:ext cx="7787018" cy="646331"/>
            <a:chOff x="6841647" y="4201573"/>
            <a:chExt cx="7787018" cy="646331"/>
          </a:xfrm>
        </p:grpSpPr>
        <p:sp>
          <p:nvSpPr>
            <p:cNvPr id="93" name="文本框 92"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CC1D400-8E93-4E37-9342-1A4AC729E3E6}"/>
                </a:ext>
              </a:extLst>
            </p:cNvPr>
            <p:cNvSpPr txBox="1"/>
            <p:nvPr/>
          </p:nvSpPr>
          <p:spPr>
            <a:xfrm>
              <a:off x="7719389" y="4273538"/>
              <a:ext cx="6909276" cy="492443"/>
            </a:xfrm>
            <a:prstGeom prst="rect">
              <a:avLst/>
            </a:prstGeom>
            <a:noFill/>
          </p:spPr>
          <p:txBody>
            <a:bodyPr wrap="square" rtlCol="0">
              <a:spAutoFit/>
            </a:bodyPr>
            <a:lstStyle/>
            <a:p>
              <a:pPr lvl="0">
                <a:defRPr/>
              </a:pPr>
              <a:r>
                <a:rPr lang="en-US" altLang="zh-CN" sz="2600" b="1" dirty="0">
                  <a:cs typeface="+mn-ea"/>
                  <a:sym typeface="+mn-lt"/>
                </a:rPr>
                <a:t>The proposed framework</a:t>
              </a:r>
              <a:endParaRPr lang="zh-CN" altLang="en-US" sz="2600" b="1" dirty="0">
                <a:cs typeface="+mn-ea"/>
                <a:sym typeface="+mn-lt"/>
              </a:endParaRPr>
            </a:p>
          </p:txBody>
        </p:sp>
        <p:cxnSp>
          <p:nvCxnSpPr>
            <p:cNvPr id="94" name="直接连接符 93"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630301C9-A53E-4928-B693-96C6ABA96668}"/>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文本框 94"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4C683014-4432-408C-81BB-92B198E8B69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02</a:t>
              </a:r>
              <a:endParaRPr lang="zh-CN" altLang="en-US" sz="3600" b="1" dirty="0">
                <a:solidFill>
                  <a:schemeClr val="tx1">
                    <a:lumMod val="75000"/>
                    <a:lumOff val="25000"/>
                  </a:schemeClr>
                </a:solidFill>
                <a:cs typeface="+mn-ea"/>
                <a:sym typeface="+mn-lt"/>
              </a:endParaRPr>
            </a:p>
          </p:txBody>
        </p:sp>
      </p:grpSp>
      <p:grpSp>
        <p:nvGrpSpPr>
          <p:cNvPr id="96" name="组合 95">
            <a:extLst>
              <a:ext uri="{FF2B5EF4-FFF2-40B4-BE49-F238E27FC236}">
                <a16:creationId xmlns:a16="http://schemas.microsoft.com/office/drawing/2014/main" id="{787391FD-B799-471D-A685-942B88FC17BA}"/>
              </a:ext>
            </a:extLst>
          </p:cNvPr>
          <p:cNvGrpSpPr/>
          <p:nvPr/>
        </p:nvGrpSpPr>
        <p:grpSpPr>
          <a:xfrm>
            <a:off x="2189086" y="3413434"/>
            <a:ext cx="9058034" cy="646331"/>
            <a:chOff x="6841647" y="4201573"/>
            <a:chExt cx="9058034" cy="646331"/>
          </a:xfrm>
        </p:grpSpPr>
        <p:sp>
          <p:nvSpPr>
            <p:cNvPr id="97" name="文本框 96"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D9CE1E3B-02DE-4694-B8DA-F6656119E644}"/>
                </a:ext>
              </a:extLst>
            </p:cNvPr>
            <p:cNvSpPr txBox="1"/>
            <p:nvPr/>
          </p:nvSpPr>
          <p:spPr>
            <a:xfrm>
              <a:off x="7719389" y="4273538"/>
              <a:ext cx="8180292" cy="492443"/>
            </a:xfrm>
            <a:prstGeom prst="rect">
              <a:avLst/>
            </a:prstGeom>
            <a:noFill/>
          </p:spPr>
          <p:txBody>
            <a:bodyPr wrap="square" rtlCol="0">
              <a:spAutoFit/>
            </a:bodyPr>
            <a:lstStyle/>
            <a:p>
              <a:pPr>
                <a:defRPr/>
              </a:pPr>
              <a:r>
                <a:rPr lang="en-US" altLang="zh-CN" sz="2600" b="1" dirty="0">
                  <a:cs typeface="+mn-ea"/>
                  <a:sym typeface="+mn-lt"/>
                </a:rPr>
                <a:t>Optimal Bidding Model with Embedded Power Allocation</a:t>
              </a:r>
              <a:endParaRPr kumimoji="0" lang="zh-CN" altLang="en-US" sz="2600" b="1" i="0" u="none" strike="noStrike" kern="1200" cap="none" spc="0" normalizeH="0" baseline="0" noProof="0" dirty="0">
                <a:ln>
                  <a:noFill/>
                </a:ln>
                <a:effectLst/>
                <a:uLnTx/>
                <a:uFillTx/>
                <a:cs typeface="+mn-ea"/>
                <a:sym typeface="+mn-lt"/>
              </a:endParaRPr>
            </a:p>
          </p:txBody>
        </p:sp>
        <p:cxnSp>
          <p:nvCxnSpPr>
            <p:cNvPr id="98" name="直接连接符 97"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0C3B934-213C-4E96-AE20-EC3DC8E21123}"/>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文本框 98"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72EC4A5C-2889-476E-BF52-DFC013053E03}"/>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03</a:t>
              </a:r>
              <a:endParaRPr lang="zh-CN" altLang="en-US" sz="3600" b="1" dirty="0">
                <a:solidFill>
                  <a:schemeClr val="tx1">
                    <a:lumMod val="75000"/>
                    <a:lumOff val="25000"/>
                  </a:schemeClr>
                </a:solidFill>
                <a:cs typeface="+mn-ea"/>
                <a:sym typeface="+mn-lt"/>
              </a:endParaRPr>
            </a:p>
          </p:txBody>
        </p:sp>
      </p:grpSp>
      <p:grpSp>
        <p:nvGrpSpPr>
          <p:cNvPr id="37" name="组合 36">
            <a:extLst>
              <a:ext uri="{FF2B5EF4-FFF2-40B4-BE49-F238E27FC236}">
                <a16:creationId xmlns:a16="http://schemas.microsoft.com/office/drawing/2014/main" id="{16AC2CDE-3D20-4748-BB56-2876C6E466A0}"/>
              </a:ext>
            </a:extLst>
          </p:cNvPr>
          <p:cNvGrpSpPr/>
          <p:nvPr/>
        </p:nvGrpSpPr>
        <p:grpSpPr>
          <a:xfrm>
            <a:off x="2189086" y="5129078"/>
            <a:ext cx="5384463" cy="646331"/>
            <a:chOff x="6841647" y="4201573"/>
            <a:chExt cx="5384463" cy="646331"/>
          </a:xfrm>
        </p:grpSpPr>
        <p:sp>
          <p:nvSpPr>
            <p:cNvPr id="38" name="文本框 3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Case Study</a:t>
              </a:r>
              <a:endParaRPr kumimoji="0" lang="zh-CN" altLang="en-US" sz="2600" b="1" i="0" u="none" strike="noStrike" kern="1200" cap="none" spc="0" normalizeH="0" baseline="0" noProof="0" dirty="0">
                <a:ln>
                  <a:noFill/>
                </a:ln>
                <a:effectLst/>
                <a:uLnTx/>
                <a:uFillTx/>
                <a:cs typeface="+mn-ea"/>
                <a:sym typeface="+mn-lt"/>
              </a:endParaRPr>
            </a:p>
          </p:txBody>
        </p:sp>
        <p:cxnSp>
          <p:nvCxnSpPr>
            <p:cNvPr id="39" name="直接连接符 3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文本框 39"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05</a:t>
              </a:r>
              <a:endParaRPr lang="zh-CN" altLang="en-US" sz="3600" b="1" dirty="0">
                <a:solidFill>
                  <a:schemeClr val="tx1">
                    <a:lumMod val="75000"/>
                    <a:lumOff val="25000"/>
                  </a:schemeClr>
                </a:solidFill>
                <a:cs typeface="+mn-ea"/>
                <a:sym typeface="+mn-lt"/>
              </a:endParaRPr>
            </a:p>
          </p:txBody>
        </p:sp>
      </p:grpSp>
    </p:spTree>
    <p:custDataLst>
      <p:tags r:id="rId1"/>
    </p:custDataLst>
    <p:extLst>
      <p:ext uri="{BB962C8B-B14F-4D97-AF65-F5344CB8AC3E}">
        <p14:creationId xmlns:p14="http://schemas.microsoft.com/office/powerpoint/2010/main" val="936981089"/>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4FD9700-F5CC-49AF-BD2D-23D2173C44DC}" type="slidenum">
              <a:rPr lang="en-US" smtClean="0"/>
              <a:pPr/>
              <a:t>3</a:t>
            </a:fld>
            <a:endParaRPr lang="en-US" dirty="0"/>
          </a:p>
        </p:txBody>
      </p:sp>
      <p:pic>
        <p:nvPicPr>
          <p:cNvPr id="1026" name="Picture 2" descr="https://gimg2.baidu.com/image_search/src=http%3A%2F%2Finews.gtimg.com%2Fnewsapp_ls%2F0%2F15176260514_870492%2F0&amp;refer=http%3A%2F%2Finews.gtimg.com&amp;app=2002&amp;size=f9999,10000&amp;q=a80&amp;n=0&amp;g=0n&amp;fmt=auto?sec=1667527744&amp;t=664a7ed3a5dd23018f154eb5b2b6ce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015" y="1981639"/>
            <a:ext cx="6465073" cy="365611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mj-ea"/>
              </a:rPr>
              <a:t>Background</a:t>
            </a:r>
          </a:p>
        </p:txBody>
      </p:sp>
      <p:sp>
        <p:nvSpPr>
          <p:cNvPr id="8" name="矩形 7"/>
          <p:cNvSpPr/>
          <p:nvPr/>
        </p:nvSpPr>
        <p:spPr>
          <a:xfrm>
            <a:off x="1978429" y="5637749"/>
            <a:ext cx="8883545" cy="777457"/>
          </a:xfrm>
          <a:prstGeom prst="rect">
            <a:avLst/>
          </a:prstGeom>
        </p:spPr>
        <p:txBody>
          <a:bodyPr wrap="square">
            <a:spAutoFit/>
          </a:bodyPr>
          <a:lstStyle/>
          <a:p>
            <a:pPr>
              <a:lnSpc>
                <a:spcPct val="130000"/>
              </a:lnSpc>
            </a:pPr>
            <a:r>
              <a:rPr lang="en-US" altLang="zh-CN" b="1" dirty="0">
                <a:latin typeface="微软雅黑" panose="020B0503020204020204" pitchFamily="34" charset="-122"/>
                <a:ea typeface="微软雅黑" panose="020B0503020204020204" pitchFamily="34" charset="-122"/>
                <a:sym typeface="Wingdings" panose="05000000000000000000" pitchFamily="2" charset="2"/>
              </a:rPr>
              <a:t>August 2022: Power restriction in Sichuan. Chengdu residents using ice blocks to cool down after power restriction/Dimmed subway lights.</a:t>
            </a:r>
          </a:p>
        </p:txBody>
      </p:sp>
      <p:sp>
        <p:nvSpPr>
          <p:cNvPr id="9" name="矩形 8">
            <a:extLst>
              <a:ext uri="{FF2B5EF4-FFF2-40B4-BE49-F238E27FC236}">
                <a16:creationId xmlns:a16="http://schemas.microsoft.com/office/drawing/2014/main" id="{1AC6CD64-6B87-4ACA-91FE-5A02C1F565AE}"/>
              </a:ext>
            </a:extLst>
          </p:cNvPr>
          <p:cNvSpPr/>
          <p:nvPr/>
        </p:nvSpPr>
        <p:spPr>
          <a:xfrm>
            <a:off x="1898073" y="1229883"/>
            <a:ext cx="8395854" cy="532453"/>
          </a:xfrm>
          <a:prstGeom prst="rect">
            <a:avLst/>
          </a:prstGeom>
          <a:noFill/>
          <a:ln w="38100">
            <a:noFill/>
            <a:miter lim="800000"/>
            <a:headEnd/>
            <a:tailEnd/>
          </a:ln>
          <a:effectLst/>
        </p:spPr>
        <p:txBody>
          <a:bodyPr wrap="square">
            <a:spAutoFit/>
          </a:bodyPr>
          <a:lstStyle/>
          <a:p>
            <a:pPr>
              <a:lnSpc>
                <a:spcPct val="130000"/>
              </a:lnSpc>
              <a:defRPr/>
            </a:pPr>
            <a:r>
              <a:rPr lang="en-US" altLang="zh-CN" sz="2200" b="1" dirty="0">
                <a:latin typeface="+mj-ea"/>
              </a:rPr>
              <a:t>The novel power system needs more flexible resources</a:t>
            </a:r>
            <a:r>
              <a:rPr lang="zh-CN" altLang="en-US" sz="2200" b="1" dirty="0">
                <a:latin typeface="+mj-ea"/>
              </a:rPr>
              <a:t>！</a:t>
            </a:r>
          </a:p>
        </p:txBody>
      </p:sp>
    </p:spTree>
    <p:extLst>
      <p:ext uri="{BB962C8B-B14F-4D97-AF65-F5344CB8AC3E}">
        <p14:creationId xmlns:p14="http://schemas.microsoft.com/office/powerpoint/2010/main" val="2073438822"/>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4FD9700-F5CC-49AF-BD2D-23D2173C44DC}" type="slidenum">
              <a:rPr lang="en-US" smtClean="0"/>
              <a:pPr/>
              <a:t>4</a:t>
            </a:fld>
            <a:endParaRPr lang="en-US" dirty="0"/>
          </a:p>
        </p:txBody>
      </p:sp>
      <p:sp>
        <p:nvSpPr>
          <p:cNvPr id="4" name="矩形 3"/>
          <p:cNvSpPr/>
          <p:nvPr/>
        </p:nvSpPr>
        <p:spPr>
          <a:xfrm>
            <a:off x="373541" y="5009606"/>
            <a:ext cx="5949405" cy="1292662"/>
          </a:xfrm>
          <a:prstGeom prst="rect">
            <a:avLst/>
          </a:prstGeom>
        </p:spPr>
        <p:txBody>
          <a:bodyPr wrap="square">
            <a:spAutoFit/>
          </a:bodyPr>
          <a:lstStyle/>
          <a:p>
            <a:pPr>
              <a:lnSpc>
                <a:spcPct val="130000"/>
              </a:lnSpc>
            </a:pP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In 2021, the number of electric vehicles in Beijing exceeded 500,000, able to support </a:t>
            </a:r>
            <a:r>
              <a:rPr lang="en-US" altLang="zh-CN" sz="2000" b="1" dirty="0">
                <a:solidFill>
                  <a:srgbClr val="0F6FC6"/>
                </a:solidFill>
                <a:latin typeface="微软雅黑" panose="020B0503020204020204" pitchFamily="34" charset="-122"/>
                <a:ea typeface="微软雅黑" panose="020B0503020204020204" pitchFamily="34" charset="-122"/>
                <a:sym typeface="Wingdings" panose="05000000000000000000" pitchFamily="2" charset="2"/>
              </a:rPr>
              <a:t>one-fourth of the maximum load of Beijing</a:t>
            </a: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2000" b="1"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8" name="矩形 7"/>
          <p:cNvSpPr/>
          <p:nvPr/>
        </p:nvSpPr>
        <p:spPr>
          <a:xfrm>
            <a:off x="6784574" y="4922888"/>
            <a:ext cx="5002279" cy="1292662"/>
          </a:xfrm>
          <a:prstGeom prst="rect">
            <a:avLst/>
          </a:prstGeom>
        </p:spPr>
        <p:txBody>
          <a:bodyPr wrap="square">
            <a:spAutoFit/>
          </a:bodyPr>
          <a:lstStyle/>
          <a:p>
            <a:pPr>
              <a:lnSpc>
                <a:spcPct val="130000"/>
              </a:lnSpc>
            </a:pPr>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From 2014 to 2021, the average cost of power batteries has </a:t>
            </a:r>
            <a:r>
              <a:rPr lang="en-US" altLang="zh-CN" sz="2000" b="1" dirty="0">
                <a:solidFill>
                  <a:srgbClr val="0F6FC6"/>
                </a:solidFill>
                <a:latin typeface="微软雅黑" panose="020B0503020204020204" pitchFamily="34" charset="-122"/>
                <a:ea typeface="微软雅黑" panose="020B0503020204020204" pitchFamily="34" charset="-122"/>
                <a:sym typeface="Wingdings" panose="05000000000000000000" pitchFamily="2" charset="2"/>
              </a:rPr>
              <a:t>dropped by more than 75%.</a:t>
            </a:r>
            <a:endParaRPr lang="en-US" altLang="zh-CN" dirty="0">
              <a:solidFill>
                <a:srgbClr val="0F6FC6"/>
              </a:solidFill>
              <a:latin typeface="微软雅黑" panose="020B0503020204020204" pitchFamily="34" charset="-122"/>
              <a:ea typeface="微软雅黑" panose="020B0503020204020204" pitchFamily="34" charset="-122"/>
              <a:sym typeface="Wingdings" panose="05000000000000000000" pitchFamily="2" charset="2"/>
            </a:endParaRPr>
          </a:p>
        </p:txBody>
      </p:sp>
      <p:pic>
        <p:nvPicPr>
          <p:cNvPr id="10" name="图片 9"/>
          <p:cNvPicPr/>
          <p:nvPr/>
        </p:nvPicPr>
        <p:blipFill>
          <a:blip r:embed="rId2"/>
          <a:stretch>
            <a:fillRect/>
          </a:stretch>
        </p:blipFill>
        <p:spPr>
          <a:xfrm>
            <a:off x="6096000" y="1896781"/>
            <a:ext cx="5936140" cy="3164049"/>
          </a:xfrm>
          <a:prstGeom prst="rect">
            <a:avLst/>
          </a:prstGeom>
        </p:spPr>
      </p:pic>
      <p:sp>
        <p:nvSpPr>
          <p:cNvPr id="13" name="矩形 12"/>
          <p:cNvSpPr/>
          <p:nvPr/>
        </p:nvSpPr>
        <p:spPr>
          <a:xfrm>
            <a:off x="6623380" y="4922887"/>
            <a:ext cx="5335654" cy="142235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73540" y="4922888"/>
            <a:ext cx="5949405" cy="142749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0" y="1732177"/>
            <a:ext cx="6322946" cy="3164050"/>
            <a:chOff x="0" y="1732177"/>
            <a:chExt cx="6322946" cy="3164050"/>
          </a:xfrm>
        </p:grpSpPr>
        <p:pic>
          <p:nvPicPr>
            <p:cNvPr id="7" name="图片 6"/>
            <p:cNvPicPr>
              <a:picLocks noChangeAspect="1"/>
            </p:cNvPicPr>
            <p:nvPr/>
          </p:nvPicPr>
          <p:blipFill>
            <a:blip r:embed="rId3"/>
            <a:stretch>
              <a:fillRect/>
            </a:stretch>
          </p:blipFill>
          <p:spPr>
            <a:xfrm>
              <a:off x="115139" y="1896782"/>
              <a:ext cx="6207807" cy="2999445"/>
            </a:xfrm>
            <a:prstGeom prst="rect">
              <a:avLst/>
            </a:prstGeom>
          </p:spPr>
        </p:pic>
        <p:pic>
          <p:nvPicPr>
            <p:cNvPr id="3" name="图片 2"/>
            <p:cNvPicPr>
              <a:picLocks noChangeAspect="1"/>
            </p:cNvPicPr>
            <p:nvPr/>
          </p:nvPicPr>
          <p:blipFill>
            <a:blip r:embed="rId4"/>
            <a:stretch>
              <a:fillRect/>
            </a:stretch>
          </p:blipFill>
          <p:spPr>
            <a:xfrm>
              <a:off x="0" y="1732177"/>
              <a:ext cx="5054138" cy="876190"/>
            </a:xfrm>
            <a:prstGeom prst="rect">
              <a:avLst/>
            </a:prstGeom>
          </p:spPr>
        </p:pic>
      </p:grpSp>
      <p:sp>
        <p:nvSpPr>
          <p:cNvPr id="15"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mj-ea"/>
              </a:rPr>
              <a:t>Background</a:t>
            </a:r>
          </a:p>
        </p:txBody>
      </p:sp>
      <p:sp>
        <p:nvSpPr>
          <p:cNvPr id="11" name="矩形 10"/>
          <p:cNvSpPr/>
          <p:nvPr/>
        </p:nvSpPr>
        <p:spPr>
          <a:xfrm>
            <a:off x="4398038" y="1315113"/>
            <a:ext cx="4205635" cy="400110"/>
          </a:xfrm>
          <a:prstGeom prst="rect">
            <a:avLst/>
          </a:prstGeom>
        </p:spPr>
        <p:txBody>
          <a:bodyPr wrap="square">
            <a:spAutoFit/>
          </a:bodyPr>
          <a:lstStyle/>
          <a:p>
            <a:r>
              <a:rPr lang="en-US" altLang="zh-CN" sz="2000" b="1" dirty="0">
                <a:latin typeface="微软雅黑" panose="020B0503020204020204" pitchFamily="34" charset="-122"/>
                <a:ea typeface="微软雅黑" panose="020B0503020204020204" pitchFamily="34" charset="-122"/>
                <a:sym typeface="Wingdings" panose="05000000000000000000" pitchFamily="2" charset="2"/>
              </a:rPr>
              <a:t>V2G is becoming a reality!</a:t>
            </a:r>
            <a:endParaRPr lang="zh-CN" altLang="en-US" sz="2000" dirty="0">
              <a:solidFill>
                <a:schemeClr val="accent1"/>
              </a:solidFill>
            </a:endParaRPr>
          </a:p>
        </p:txBody>
      </p:sp>
    </p:spTree>
    <p:extLst>
      <p:ext uri="{BB962C8B-B14F-4D97-AF65-F5344CB8AC3E}">
        <p14:creationId xmlns:p14="http://schemas.microsoft.com/office/powerpoint/2010/main" val="387259935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7"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5</a:t>
            </a:fld>
            <a:endParaRPr lang="zh-CN" altLang="en-US" sz="180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1AC6CD64-6B87-4ACA-91FE-5A02C1F565AE}"/>
              </a:ext>
            </a:extLst>
          </p:cNvPr>
          <p:cNvSpPr/>
          <p:nvPr/>
        </p:nvSpPr>
        <p:spPr>
          <a:xfrm>
            <a:off x="550203" y="1385927"/>
            <a:ext cx="10902770" cy="1052596"/>
          </a:xfrm>
          <a:prstGeom prst="rect">
            <a:avLst/>
          </a:prstGeom>
          <a:noFill/>
          <a:ln w="38100">
            <a:noFill/>
            <a:miter lim="800000"/>
            <a:headEnd/>
            <a:tailEnd/>
          </a:ln>
          <a:effectLst/>
        </p:spPr>
        <p:txBody>
          <a:bodyPr wrap="square">
            <a:spAutoFit/>
          </a:bodyPr>
          <a:lstStyle/>
          <a:p>
            <a:pPr>
              <a:lnSpc>
                <a:spcPct val="130000"/>
              </a:lnSpc>
              <a:defRPr/>
            </a:pPr>
            <a:r>
              <a:rPr lang="en-US" altLang="zh-CN" sz="2400" dirty="0">
                <a:latin typeface="Times New Roman" panose="02020603050405020304" pitchFamily="18" charset="0"/>
                <a:cs typeface="Times New Roman" panose="02020603050405020304" pitchFamily="18" charset="0"/>
              </a:rPr>
              <a:t>Due to the limited capacity of a single EV, EV aggregators (</a:t>
            </a:r>
            <a:r>
              <a:rPr lang="en-US" altLang="zh-CN" sz="2400" b="1" dirty="0">
                <a:solidFill>
                  <a:schemeClr val="accent1"/>
                </a:solidFill>
                <a:latin typeface="Times New Roman" panose="02020603050405020304" pitchFamily="18" charset="0"/>
                <a:cs typeface="Times New Roman" panose="02020603050405020304" pitchFamily="18" charset="0"/>
              </a:rPr>
              <a:t>EVA</a:t>
            </a:r>
            <a:r>
              <a:rPr lang="en-US" altLang="zh-CN" sz="2400" dirty="0">
                <a:latin typeface="Times New Roman" panose="02020603050405020304" pitchFamily="18" charset="0"/>
                <a:cs typeface="Times New Roman" panose="02020603050405020304" pitchFamily="18" charset="0"/>
              </a:rPr>
              <a:t>s) usually need to aggregate a large number of EVs to meet the threshold for entering electricity market. </a:t>
            </a:r>
            <a:endParaRPr lang="zh-CN" altLang="en-US" sz="2400" dirty="0">
              <a:latin typeface="Times New Roman" panose="02020603050405020304" pitchFamily="18" charset="0"/>
              <a:cs typeface="Times New Roman" panose="02020603050405020304" pitchFamily="18" charset="0"/>
            </a:endParaRPr>
          </a:p>
        </p:txBody>
      </p:sp>
      <p:sp>
        <p:nvSpPr>
          <p:cNvPr id="11" name="矩形 10"/>
          <p:cNvSpPr/>
          <p:nvPr/>
        </p:nvSpPr>
        <p:spPr>
          <a:xfrm>
            <a:off x="1793786" y="2600621"/>
            <a:ext cx="8746751" cy="1004699"/>
          </a:xfrm>
          <a:prstGeom prst="rect">
            <a:avLst/>
          </a:prstGeom>
          <a:solidFill>
            <a:srgbClr val="EAF6FC"/>
          </a:solidFill>
        </p:spPr>
        <p:txBody>
          <a:bodyPr wrap="square">
            <a:spAutoFit/>
          </a:bodyPr>
          <a:lstStyle/>
          <a:p>
            <a:pPr>
              <a:lnSpc>
                <a:spcPct val="13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EVA-led charging management mode: three links </a:t>
            </a:r>
          </a:p>
          <a:p>
            <a:pPr marL="342000" indent="-342000">
              <a:lnSpc>
                <a:spcPct val="13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 EVA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bidding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in the market: </a:t>
            </a:r>
            <a:r>
              <a:rPr lang="en-US" altLang="zh-CN" sz="2400" b="1" dirty="0">
                <a:solidFill>
                  <a:srgbClr val="0F6FC6"/>
                </a:solidFill>
                <a:latin typeface="Times New Roman" panose="02020603050405020304" pitchFamily="18" charset="0"/>
                <a:ea typeface="微软雅黑" panose="020B0503020204020204" pitchFamily="34" charset="-122"/>
                <a:cs typeface="Times New Roman" panose="02020603050405020304" pitchFamily="18" charset="0"/>
              </a:rPr>
              <a:t>deciding the regulation capacity </a:t>
            </a: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Background</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3"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AEECE08-4121-4E91-85DC-E8F204565541}"/>
              </a:ext>
            </a:extLst>
          </p:cNvPr>
          <p:cNvPicPr>
            <a:picLocks noChangeAspect="1"/>
          </p:cNvPicPr>
          <p:nvPr/>
        </p:nvPicPr>
        <p:blipFill>
          <a:blip r:embed="rId3"/>
          <a:stretch>
            <a:fillRect/>
          </a:stretch>
        </p:blipFill>
        <p:spPr>
          <a:xfrm>
            <a:off x="3886803" y="3628380"/>
            <a:ext cx="4108819" cy="2896246"/>
          </a:xfrm>
          <a:prstGeom prst="rect">
            <a:avLst/>
          </a:prstGeom>
        </p:spPr>
      </p:pic>
      <p:pic>
        <p:nvPicPr>
          <p:cNvPr id="2" name="图片 1">
            <a:extLst>
              <a:ext uri="{FF2B5EF4-FFF2-40B4-BE49-F238E27FC236}">
                <a16:creationId xmlns:a16="http://schemas.microsoft.com/office/drawing/2014/main" id="{95E45B7A-FE33-41ED-85B3-C4EAE46EFC08}"/>
              </a:ext>
            </a:extLst>
          </p:cNvPr>
          <p:cNvPicPr>
            <a:picLocks noChangeAspect="1"/>
          </p:cNvPicPr>
          <p:nvPr/>
        </p:nvPicPr>
        <p:blipFill>
          <a:blip r:embed="rId4"/>
          <a:stretch>
            <a:fillRect/>
          </a:stretch>
        </p:blipFill>
        <p:spPr>
          <a:xfrm>
            <a:off x="3549207" y="6562762"/>
            <a:ext cx="4904762" cy="295238"/>
          </a:xfrm>
          <a:prstGeom prst="rect">
            <a:avLst/>
          </a:prstGeom>
        </p:spPr>
      </p:pic>
    </p:spTree>
    <p:extLst>
      <p:ext uri="{BB962C8B-B14F-4D97-AF65-F5344CB8AC3E}">
        <p14:creationId xmlns:p14="http://schemas.microsoft.com/office/powerpoint/2010/main" val="82072732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7"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6</a:t>
            </a:fld>
            <a:endParaRPr lang="zh-CN" altLang="en-US" sz="180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1AC6CD64-6B87-4ACA-91FE-5A02C1F565AE}"/>
              </a:ext>
            </a:extLst>
          </p:cNvPr>
          <p:cNvSpPr/>
          <p:nvPr/>
        </p:nvSpPr>
        <p:spPr>
          <a:xfrm>
            <a:off x="550203" y="1385927"/>
            <a:ext cx="10902770" cy="1052596"/>
          </a:xfrm>
          <a:prstGeom prst="rect">
            <a:avLst/>
          </a:prstGeom>
          <a:noFill/>
          <a:ln w="38100">
            <a:noFill/>
            <a:miter lim="800000"/>
            <a:headEnd/>
            <a:tailEnd/>
          </a:ln>
          <a:effectLst/>
        </p:spPr>
        <p:txBody>
          <a:bodyPr wrap="square">
            <a:spAutoFit/>
          </a:bodyPr>
          <a:lstStyle/>
          <a:p>
            <a:pPr>
              <a:lnSpc>
                <a:spcPct val="130000"/>
              </a:lnSpc>
              <a:defRPr/>
            </a:pPr>
            <a:r>
              <a:rPr lang="en-US" altLang="zh-CN" sz="2400" dirty="0">
                <a:latin typeface="Times New Roman" panose="02020603050405020304" pitchFamily="18" charset="0"/>
                <a:cs typeface="Times New Roman" panose="02020603050405020304" pitchFamily="18" charset="0"/>
              </a:rPr>
              <a:t>Due to the limited capacity of a single EV, EV aggregators (</a:t>
            </a:r>
            <a:r>
              <a:rPr lang="en-US" altLang="zh-CN" sz="2400" b="1" dirty="0">
                <a:solidFill>
                  <a:schemeClr val="accent1"/>
                </a:solidFill>
                <a:latin typeface="Times New Roman" panose="02020603050405020304" pitchFamily="18" charset="0"/>
                <a:cs typeface="Times New Roman" panose="02020603050405020304" pitchFamily="18" charset="0"/>
              </a:rPr>
              <a:t>EVA</a:t>
            </a:r>
            <a:r>
              <a:rPr lang="en-US" altLang="zh-CN" sz="2400" dirty="0">
                <a:latin typeface="Times New Roman" panose="02020603050405020304" pitchFamily="18" charset="0"/>
                <a:cs typeface="Times New Roman" panose="02020603050405020304" pitchFamily="18" charset="0"/>
              </a:rPr>
              <a:t>s) usually need to aggregate a large number of EVs to meet the threshold for entering electricity market. </a:t>
            </a:r>
            <a:endParaRPr lang="zh-CN" altLang="en-US" sz="2400" dirty="0">
              <a:latin typeface="Times New Roman" panose="02020603050405020304" pitchFamily="18" charset="0"/>
              <a:cs typeface="Times New Roman" panose="02020603050405020304" pitchFamily="18" charset="0"/>
            </a:endParaRPr>
          </a:p>
        </p:txBody>
      </p:sp>
      <p:sp>
        <p:nvSpPr>
          <p:cNvPr id="11" name="矩形 10"/>
          <p:cNvSpPr/>
          <p:nvPr/>
        </p:nvSpPr>
        <p:spPr>
          <a:xfrm>
            <a:off x="1793786" y="2600621"/>
            <a:ext cx="8746751" cy="1484830"/>
          </a:xfrm>
          <a:prstGeom prst="rect">
            <a:avLst/>
          </a:prstGeom>
          <a:solidFill>
            <a:srgbClr val="EAF6FC"/>
          </a:solidFill>
        </p:spPr>
        <p:txBody>
          <a:bodyPr wrap="square">
            <a:spAutoFit/>
          </a:bodyPr>
          <a:lstStyle/>
          <a:p>
            <a:pPr>
              <a:lnSpc>
                <a:spcPct val="13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EVA-led charging management mode: three links </a:t>
            </a:r>
          </a:p>
          <a:p>
            <a:pPr marL="342000" indent="-342000">
              <a:lnSpc>
                <a:spcPct val="13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 EVA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bidding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in the market: </a:t>
            </a:r>
            <a:r>
              <a:rPr lang="en-US" altLang="zh-CN" sz="2400" b="1" dirty="0">
                <a:solidFill>
                  <a:srgbClr val="0F6FC6"/>
                </a:solidFill>
                <a:latin typeface="Times New Roman" panose="02020603050405020304" pitchFamily="18" charset="0"/>
                <a:ea typeface="微软雅黑" panose="020B0503020204020204" pitchFamily="34" charset="-122"/>
                <a:cs typeface="Times New Roman" panose="02020603050405020304" pitchFamily="18" charset="0"/>
              </a:rPr>
              <a:t>deciding the regulation capacity </a:t>
            </a:r>
          </a:p>
          <a:p>
            <a:pPr marL="342000" indent="-342000">
              <a:lnSpc>
                <a:spcPct val="13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 EVA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allocating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(dis)charging power to EVs </a:t>
            </a: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Background</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12" name="图片 11">
            <a:extLst>
              <a:ext uri="{FF2B5EF4-FFF2-40B4-BE49-F238E27FC236}">
                <a16:creationId xmlns:a16="http://schemas.microsoft.com/office/drawing/2014/main" id="{7CA3C845-4894-4746-ABAD-9A3CF2FE074D}"/>
              </a:ext>
            </a:extLst>
          </p:cNvPr>
          <p:cNvPicPr>
            <a:picLocks noChangeAspect="1"/>
          </p:cNvPicPr>
          <p:nvPr/>
        </p:nvPicPr>
        <p:blipFill>
          <a:blip r:embed="rId3"/>
          <a:stretch>
            <a:fillRect/>
          </a:stretch>
        </p:blipFill>
        <p:spPr>
          <a:xfrm>
            <a:off x="6401896" y="4085451"/>
            <a:ext cx="4038096" cy="2166667"/>
          </a:xfrm>
          <a:prstGeom prst="rect">
            <a:avLst/>
          </a:prstGeom>
        </p:spPr>
      </p:pic>
      <p:pic>
        <p:nvPicPr>
          <p:cNvPr id="13" name="图片 12">
            <a:extLst>
              <a:ext uri="{FF2B5EF4-FFF2-40B4-BE49-F238E27FC236}">
                <a16:creationId xmlns:a16="http://schemas.microsoft.com/office/drawing/2014/main" id="{5128ED4F-F66C-4328-AEB0-260202137CE6}"/>
              </a:ext>
            </a:extLst>
          </p:cNvPr>
          <p:cNvPicPr>
            <a:picLocks noChangeAspect="1"/>
          </p:cNvPicPr>
          <p:nvPr/>
        </p:nvPicPr>
        <p:blipFill>
          <a:blip r:embed="rId4"/>
          <a:stretch>
            <a:fillRect/>
          </a:stretch>
        </p:blipFill>
        <p:spPr>
          <a:xfrm>
            <a:off x="2097263" y="4119716"/>
            <a:ext cx="4168534" cy="2205932"/>
          </a:xfrm>
          <a:prstGeom prst="rect">
            <a:avLst/>
          </a:prstGeom>
        </p:spPr>
      </p:pic>
      <p:pic>
        <p:nvPicPr>
          <p:cNvPr id="2" name="图片 1">
            <a:extLst>
              <a:ext uri="{FF2B5EF4-FFF2-40B4-BE49-F238E27FC236}">
                <a16:creationId xmlns:a16="http://schemas.microsoft.com/office/drawing/2014/main" id="{B8659AE4-EA85-4C2F-A8BA-2E7D68C75BC8}"/>
              </a:ext>
            </a:extLst>
          </p:cNvPr>
          <p:cNvPicPr>
            <a:picLocks noChangeAspect="1"/>
          </p:cNvPicPr>
          <p:nvPr/>
        </p:nvPicPr>
        <p:blipFill>
          <a:blip r:embed="rId5"/>
          <a:stretch>
            <a:fillRect/>
          </a:stretch>
        </p:blipFill>
        <p:spPr>
          <a:xfrm>
            <a:off x="1637335" y="6281404"/>
            <a:ext cx="8938756" cy="550457"/>
          </a:xfrm>
          <a:prstGeom prst="rect">
            <a:avLst/>
          </a:prstGeom>
        </p:spPr>
      </p:pic>
    </p:spTree>
    <p:extLst>
      <p:ext uri="{BB962C8B-B14F-4D97-AF65-F5344CB8AC3E}">
        <p14:creationId xmlns:p14="http://schemas.microsoft.com/office/powerpoint/2010/main" val="285533634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7"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7</a:t>
            </a:fld>
            <a:endParaRPr lang="zh-CN" altLang="en-US" sz="180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1AC6CD64-6B87-4ACA-91FE-5A02C1F565AE}"/>
              </a:ext>
            </a:extLst>
          </p:cNvPr>
          <p:cNvSpPr/>
          <p:nvPr/>
        </p:nvSpPr>
        <p:spPr>
          <a:xfrm>
            <a:off x="550203" y="1385927"/>
            <a:ext cx="10902770" cy="1052596"/>
          </a:xfrm>
          <a:prstGeom prst="rect">
            <a:avLst/>
          </a:prstGeom>
          <a:noFill/>
          <a:ln w="38100">
            <a:noFill/>
            <a:miter lim="800000"/>
            <a:headEnd/>
            <a:tailEnd/>
          </a:ln>
          <a:effectLst/>
        </p:spPr>
        <p:txBody>
          <a:bodyPr wrap="square">
            <a:spAutoFit/>
          </a:bodyPr>
          <a:lstStyle/>
          <a:p>
            <a:pPr>
              <a:lnSpc>
                <a:spcPct val="130000"/>
              </a:lnSpc>
              <a:defRPr/>
            </a:pPr>
            <a:r>
              <a:rPr lang="en-US" altLang="zh-CN" sz="2400" dirty="0">
                <a:latin typeface="Times New Roman" panose="02020603050405020304" pitchFamily="18" charset="0"/>
                <a:cs typeface="Times New Roman" panose="02020603050405020304" pitchFamily="18" charset="0"/>
              </a:rPr>
              <a:t>Due to the limited capacity of a single EV, EV aggregators (</a:t>
            </a:r>
            <a:r>
              <a:rPr lang="en-US" altLang="zh-CN" sz="2400" b="1" dirty="0">
                <a:solidFill>
                  <a:schemeClr val="accent1"/>
                </a:solidFill>
                <a:latin typeface="Times New Roman" panose="02020603050405020304" pitchFamily="18" charset="0"/>
                <a:cs typeface="Times New Roman" panose="02020603050405020304" pitchFamily="18" charset="0"/>
              </a:rPr>
              <a:t>EVA</a:t>
            </a:r>
            <a:r>
              <a:rPr lang="en-US" altLang="zh-CN" sz="2400" dirty="0">
                <a:latin typeface="Times New Roman" panose="02020603050405020304" pitchFamily="18" charset="0"/>
                <a:cs typeface="Times New Roman" panose="02020603050405020304" pitchFamily="18" charset="0"/>
              </a:rPr>
              <a:t>s) usually need to aggregate a large number of EVs to meet the threshold for entering electricity market. </a:t>
            </a:r>
            <a:endParaRPr lang="zh-CN" altLang="en-US" sz="2400" dirty="0">
              <a:latin typeface="Times New Roman" panose="02020603050405020304" pitchFamily="18" charset="0"/>
              <a:cs typeface="Times New Roman" panose="02020603050405020304" pitchFamily="18" charset="0"/>
            </a:endParaRPr>
          </a:p>
        </p:txBody>
      </p:sp>
      <p:sp>
        <p:nvSpPr>
          <p:cNvPr id="11" name="矩形 10"/>
          <p:cNvSpPr/>
          <p:nvPr/>
        </p:nvSpPr>
        <p:spPr>
          <a:xfrm>
            <a:off x="1793786" y="2600621"/>
            <a:ext cx="8746751" cy="2012859"/>
          </a:xfrm>
          <a:prstGeom prst="rect">
            <a:avLst/>
          </a:prstGeom>
          <a:solidFill>
            <a:srgbClr val="EAF6FC"/>
          </a:solidFill>
        </p:spPr>
        <p:txBody>
          <a:bodyPr wrap="square">
            <a:spAutoFit/>
          </a:bodyPr>
          <a:lstStyle/>
          <a:p>
            <a:pPr>
              <a:lnSpc>
                <a:spcPct val="13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EVA-led charging management mode: three links </a:t>
            </a:r>
          </a:p>
          <a:p>
            <a:pPr marL="342000" indent="-342000">
              <a:lnSpc>
                <a:spcPct val="13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 EVA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bidding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in the market: </a:t>
            </a:r>
            <a:r>
              <a:rPr lang="en-US" altLang="zh-CN" sz="2400" b="1" dirty="0">
                <a:solidFill>
                  <a:srgbClr val="0F6FC6"/>
                </a:solidFill>
                <a:latin typeface="Times New Roman" panose="02020603050405020304" pitchFamily="18" charset="0"/>
                <a:ea typeface="微软雅黑" panose="020B0503020204020204" pitchFamily="34" charset="-122"/>
                <a:cs typeface="Times New Roman" panose="02020603050405020304" pitchFamily="18" charset="0"/>
              </a:rPr>
              <a:t>deciding the regulation capacity </a:t>
            </a:r>
          </a:p>
          <a:p>
            <a:pPr marL="342000" indent="-342000">
              <a:lnSpc>
                <a:spcPct val="13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 EVA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allocating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(dis)charging power to EVs </a:t>
            </a:r>
          </a:p>
          <a:p>
            <a:pPr marL="342000" indent="-342000">
              <a:lnSpc>
                <a:spcPct val="13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revenue distribution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between the EVA and EV owners</a:t>
            </a: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Background</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3"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550203" y="4775578"/>
            <a:ext cx="11154117" cy="1200329"/>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The three links are </a:t>
            </a:r>
            <a:r>
              <a:rPr lang="en-US" altLang="zh-CN" sz="2400" b="1" dirty="0">
                <a:solidFill>
                  <a:schemeClr val="accent1"/>
                </a:solidFill>
                <a:latin typeface="Times New Roman" panose="02020603050405020304" pitchFamily="18" charset="0"/>
                <a:cs typeface="Times New Roman" panose="02020603050405020304" pitchFamily="18" charset="0"/>
              </a:rPr>
              <a:t>coupled but often regarded as decoupled </a:t>
            </a:r>
            <a:r>
              <a:rPr lang="en-US" altLang="zh-CN" sz="2400" dirty="0">
                <a:latin typeface="Times New Roman" panose="02020603050405020304" pitchFamily="18" charset="0"/>
                <a:cs typeface="Times New Roman" panose="02020603050405020304" pitchFamily="18" charset="0"/>
              </a:rPr>
              <a:t>and optimized separately for complexity issues. A </a:t>
            </a:r>
            <a:r>
              <a:rPr lang="en-US" altLang="zh-CN" sz="2400" b="1" dirty="0">
                <a:solidFill>
                  <a:schemeClr val="accent1"/>
                </a:solidFill>
                <a:latin typeface="Times New Roman" panose="02020603050405020304" pitchFamily="18" charset="0"/>
                <a:cs typeface="Times New Roman" panose="02020603050405020304" pitchFamily="18" charset="0"/>
              </a:rPr>
              <a:t>practical framework for co-optimizing EVA bidding and power allocation</a:t>
            </a:r>
            <a:r>
              <a:rPr lang="en-US" altLang="zh-CN" sz="2400" dirty="0">
                <a:latin typeface="Times New Roman" panose="02020603050405020304" pitchFamily="18" charset="0"/>
                <a:cs typeface="Times New Roman" panose="02020603050405020304" pitchFamily="18" charset="0"/>
              </a:rPr>
              <a:t> is challenging!</a:t>
            </a:r>
          </a:p>
        </p:txBody>
      </p:sp>
    </p:spTree>
    <p:extLst>
      <p:ext uri="{BB962C8B-B14F-4D97-AF65-F5344CB8AC3E}">
        <p14:creationId xmlns:p14="http://schemas.microsoft.com/office/powerpoint/2010/main" val="409119648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644038" y="3764813"/>
            <a:ext cx="7057500" cy="2656565"/>
          </a:xfrm>
          <a:prstGeom prst="rect">
            <a:avLst/>
          </a:prstGeom>
        </p:spPr>
      </p:pic>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6"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8</a:t>
            </a:fld>
            <a:endParaRPr lang="zh-CN" altLang="en-US" sz="180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1AC6CD64-6B87-4ACA-91FE-5A02C1F565AE}"/>
              </a:ext>
            </a:extLst>
          </p:cNvPr>
          <p:cNvSpPr/>
          <p:nvPr/>
        </p:nvSpPr>
        <p:spPr>
          <a:xfrm>
            <a:off x="550203" y="1385927"/>
            <a:ext cx="10870272" cy="2332946"/>
          </a:xfrm>
          <a:prstGeom prst="rect">
            <a:avLst/>
          </a:prstGeom>
          <a:noFill/>
          <a:ln w="38100">
            <a:noFill/>
            <a:miter lim="800000"/>
            <a:headEnd/>
            <a:tailEnd/>
          </a:ln>
          <a:effectLst/>
        </p:spPr>
        <p:txBody>
          <a:bodyPr wrap="square">
            <a:spAutoFit/>
          </a:bodyPr>
          <a:lstStyle/>
          <a:p>
            <a:pPr>
              <a:lnSpc>
                <a:spcPct val="130000"/>
              </a:lnSpc>
              <a:defRPr/>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Why co-optimizing? </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a. </a:t>
            </a:r>
            <a:r>
              <a:rPr lang="en-US" altLang="zh-CN" sz="2200" b="1" dirty="0">
                <a:solidFill>
                  <a:srgbClr val="0F6FC6"/>
                </a:solidFill>
                <a:latin typeface="Times New Roman" panose="02020603050405020304" pitchFamily="18" charset="0"/>
                <a:ea typeface="微软雅黑" panose="020B0503020204020204" pitchFamily="34" charset="-122"/>
                <a:cs typeface="Times New Roman" panose="02020603050405020304" pitchFamily="18" charset="0"/>
              </a:rPr>
              <a:t>In the EVA bidding problem</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it is necessary to consider the </a:t>
            </a:r>
            <a:r>
              <a:rPr lang="en-US" altLang="zh-CN" sz="2200" b="1" dirty="0">
                <a:solidFill>
                  <a:srgbClr val="0F6FC6"/>
                </a:solidFill>
                <a:latin typeface="Times New Roman" panose="02020603050405020304" pitchFamily="18" charset="0"/>
                <a:ea typeface="微软雅黑" panose="020B0503020204020204" pitchFamily="34" charset="-122"/>
                <a:cs typeface="Times New Roman" panose="02020603050405020304" pitchFamily="18" charset="0"/>
              </a:rPr>
              <a:t>power allocation strategy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in regulation deployment because different allocation strategies will induce different costs, especially when the EVs feature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heterogeneous degradation costs, charging efficiencies, and other characteristics</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b="1" dirty="0">
              <a:latin typeface="Times New Roman" panose="02020603050405020304" pitchFamily="18" charset="0"/>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Motivation</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2"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810302" y="3257002"/>
            <a:ext cx="3886103" cy="142990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 name="矩形 1"/>
          <p:cNvSpPr/>
          <p:nvPr/>
        </p:nvSpPr>
        <p:spPr>
          <a:xfrm>
            <a:off x="7855083" y="3355585"/>
            <a:ext cx="3841323" cy="1200329"/>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Intuition: allocate discharging power to the EVs with lower degradation costs!</a:t>
            </a:r>
            <a:endParaRPr lang="zh-CN" altLang="en-US" sz="2400" dirty="0">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7810302" y="4810845"/>
            <a:ext cx="3886104" cy="1429908"/>
            <a:chOff x="7919066" y="3602147"/>
            <a:chExt cx="3886104" cy="1429908"/>
          </a:xfrm>
        </p:grpSpPr>
        <p:sp>
          <p:nvSpPr>
            <p:cNvPr id="15" name="矩形 14"/>
            <p:cNvSpPr/>
            <p:nvPr/>
          </p:nvSpPr>
          <p:spPr>
            <a:xfrm>
              <a:off x="7919066" y="3602147"/>
              <a:ext cx="3886103" cy="142990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矩形 16"/>
            <p:cNvSpPr/>
            <p:nvPr/>
          </p:nvSpPr>
          <p:spPr>
            <a:xfrm>
              <a:off x="7963847" y="3700730"/>
              <a:ext cx="3841323" cy="1200329"/>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What if always allocating discharging power to the EVs with lower degradation costs?</a:t>
              </a:r>
              <a:endParaRPr lang="zh-CN" altLang="en-US" sz="2400" dirty="0">
                <a:latin typeface="Times New Roman" panose="02020603050405020304" pitchFamily="18" charset="0"/>
                <a:cs typeface="Times New Roman" panose="02020603050405020304" pitchFamily="18" charset="0"/>
              </a:endParaRPr>
            </a:p>
          </p:txBody>
        </p:sp>
      </p:grpSp>
      <p:sp>
        <p:nvSpPr>
          <p:cNvPr id="3" name="文本框 2">
            <a:extLst>
              <a:ext uri="{FF2B5EF4-FFF2-40B4-BE49-F238E27FC236}">
                <a16:creationId xmlns:a16="http://schemas.microsoft.com/office/drawing/2014/main" id="{8E8DF7F8-890D-43DA-889A-8C1E617A6976}"/>
              </a:ext>
            </a:extLst>
          </p:cNvPr>
          <p:cNvSpPr txBox="1"/>
          <p:nvPr/>
        </p:nvSpPr>
        <p:spPr>
          <a:xfrm>
            <a:off x="1702965" y="4186582"/>
            <a:ext cx="1602490" cy="369332"/>
          </a:xfrm>
          <a:prstGeom prst="rect">
            <a:avLst/>
          </a:prstGeom>
          <a:noFill/>
        </p:spPr>
        <p:txBody>
          <a:bodyPr wrap="none" rtlCol="0">
            <a:spAutoFit/>
          </a:bodyPr>
          <a:lstStyle/>
          <a:p>
            <a:r>
              <a:rPr lang="en-US" altLang="zh-CN" dirty="0"/>
              <a:t>Reduce 15 kW!</a:t>
            </a:r>
            <a:endParaRPr lang="zh-CN" altLang="en-US" dirty="0"/>
          </a:p>
        </p:txBody>
      </p:sp>
      <p:sp>
        <p:nvSpPr>
          <p:cNvPr id="18" name="文本框 17">
            <a:extLst>
              <a:ext uri="{FF2B5EF4-FFF2-40B4-BE49-F238E27FC236}">
                <a16:creationId xmlns:a16="http://schemas.microsoft.com/office/drawing/2014/main" id="{85CB8C49-E02A-4E2C-8FEB-9A7A0986E2D5}"/>
              </a:ext>
            </a:extLst>
          </p:cNvPr>
          <p:cNvSpPr txBox="1"/>
          <p:nvPr/>
        </p:nvSpPr>
        <p:spPr>
          <a:xfrm>
            <a:off x="5498178" y="5739912"/>
            <a:ext cx="1011815" cy="369332"/>
          </a:xfrm>
          <a:prstGeom prst="rect">
            <a:avLst/>
          </a:prstGeom>
          <a:noFill/>
        </p:spPr>
        <p:txBody>
          <a:bodyPr wrap="none" rtlCol="0">
            <a:spAutoFit/>
          </a:bodyPr>
          <a:lstStyle/>
          <a:p>
            <a:r>
              <a:rPr lang="en-US" altLang="zh-CN" dirty="0"/>
              <a:t>- 15 kW</a:t>
            </a:r>
            <a:r>
              <a:rPr lang="en-US" altLang="zh-CN" b="1" dirty="0"/>
              <a:t>?</a:t>
            </a:r>
            <a:endParaRPr lang="zh-CN" altLang="en-US" b="1" dirty="0"/>
          </a:p>
        </p:txBody>
      </p:sp>
      <p:cxnSp>
        <p:nvCxnSpPr>
          <p:cNvPr id="5" name="连接符: 曲线 4">
            <a:extLst>
              <a:ext uri="{FF2B5EF4-FFF2-40B4-BE49-F238E27FC236}">
                <a16:creationId xmlns:a16="http://schemas.microsoft.com/office/drawing/2014/main" id="{BD3A2447-69A6-4AD9-AD93-0250C7102D1E}"/>
              </a:ext>
            </a:extLst>
          </p:cNvPr>
          <p:cNvCxnSpPr/>
          <p:nvPr/>
        </p:nvCxnSpPr>
        <p:spPr>
          <a:xfrm>
            <a:off x="3305455" y="4371248"/>
            <a:ext cx="2197723" cy="155333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7038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6"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9</a:t>
            </a:fld>
            <a:endParaRPr lang="zh-CN" altLang="en-US" sz="180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1AC6CD64-6B87-4ACA-91FE-5A02C1F565AE}"/>
              </a:ext>
            </a:extLst>
          </p:cNvPr>
          <p:cNvSpPr/>
          <p:nvPr/>
        </p:nvSpPr>
        <p:spPr>
          <a:xfrm>
            <a:off x="550203" y="1385927"/>
            <a:ext cx="10902770" cy="2332946"/>
          </a:xfrm>
          <a:prstGeom prst="rect">
            <a:avLst/>
          </a:prstGeom>
          <a:noFill/>
          <a:ln w="38100">
            <a:noFill/>
            <a:miter lim="800000"/>
            <a:headEnd/>
            <a:tailEnd/>
          </a:ln>
          <a:effectLst/>
        </p:spPr>
        <p:txBody>
          <a:bodyPr wrap="square">
            <a:spAutoFit/>
          </a:bodyPr>
          <a:lstStyle/>
          <a:p>
            <a:pPr>
              <a:lnSpc>
                <a:spcPct val="130000"/>
              </a:lnSpc>
              <a:defRPr/>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Why co-optimizing?</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b.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As a result of the market operation process, </a:t>
            </a:r>
            <a:r>
              <a:rPr lang="en-US" altLang="zh-CN" sz="2200" b="1" dirty="0">
                <a:solidFill>
                  <a:srgbClr val="0F6FC6"/>
                </a:solidFill>
                <a:latin typeface="Times New Roman" panose="02020603050405020304" pitchFamily="18" charset="0"/>
                <a:ea typeface="微软雅黑" panose="020B0503020204020204" pitchFamily="34" charset="-122"/>
                <a:cs typeface="Times New Roman" panose="02020603050405020304" pitchFamily="18" charset="0"/>
              </a:rPr>
              <a:t>bidding and power allocation are alternating and process coupled</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The bids for a certain time interval determine the regulation power to be allocated in the interval, and the power allocation results determine the feasible bidding range for the next time intervals by affecting the SOCs of the EVs. </a:t>
            </a:r>
            <a:endParaRPr lang="zh-CN" altLang="en-US" sz="2200" b="1" dirty="0">
              <a:latin typeface="Times New Roman" panose="02020603050405020304" pitchFamily="18" charset="0"/>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Motivation</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2"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rotWithShape="1">
          <a:blip r:embed="rId3"/>
          <a:srcRect b="30549"/>
          <a:stretch/>
        </p:blipFill>
        <p:spPr>
          <a:xfrm>
            <a:off x="2704835" y="3758761"/>
            <a:ext cx="6945701" cy="2481761"/>
          </a:xfrm>
          <a:prstGeom prst="rect">
            <a:avLst/>
          </a:prstGeom>
        </p:spPr>
      </p:pic>
    </p:spTree>
    <p:extLst>
      <p:ext uri="{BB962C8B-B14F-4D97-AF65-F5344CB8AC3E}">
        <p14:creationId xmlns:p14="http://schemas.microsoft.com/office/powerpoint/2010/main" val="339179886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descr="ç¸å³å¾ç"/>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3959" y="4723500"/>
            <a:ext cx="1068864" cy="1334777"/>
          </a:xfrm>
          <a:prstGeom prst="rect">
            <a:avLst/>
          </a:prstGeom>
          <a:noFill/>
          <a:extLst>
            <a:ext uri="{909E8E84-426E-40DD-AFC4-6F175D3DCCD1}">
              <a14:hiddenFill xmlns:a14="http://schemas.microsoft.com/office/drawing/2010/main">
                <a:solidFill>
                  <a:srgbClr val="FFFFFF"/>
                </a:solidFill>
              </a14:hiddenFill>
            </a:ext>
          </a:extLst>
        </p:spPr>
      </p:pic>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6"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10</a:t>
            </a:fld>
            <a:endParaRPr lang="zh-CN" altLang="en-US" sz="1800">
              <a:latin typeface="Times New Roman" panose="02020603050405020304" pitchFamily="18" charset="0"/>
              <a:ea typeface="+mj-ea"/>
              <a:cs typeface="Times New Roman" panose="02020603050405020304" pitchFamily="18" charset="0"/>
            </a:endParaRPr>
          </a:p>
        </p:txBody>
      </p:sp>
      <p:sp>
        <p:nvSpPr>
          <p:cNvPr id="6" name="矩形 5">
            <a:extLst>
              <a:ext uri="{FF2B5EF4-FFF2-40B4-BE49-F238E27FC236}">
                <a16:creationId xmlns:a16="http://schemas.microsoft.com/office/drawing/2014/main" id="{1AC6CD64-6B87-4ACA-91FE-5A02C1F565AE}"/>
              </a:ext>
            </a:extLst>
          </p:cNvPr>
          <p:cNvSpPr/>
          <p:nvPr/>
        </p:nvSpPr>
        <p:spPr>
          <a:xfrm>
            <a:off x="550203" y="1385927"/>
            <a:ext cx="10902770" cy="1892826"/>
          </a:xfrm>
          <a:prstGeom prst="rect">
            <a:avLst/>
          </a:prstGeom>
          <a:noFill/>
          <a:ln w="38100">
            <a:noFill/>
            <a:miter lim="800000"/>
            <a:headEnd/>
            <a:tailEnd/>
          </a:ln>
          <a:effectLst/>
        </p:spPr>
        <p:txBody>
          <a:bodyPr wrap="square">
            <a:spAutoFit/>
          </a:bodyPr>
          <a:lstStyle/>
          <a:p>
            <a:pPr>
              <a:lnSpc>
                <a:spcPct val="130000"/>
              </a:lnSpc>
              <a:defRPr/>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Why challenging?</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Calculation time: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Following the regulation signals that are issued every few seconds means that the (dis)charging power of thousands of EVs needs to be determined online.</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Uncertainty: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Regulation (AGC) signals are not known in advance.</a:t>
            </a:r>
            <a:endParaRPr lang="zh-CN" altLang="en-US" sz="2200" dirty="0">
              <a:latin typeface="Times New Roman" panose="02020603050405020304" pitchFamily="18" charset="0"/>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Motivation</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2"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2" name="图片 11"/>
          <p:cNvPicPr/>
          <p:nvPr/>
        </p:nvPicPr>
        <p:blipFill>
          <a:blip r:embed="rId4"/>
          <a:stretch>
            <a:fillRect/>
          </a:stretch>
        </p:blipFill>
        <p:spPr>
          <a:xfrm>
            <a:off x="550202" y="3598991"/>
            <a:ext cx="5274310" cy="1689100"/>
          </a:xfrm>
          <a:prstGeom prst="rect">
            <a:avLst/>
          </a:prstGeom>
        </p:spPr>
      </p:pic>
      <p:sp>
        <p:nvSpPr>
          <p:cNvPr id="2" name="矩形 1"/>
          <p:cNvSpPr/>
          <p:nvPr/>
        </p:nvSpPr>
        <p:spPr>
          <a:xfrm>
            <a:off x="1450343" y="5447332"/>
            <a:ext cx="3474028" cy="369332"/>
          </a:xfrm>
          <a:prstGeom prst="rect">
            <a:avLst/>
          </a:prstGeom>
        </p:spPr>
        <p:txBody>
          <a:bodyPr wrap="none">
            <a:spAutoFit/>
          </a:bodyPr>
          <a:lstStyle/>
          <a:p>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RegD</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signal form PJM, 18.07.2022</a:t>
            </a:r>
            <a:endParaRPr lang="zh-CN" altLang="en-US" dirty="0"/>
          </a:p>
        </p:txBody>
      </p:sp>
      <p:sp>
        <p:nvSpPr>
          <p:cNvPr id="19" name="矩形 18"/>
          <p:cNvSpPr/>
          <p:nvPr/>
        </p:nvSpPr>
        <p:spPr>
          <a:xfrm>
            <a:off x="6199632" y="3620946"/>
            <a:ext cx="5605538" cy="89173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矩形 19"/>
          <p:cNvSpPr/>
          <p:nvPr/>
        </p:nvSpPr>
        <p:spPr>
          <a:xfrm>
            <a:off x="6241610" y="3681682"/>
            <a:ext cx="5609906" cy="830997"/>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How to online solve stochastic optimization with a large number of scenarios?</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2681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6"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11</a:t>
            </a:fld>
            <a:endParaRPr lang="zh-CN" altLang="en-US" sz="1800">
              <a:latin typeface="Times New Roman" panose="02020603050405020304" pitchFamily="18" charset="0"/>
              <a:ea typeface="+mj-ea"/>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Literature Review</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2"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6137978" y="3808698"/>
            <a:ext cx="5605538" cy="237674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矩形 19"/>
          <p:cNvSpPr/>
          <p:nvPr/>
        </p:nvSpPr>
        <p:spPr>
          <a:xfrm>
            <a:off x="6115274" y="3877116"/>
            <a:ext cx="5609906" cy="2308324"/>
          </a:xfrm>
          <a:prstGeom prst="rect">
            <a:avLst/>
          </a:prstGeom>
        </p:spPr>
        <p:txBody>
          <a:bodyPr wrap="square">
            <a:spAutoFit/>
          </a:bodyPr>
          <a:lstStyle/>
          <a:p>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There is no research that reasonably models the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coupling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and provides a practical framework that meets the </a:t>
            </a:r>
            <a:r>
              <a:rPr lang="en-US" altLang="zh-CN"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time</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constraints required for regulation deployment.</a:t>
            </a:r>
          </a:p>
          <a:p>
            <a:r>
              <a:rPr lang="en-US" altLang="zh-CN" sz="2400" dirty="0">
                <a:latin typeface="Times New Roman" panose="02020603050405020304" pitchFamily="18" charset="0"/>
                <a:cs typeface="Times New Roman" panose="02020603050405020304" pitchFamily="18" charset="0"/>
              </a:rPr>
              <a:t>This problem exists in aggregating EVs, energy storages, HVAC and other resources.</a:t>
            </a:r>
            <a:endParaRPr lang="zh-CN" altLang="en-US" sz="240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202484" y="1391142"/>
            <a:ext cx="9787031" cy="2250204"/>
          </a:xfrm>
          <a:prstGeom prst="rect">
            <a:avLst/>
          </a:prstGeom>
        </p:spPr>
      </p:pic>
      <p:pic>
        <p:nvPicPr>
          <p:cNvPr id="11" name="图片 10"/>
          <p:cNvPicPr>
            <a:picLocks noChangeAspect="1"/>
          </p:cNvPicPr>
          <p:nvPr/>
        </p:nvPicPr>
        <p:blipFill>
          <a:blip r:embed="rId4"/>
          <a:stretch>
            <a:fillRect/>
          </a:stretch>
        </p:blipFill>
        <p:spPr>
          <a:xfrm>
            <a:off x="1010788" y="4988740"/>
            <a:ext cx="2151446" cy="1280359"/>
          </a:xfrm>
          <a:prstGeom prst="rect">
            <a:avLst/>
          </a:prstGeom>
        </p:spPr>
      </p:pic>
      <p:pic>
        <p:nvPicPr>
          <p:cNvPr id="2" name="图片 1"/>
          <p:cNvPicPr>
            <a:picLocks noChangeAspect="1"/>
          </p:cNvPicPr>
          <p:nvPr/>
        </p:nvPicPr>
        <p:blipFill>
          <a:blip r:embed="rId5"/>
          <a:stretch>
            <a:fillRect/>
          </a:stretch>
        </p:blipFill>
        <p:spPr>
          <a:xfrm>
            <a:off x="1202484" y="4092273"/>
            <a:ext cx="1885714" cy="714286"/>
          </a:xfrm>
          <a:prstGeom prst="rect">
            <a:avLst/>
          </a:prstGeom>
        </p:spPr>
      </p:pic>
      <p:sp>
        <p:nvSpPr>
          <p:cNvPr id="12" name="矩形 11"/>
          <p:cNvSpPr/>
          <p:nvPr/>
        </p:nvSpPr>
        <p:spPr>
          <a:xfrm>
            <a:off x="3088198" y="4196341"/>
            <a:ext cx="2782250" cy="400110"/>
          </a:xfrm>
          <a:prstGeom prst="rect">
            <a:avLst/>
          </a:prstGeom>
        </p:spPr>
        <p:txBody>
          <a:bodyPr wrap="square">
            <a:spAutoFit/>
          </a:bodyPr>
          <a:lstStyle/>
          <a:p>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Proportionally allocation</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13" name="矩形 12"/>
          <p:cNvSpPr/>
          <p:nvPr/>
        </p:nvSpPr>
        <p:spPr>
          <a:xfrm>
            <a:off x="3162233" y="5418379"/>
            <a:ext cx="2782250" cy="400110"/>
          </a:xfrm>
          <a:prstGeom prst="rect">
            <a:avLst/>
          </a:prstGeom>
        </p:spPr>
        <p:txBody>
          <a:bodyPr wrap="square">
            <a:spAutoFit/>
          </a:bodyPr>
          <a:lstStyle/>
          <a:p>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Heuristic weights</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952325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77826" y="642137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12</a:t>
            </a:fld>
            <a:endParaRPr lang="zh-CN" altLang="en-US" sz="1800">
              <a:latin typeface="Times New Roman" panose="02020603050405020304" pitchFamily="18" charset="0"/>
              <a:ea typeface="+mj-ea"/>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Contribution</a:t>
              </a: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a:extLst>
              <a:ext uri="{FF2B5EF4-FFF2-40B4-BE49-F238E27FC236}">
                <a16:creationId xmlns:a16="http://schemas.microsoft.com/office/drawing/2014/main" id="{E9212326-F7CE-49AD-AA95-A65C34D4F8CF}"/>
              </a:ext>
            </a:extLst>
          </p:cNvPr>
          <p:cNvCxnSpPr>
            <a:cxnSpLocks/>
          </p:cNvCxnSpPr>
          <p:nvPr/>
        </p:nvCxnSpPr>
        <p:spPr>
          <a:xfrm>
            <a:off x="550202" y="6345238"/>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60917" y="1527731"/>
            <a:ext cx="11307459" cy="4009559"/>
          </a:xfrm>
          <a:prstGeom prst="rect">
            <a:avLst/>
          </a:prstGeom>
          <a:solidFill>
            <a:srgbClr val="EAF6FC"/>
          </a:solidFill>
        </p:spPr>
        <p:txBody>
          <a:bodyPr wrap="square">
            <a:spAutoFit/>
          </a:bodyPr>
          <a:lstStyle/>
          <a:p>
            <a:pPr marL="457200" indent="-457200">
              <a:lnSpc>
                <a:spcPct val="130000"/>
              </a:lnSpc>
              <a:buFont typeface="+mj-lt"/>
              <a:buAutoNum type="arabicPeriod"/>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We propose a framework to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co-optimize the bidding and power allocation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of an EVA in the regulation market. The bidding model is formulated as stochastic optimization with embedded power allocation in discretized regulation signal scenarios.</a:t>
            </a:r>
          </a:p>
          <a:p>
            <a:pPr marL="457200" indent="-457200">
              <a:lnSpc>
                <a:spcPct val="130000"/>
              </a:lnSpc>
              <a:buFont typeface="+mj-lt"/>
              <a:buAutoNum type="arabicPeriod"/>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To meet the computation time requirement for regulation deployment, we propose a power allocation model using the Lagrange multipliers from the bidding model, which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can be calculated online</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This determines the allocated power that corresponds to the optimal solution of the bidding model.</a:t>
            </a:r>
          </a:p>
          <a:p>
            <a:pPr marL="457200" indent="-457200">
              <a:lnSpc>
                <a:spcPct val="130000"/>
              </a:lnSpc>
              <a:buFont typeface="+mj-lt"/>
              <a:buAutoNum type="arabicPeriod"/>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case study verifies the effect of considering the coupling between bidding and power allocation on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improving the EVA profit and reducing EV battery degradation costs</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372135225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dirty="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33" name="文本框 32"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980AD58A-4B9C-486E-B9D7-2E3D0B2DACFC}"/>
              </a:ext>
            </a:extLst>
          </p:cNvPr>
          <p:cNvSpPr txBox="1"/>
          <p:nvPr/>
        </p:nvSpPr>
        <p:spPr>
          <a:xfrm>
            <a:off x="2841829" y="757775"/>
            <a:ext cx="2909604" cy="707886"/>
          </a:xfrm>
          <a:prstGeom prst="rect">
            <a:avLst/>
          </a:prstGeom>
          <a:noFill/>
        </p:spPr>
        <p:txBody>
          <a:bodyPr wrap="square" rtlCol="0">
            <a:spAutoFit/>
          </a:bodyPr>
          <a:lstStyle/>
          <a:p>
            <a:pPr algn="ctr"/>
            <a:r>
              <a:rPr lang="en-US" altLang="zh-CN" sz="4000" b="1" spc="600" dirty="0">
                <a:solidFill>
                  <a:schemeClr val="accent1"/>
                </a:solidFill>
                <a:cs typeface="+mn-ea"/>
                <a:sym typeface="+mn-lt"/>
              </a:rPr>
              <a:t>Contents</a:t>
            </a:r>
          </a:p>
        </p:txBody>
      </p:sp>
      <p:cxnSp>
        <p:nvCxnSpPr>
          <p:cNvPr id="35" name="直接连接符 34"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62E68CC6-D652-442B-8CFE-E1738739FCAB}"/>
              </a:ext>
            </a:extLst>
          </p:cNvPr>
          <p:cNvCxnSpPr>
            <a:cxnSpLocks/>
          </p:cNvCxnSpPr>
          <p:nvPr/>
        </p:nvCxnSpPr>
        <p:spPr>
          <a:xfrm>
            <a:off x="3775329" y="1475258"/>
            <a:ext cx="105944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09E96879-4550-4FE1-B0ED-CF7A3743437F}"/>
              </a:ext>
            </a:extLst>
          </p:cNvPr>
          <p:cNvSpPr>
            <a:spLocks noGrp="1"/>
          </p:cNvSpPr>
          <p:nvPr>
            <p:ph type="sldNum" sz="quarter" idx="4294967295"/>
          </p:nvPr>
        </p:nvSpPr>
        <p:spPr>
          <a:xfrm>
            <a:off x="11620130" y="6026719"/>
            <a:ext cx="464762" cy="365125"/>
          </a:xfrm>
          <a:prstGeom prst="rect">
            <a:avLst/>
          </a:prstGeom>
        </p:spPr>
        <p:txBody>
          <a:bodyPr/>
          <a:lstStyle/>
          <a:p>
            <a:fld id="{04FD9700-F5CC-49AF-BD2D-23D2173C44DC}" type="slidenum">
              <a:rPr lang="en-US" smtClean="0"/>
              <a:t>13</a:t>
            </a:fld>
            <a:endParaRPr lang="en-US" dirty="0"/>
          </a:p>
        </p:txBody>
      </p:sp>
      <p:grpSp>
        <p:nvGrpSpPr>
          <p:cNvPr id="55" name="组合 54">
            <a:extLst>
              <a:ext uri="{FF2B5EF4-FFF2-40B4-BE49-F238E27FC236}">
                <a16:creationId xmlns:a16="http://schemas.microsoft.com/office/drawing/2014/main" id="{16AC2CDE-3D20-4748-BB56-2876C6E466A0}"/>
              </a:ext>
            </a:extLst>
          </p:cNvPr>
          <p:cNvGrpSpPr/>
          <p:nvPr/>
        </p:nvGrpSpPr>
        <p:grpSpPr>
          <a:xfrm>
            <a:off x="2189086" y="4247929"/>
            <a:ext cx="8966594" cy="646331"/>
            <a:chOff x="6841647" y="4201573"/>
            <a:chExt cx="8966594" cy="646331"/>
          </a:xfrm>
        </p:grpSpPr>
        <p:sp>
          <p:nvSpPr>
            <p:cNvPr id="56" name="文本框 55"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8088852" cy="492443"/>
            </a:xfrm>
            <a:prstGeom prst="rect">
              <a:avLst/>
            </a:prstGeom>
            <a:noFill/>
          </p:spPr>
          <p:txBody>
            <a:bodyPr wrap="square" rtlCol="0">
              <a:spAutoFit/>
            </a:bodyPr>
            <a:lstStyle/>
            <a:p>
              <a:pPr lvl="0">
                <a:defRPr/>
              </a:pPr>
              <a:r>
                <a:rPr lang="en-US" altLang="zh-CN" sz="2600" b="1" dirty="0">
                  <a:cs typeface="+mn-ea"/>
                  <a:sym typeface="+mn-lt"/>
                </a:rPr>
                <a:t>Power Allocation Model Based on Lagrange Multipliers</a:t>
              </a:r>
              <a:endParaRPr lang="zh-CN" altLang="en-US" sz="2600" b="1" dirty="0">
                <a:cs typeface="+mn-ea"/>
                <a:sym typeface="+mn-lt"/>
              </a:endParaRPr>
            </a:p>
          </p:txBody>
        </p:sp>
        <p:cxnSp>
          <p:nvCxnSpPr>
            <p:cNvPr id="57" name="直接连接符 56"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文本框 57"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04</a:t>
              </a:r>
              <a:endParaRPr lang="zh-CN" altLang="en-US" sz="3600" b="1" dirty="0">
                <a:solidFill>
                  <a:schemeClr val="tx1">
                    <a:lumMod val="75000"/>
                    <a:lumOff val="25000"/>
                  </a:schemeClr>
                </a:solidFill>
                <a:cs typeface="+mn-ea"/>
                <a:sym typeface="+mn-lt"/>
              </a:endParaRPr>
            </a:p>
          </p:txBody>
        </p:sp>
      </p:grpSp>
      <p:grpSp>
        <p:nvGrpSpPr>
          <p:cNvPr id="87" name="组合 86">
            <a:extLst>
              <a:ext uri="{FF2B5EF4-FFF2-40B4-BE49-F238E27FC236}">
                <a16:creationId xmlns:a16="http://schemas.microsoft.com/office/drawing/2014/main" id="{5FC629E2-1EA5-48E8-B1FA-48F0D9290E6C}"/>
              </a:ext>
            </a:extLst>
          </p:cNvPr>
          <p:cNvGrpSpPr/>
          <p:nvPr/>
        </p:nvGrpSpPr>
        <p:grpSpPr>
          <a:xfrm>
            <a:off x="2189086" y="1888374"/>
            <a:ext cx="5384463" cy="646331"/>
            <a:chOff x="6841647" y="4201573"/>
            <a:chExt cx="5384463" cy="646331"/>
          </a:xfrm>
        </p:grpSpPr>
        <p:sp>
          <p:nvSpPr>
            <p:cNvPr id="88" name="文本框 8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55E5D7A-6AFD-4651-838A-5D4E4ADD8510}"/>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Background and Motivation</a:t>
              </a:r>
              <a:endParaRPr kumimoji="0" lang="zh-CN" altLang="en-US" sz="2600" b="1" i="0" u="none" strike="noStrike" kern="1200" cap="none" spc="0" normalizeH="0" baseline="0" noProof="0" dirty="0">
                <a:ln>
                  <a:noFill/>
                </a:ln>
                <a:effectLst/>
                <a:uLnTx/>
                <a:uFillTx/>
                <a:cs typeface="+mn-ea"/>
                <a:sym typeface="+mn-lt"/>
              </a:endParaRPr>
            </a:p>
          </p:txBody>
        </p:sp>
        <p:cxnSp>
          <p:nvCxnSpPr>
            <p:cNvPr id="89" name="直接连接符 8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AFE57C9-542A-4A57-94C9-67EDC8E9FE8F}"/>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1" name="文本框 90"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2BBF2294-CDAA-4F37-A18C-12ED54F33174}"/>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01</a:t>
              </a:r>
              <a:endParaRPr lang="zh-CN" altLang="en-US" sz="3600" b="1" dirty="0">
                <a:solidFill>
                  <a:schemeClr val="tx1">
                    <a:lumMod val="75000"/>
                    <a:lumOff val="25000"/>
                  </a:schemeClr>
                </a:solidFill>
                <a:cs typeface="+mn-ea"/>
                <a:sym typeface="+mn-lt"/>
              </a:endParaRPr>
            </a:p>
          </p:txBody>
        </p:sp>
      </p:grpSp>
      <p:grpSp>
        <p:nvGrpSpPr>
          <p:cNvPr id="92" name="组合 91">
            <a:extLst>
              <a:ext uri="{FF2B5EF4-FFF2-40B4-BE49-F238E27FC236}">
                <a16:creationId xmlns:a16="http://schemas.microsoft.com/office/drawing/2014/main" id="{09F7BB3A-1127-4FB9-9BC8-B98C987A73B9}"/>
              </a:ext>
            </a:extLst>
          </p:cNvPr>
          <p:cNvGrpSpPr/>
          <p:nvPr/>
        </p:nvGrpSpPr>
        <p:grpSpPr>
          <a:xfrm>
            <a:off x="2189086" y="2650904"/>
            <a:ext cx="7787018" cy="646331"/>
            <a:chOff x="6841647" y="4201573"/>
            <a:chExt cx="7787018" cy="646331"/>
          </a:xfrm>
        </p:grpSpPr>
        <p:sp>
          <p:nvSpPr>
            <p:cNvPr id="93" name="文本框 92"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CC1D400-8E93-4E37-9342-1A4AC729E3E6}"/>
                </a:ext>
              </a:extLst>
            </p:cNvPr>
            <p:cNvSpPr txBox="1"/>
            <p:nvPr/>
          </p:nvSpPr>
          <p:spPr>
            <a:xfrm>
              <a:off x="7719389" y="4273538"/>
              <a:ext cx="6909276" cy="492443"/>
            </a:xfrm>
            <a:prstGeom prst="rect">
              <a:avLst/>
            </a:prstGeom>
            <a:noFill/>
          </p:spPr>
          <p:txBody>
            <a:bodyPr wrap="square" rtlCol="0">
              <a:spAutoFit/>
            </a:bodyPr>
            <a:lstStyle/>
            <a:p>
              <a:pPr lvl="0">
                <a:defRPr/>
              </a:pPr>
              <a:r>
                <a:rPr lang="en-US" altLang="zh-CN" sz="2600" b="1" dirty="0">
                  <a:solidFill>
                    <a:schemeClr val="accent1"/>
                  </a:solidFill>
                  <a:cs typeface="+mn-ea"/>
                  <a:sym typeface="+mn-lt"/>
                </a:rPr>
                <a:t>The proposed framework</a:t>
              </a:r>
              <a:endParaRPr lang="zh-CN" altLang="en-US" sz="2600" b="1" dirty="0">
                <a:solidFill>
                  <a:schemeClr val="accent1"/>
                </a:solidFill>
                <a:cs typeface="+mn-ea"/>
                <a:sym typeface="+mn-lt"/>
              </a:endParaRPr>
            </a:p>
          </p:txBody>
        </p:sp>
        <p:cxnSp>
          <p:nvCxnSpPr>
            <p:cNvPr id="94" name="直接连接符 93"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630301C9-A53E-4928-B693-96C6ABA96668}"/>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文本框 94"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4C683014-4432-408C-81BB-92B198E8B69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02</a:t>
              </a:r>
              <a:endParaRPr lang="zh-CN" altLang="en-US" sz="3600" b="1" dirty="0">
                <a:solidFill>
                  <a:schemeClr val="tx1">
                    <a:lumMod val="75000"/>
                    <a:lumOff val="25000"/>
                  </a:schemeClr>
                </a:solidFill>
                <a:cs typeface="+mn-ea"/>
                <a:sym typeface="+mn-lt"/>
              </a:endParaRPr>
            </a:p>
          </p:txBody>
        </p:sp>
      </p:grpSp>
      <p:grpSp>
        <p:nvGrpSpPr>
          <p:cNvPr id="96" name="组合 95">
            <a:extLst>
              <a:ext uri="{FF2B5EF4-FFF2-40B4-BE49-F238E27FC236}">
                <a16:creationId xmlns:a16="http://schemas.microsoft.com/office/drawing/2014/main" id="{787391FD-B799-471D-A685-942B88FC17BA}"/>
              </a:ext>
            </a:extLst>
          </p:cNvPr>
          <p:cNvGrpSpPr/>
          <p:nvPr/>
        </p:nvGrpSpPr>
        <p:grpSpPr>
          <a:xfrm>
            <a:off x="2189086" y="3413434"/>
            <a:ext cx="9058034" cy="646331"/>
            <a:chOff x="6841647" y="4201573"/>
            <a:chExt cx="9058034" cy="646331"/>
          </a:xfrm>
        </p:grpSpPr>
        <p:sp>
          <p:nvSpPr>
            <p:cNvPr id="97" name="文本框 96"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D9CE1E3B-02DE-4694-B8DA-F6656119E644}"/>
                </a:ext>
              </a:extLst>
            </p:cNvPr>
            <p:cNvSpPr txBox="1"/>
            <p:nvPr/>
          </p:nvSpPr>
          <p:spPr>
            <a:xfrm>
              <a:off x="7719389" y="4273538"/>
              <a:ext cx="8180292" cy="492443"/>
            </a:xfrm>
            <a:prstGeom prst="rect">
              <a:avLst/>
            </a:prstGeom>
            <a:noFill/>
          </p:spPr>
          <p:txBody>
            <a:bodyPr wrap="square" rtlCol="0">
              <a:spAutoFit/>
            </a:bodyPr>
            <a:lstStyle/>
            <a:p>
              <a:pPr>
                <a:defRPr/>
              </a:pPr>
              <a:r>
                <a:rPr lang="en-US" altLang="zh-CN" sz="2600" b="1">
                  <a:cs typeface="+mn-ea"/>
                  <a:sym typeface="+mn-lt"/>
                </a:rPr>
                <a:t>Optimal Bidding Model with Embedded Power Allocation</a:t>
              </a:r>
              <a:endParaRPr kumimoji="0" lang="zh-CN" altLang="en-US" sz="2600" b="1" i="0" u="none" strike="noStrike" kern="1200" cap="none" spc="0" normalizeH="0" baseline="0" noProof="0" dirty="0">
                <a:ln>
                  <a:noFill/>
                </a:ln>
                <a:effectLst/>
                <a:uLnTx/>
                <a:uFillTx/>
                <a:cs typeface="+mn-ea"/>
                <a:sym typeface="+mn-lt"/>
              </a:endParaRPr>
            </a:p>
          </p:txBody>
        </p:sp>
        <p:cxnSp>
          <p:nvCxnSpPr>
            <p:cNvPr id="98" name="直接连接符 97"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0C3B934-213C-4E96-AE20-EC3DC8E21123}"/>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文本框 98"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72EC4A5C-2889-476E-BF52-DFC013053E03}"/>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03</a:t>
              </a:r>
              <a:endParaRPr lang="zh-CN" altLang="en-US" sz="3600" b="1" dirty="0">
                <a:solidFill>
                  <a:schemeClr val="tx1">
                    <a:lumMod val="75000"/>
                    <a:lumOff val="25000"/>
                  </a:schemeClr>
                </a:solidFill>
                <a:cs typeface="+mn-ea"/>
                <a:sym typeface="+mn-lt"/>
              </a:endParaRPr>
            </a:p>
          </p:txBody>
        </p:sp>
      </p:grpSp>
      <p:grpSp>
        <p:nvGrpSpPr>
          <p:cNvPr id="37" name="组合 36">
            <a:extLst>
              <a:ext uri="{FF2B5EF4-FFF2-40B4-BE49-F238E27FC236}">
                <a16:creationId xmlns:a16="http://schemas.microsoft.com/office/drawing/2014/main" id="{16AC2CDE-3D20-4748-BB56-2876C6E466A0}"/>
              </a:ext>
            </a:extLst>
          </p:cNvPr>
          <p:cNvGrpSpPr/>
          <p:nvPr/>
        </p:nvGrpSpPr>
        <p:grpSpPr>
          <a:xfrm>
            <a:off x="2189086" y="5129078"/>
            <a:ext cx="5384463" cy="646331"/>
            <a:chOff x="6841647" y="4201573"/>
            <a:chExt cx="5384463" cy="646331"/>
          </a:xfrm>
        </p:grpSpPr>
        <p:sp>
          <p:nvSpPr>
            <p:cNvPr id="38" name="文本框 3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Case Study</a:t>
              </a:r>
              <a:endParaRPr kumimoji="0" lang="zh-CN" altLang="en-US" sz="2600" b="1" i="0" u="none" strike="noStrike" kern="1200" cap="none" spc="0" normalizeH="0" baseline="0" noProof="0" dirty="0">
                <a:ln>
                  <a:noFill/>
                </a:ln>
                <a:effectLst/>
                <a:uLnTx/>
                <a:uFillTx/>
                <a:cs typeface="+mn-ea"/>
                <a:sym typeface="+mn-lt"/>
              </a:endParaRPr>
            </a:p>
          </p:txBody>
        </p:sp>
        <p:cxnSp>
          <p:nvCxnSpPr>
            <p:cNvPr id="39" name="直接连接符 3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文本框 39"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05</a:t>
              </a:r>
              <a:endParaRPr lang="zh-CN" altLang="en-US" sz="3600" b="1" dirty="0">
                <a:solidFill>
                  <a:schemeClr val="tx1">
                    <a:lumMod val="75000"/>
                    <a:lumOff val="25000"/>
                  </a:schemeClr>
                </a:solidFill>
                <a:cs typeface="+mn-ea"/>
                <a:sym typeface="+mn-lt"/>
              </a:endParaRPr>
            </a:p>
          </p:txBody>
        </p:sp>
      </p:grpSp>
    </p:spTree>
    <p:custDataLst>
      <p:tags r:id="rId1"/>
    </p:custDataLst>
    <p:extLst>
      <p:ext uri="{BB962C8B-B14F-4D97-AF65-F5344CB8AC3E}">
        <p14:creationId xmlns:p14="http://schemas.microsoft.com/office/powerpoint/2010/main" val="1315317719"/>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27363" y="636232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mj-ea"/>
                <a:ea typeface="+mj-ea"/>
              </a:rPr>
              <a:pPr algn="r" eaLnBrk="1" hangingPunct="1">
                <a:spcBef>
                  <a:spcPct val="0"/>
                </a:spcBef>
                <a:buClrTx/>
                <a:buSzTx/>
                <a:buFontTx/>
                <a:buNone/>
              </a:pPr>
              <a:t>14</a:t>
            </a:fld>
            <a:endParaRPr lang="zh-CN" altLang="en-US" sz="1800">
              <a:latin typeface="+mj-ea"/>
              <a:ea typeface="+mj-ea"/>
            </a:endParaRPr>
          </a:p>
        </p:txBody>
      </p:sp>
      <p:sp>
        <p:nvSpPr>
          <p:cNvPr id="3" name="矩形 2"/>
          <p:cNvSpPr/>
          <p:nvPr/>
        </p:nvSpPr>
        <p:spPr>
          <a:xfrm>
            <a:off x="2166401" y="199974"/>
            <a:ext cx="7763985" cy="646331"/>
          </a:xfrm>
          <a:prstGeom prst="rect">
            <a:avLst/>
          </a:prstGeom>
        </p:spPr>
        <p:txBody>
          <a:bodyPr wrap="none">
            <a:spAutoFit/>
          </a:bodyPr>
          <a:lstStyle/>
          <a:p>
            <a:pPr algn="ctr"/>
            <a:r>
              <a:rPr lang="en-US" altLang="zh-CN" sz="3600" b="1" spc="600" dirty="0">
                <a:solidFill>
                  <a:schemeClr val="accent1"/>
                </a:solidFill>
                <a:latin typeface="+mj-ea"/>
                <a:ea typeface="+mj-ea"/>
                <a:cs typeface="+mj-cs"/>
              </a:rPr>
              <a:t>The proposed framework</a:t>
            </a:r>
          </a:p>
        </p:txBody>
      </p:sp>
      <p:sp>
        <p:nvSpPr>
          <p:cNvPr id="8" name="矩形 7"/>
          <p:cNvSpPr/>
          <p:nvPr/>
        </p:nvSpPr>
        <p:spPr>
          <a:xfrm>
            <a:off x="831273" y="5180437"/>
            <a:ext cx="5120364" cy="1446550"/>
          </a:xfrm>
          <a:prstGeom prst="rect">
            <a:avLst/>
          </a:prstGeom>
        </p:spPr>
        <p:txBody>
          <a:bodyPr wrap="square">
            <a:spAutoFit/>
          </a:bodyPr>
          <a:lstStyle/>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Real-time frequency regulation market.</a:t>
            </a:r>
          </a:p>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EVA Contracts with EV owners.</a:t>
            </a:r>
          </a:p>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Bidding module (B)</a:t>
            </a:r>
          </a:p>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Power allocation module (A2)</a:t>
            </a:r>
          </a:p>
        </p:txBody>
      </p:sp>
      <p:sp>
        <p:nvSpPr>
          <p:cNvPr id="9" name="矩形 8"/>
          <p:cNvSpPr/>
          <p:nvPr/>
        </p:nvSpPr>
        <p:spPr>
          <a:xfrm>
            <a:off x="637309" y="5101853"/>
            <a:ext cx="5314328" cy="162560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stretch>
            <a:fillRect/>
          </a:stretch>
        </p:blipFill>
        <p:spPr>
          <a:xfrm>
            <a:off x="539497" y="1287748"/>
            <a:ext cx="4948188" cy="3579816"/>
          </a:xfrm>
          <a:prstGeom prst="rect">
            <a:avLst/>
          </a:prstGeom>
        </p:spPr>
      </p:pic>
    </p:spTree>
    <p:extLst>
      <p:ext uri="{BB962C8B-B14F-4D97-AF65-F5344CB8AC3E}">
        <p14:creationId xmlns:p14="http://schemas.microsoft.com/office/powerpoint/2010/main" val="113584099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27363" y="636232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mj-ea"/>
                <a:ea typeface="+mj-ea"/>
              </a:rPr>
              <a:pPr algn="r" eaLnBrk="1" hangingPunct="1">
                <a:spcBef>
                  <a:spcPct val="0"/>
                </a:spcBef>
                <a:buClrTx/>
                <a:buSzTx/>
                <a:buFontTx/>
                <a:buNone/>
              </a:pPr>
              <a:t>15</a:t>
            </a:fld>
            <a:endParaRPr lang="zh-CN" altLang="en-US" sz="1800">
              <a:latin typeface="+mj-ea"/>
              <a:ea typeface="+mj-ea"/>
            </a:endParaRPr>
          </a:p>
        </p:txBody>
      </p:sp>
      <p:sp>
        <p:nvSpPr>
          <p:cNvPr id="3" name="矩形 2"/>
          <p:cNvSpPr/>
          <p:nvPr/>
        </p:nvSpPr>
        <p:spPr>
          <a:xfrm>
            <a:off x="2166401" y="199974"/>
            <a:ext cx="7763985" cy="646331"/>
          </a:xfrm>
          <a:prstGeom prst="rect">
            <a:avLst/>
          </a:prstGeom>
        </p:spPr>
        <p:txBody>
          <a:bodyPr wrap="none">
            <a:spAutoFit/>
          </a:bodyPr>
          <a:lstStyle/>
          <a:p>
            <a:pPr algn="ctr"/>
            <a:r>
              <a:rPr lang="en-US" altLang="zh-CN" sz="3600" b="1" spc="600" dirty="0">
                <a:solidFill>
                  <a:schemeClr val="accent1"/>
                </a:solidFill>
                <a:latin typeface="+mj-ea"/>
                <a:ea typeface="+mj-ea"/>
                <a:cs typeface="+mj-cs"/>
              </a:rPr>
              <a:t>The proposed framework</a:t>
            </a:r>
          </a:p>
        </p:txBody>
      </p:sp>
      <p:sp>
        <p:nvSpPr>
          <p:cNvPr id="8" name="矩形 7"/>
          <p:cNvSpPr/>
          <p:nvPr/>
        </p:nvSpPr>
        <p:spPr>
          <a:xfrm>
            <a:off x="831273" y="5180437"/>
            <a:ext cx="5120364" cy="1446550"/>
          </a:xfrm>
          <a:prstGeom prst="rect">
            <a:avLst/>
          </a:prstGeom>
        </p:spPr>
        <p:txBody>
          <a:bodyPr wrap="square">
            <a:spAutoFit/>
          </a:bodyPr>
          <a:lstStyle/>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Real-time frequency regulation market.</a:t>
            </a:r>
          </a:p>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EVA Contracts with EV owners.</a:t>
            </a:r>
          </a:p>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Bidding module (B)</a:t>
            </a:r>
          </a:p>
          <a:p>
            <a:pPr marL="457200" indent="-457200">
              <a:buAutoNum type="arabicPeriod"/>
            </a:pPr>
            <a:r>
              <a:rPr lang="en-US" altLang="zh-CN" sz="2200" kern="0" dirty="0">
                <a:latin typeface="Times New Roman" panose="02020603050405020304" pitchFamily="18" charset="0"/>
                <a:ea typeface="微软雅黑" pitchFamily="34" charset="-122"/>
                <a:cs typeface="Times New Roman" panose="02020603050405020304" pitchFamily="18" charset="0"/>
              </a:rPr>
              <a:t>Power allocation module (A2)</a:t>
            </a:r>
          </a:p>
        </p:txBody>
      </p:sp>
      <p:sp>
        <p:nvSpPr>
          <p:cNvPr id="9" name="矩形 8"/>
          <p:cNvSpPr/>
          <p:nvPr/>
        </p:nvSpPr>
        <p:spPr>
          <a:xfrm>
            <a:off x="637309" y="5101853"/>
            <a:ext cx="5314328" cy="162560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stretch>
            <a:fillRect/>
          </a:stretch>
        </p:blipFill>
        <p:spPr>
          <a:xfrm>
            <a:off x="539497" y="1287748"/>
            <a:ext cx="4948188" cy="3579816"/>
          </a:xfrm>
          <a:prstGeom prst="rect">
            <a:avLst/>
          </a:prstGeom>
        </p:spPr>
      </p:pic>
      <p:pic>
        <p:nvPicPr>
          <p:cNvPr id="7" name="图片 6"/>
          <p:cNvPicPr>
            <a:picLocks noChangeAspect="1"/>
          </p:cNvPicPr>
          <p:nvPr/>
        </p:nvPicPr>
        <p:blipFill>
          <a:blip r:embed="rId4"/>
          <a:stretch>
            <a:fillRect/>
          </a:stretch>
        </p:blipFill>
        <p:spPr>
          <a:xfrm>
            <a:off x="5580049" y="1580304"/>
            <a:ext cx="6389560" cy="3287260"/>
          </a:xfrm>
          <a:prstGeom prst="rect">
            <a:avLst/>
          </a:prstGeom>
        </p:spPr>
      </p:pic>
    </p:spTree>
    <p:extLst>
      <p:ext uri="{BB962C8B-B14F-4D97-AF65-F5344CB8AC3E}">
        <p14:creationId xmlns:p14="http://schemas.microsoft.com/office/powerpoint/2010/main" val="157805000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3"/>
          <a:srcRect b="13083"/>
          <a:stretch/>
        </p:blipFill>
        <p:spPr>
          <a:xfrm>
            <a:off x="8199767" y="4568251"/>
            <a:ext cx="3992233" cy="2289749"/>
          </a:xfrm>
          <a:prstGeom prst="rect">
            <a:avLst/>
          </a:prstGeom>
        </p:spPr>
      </p:pic>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27363" y="636232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mj-ea"/>
                <a:ea typeface="+mj-ea"/>
              </a:rPr>
              <a:pPr algn="r" eaLnBrk="1" hangingPunct="1">
                <a:spcBef>
                  <a:spcPct val="0"/>
                </a:spcBef>
                <a:buClrTx/>
                <a:buSzTx/>
                <a:buFontTx/>
                <a:buNone/>
              </a:pPr>
              <a:t>16</a:t>
            </a:fld>
            <a:endParaRPr lang="zh-CN" altLang="en-US" sz="1800">
              <a:latin typeface="+mj-ea"/>
              <a:ea typeface="+mj-ea"/>
            </a:endParaRPr>
          </a:p>
        </p:txBody>
      </p:sp>
      <p:sp>
        <p:nvSpPr>
          <p:cNvPr id="3" name="矩形 2"/>
          <p:cNvSpPr/>
          <p:nvPr/>
        </p:nvSpPr>
        <p:spPr>
          <a:xfrm>
            <a:off x="2166401" y="199974"/>
            <a:ext cx="7763985" cy="646331"/>
          </a:xfrm>
          <a:prstGeom prst="rect">
            <a:avLst/>
          </a:prstGeom>
        </p:spPr>
        <p:txBody>
          <a:bodyPr wrap="none">
            <a:spAutoFit/>
          </a:bodyPr>
          <a:lstStyle/>
          <a:p>
            <a:pPr algn="ctr"/>
            <a:r>
              <a:rPr lang="en-US" altLang="zh-CN" sz="3600" b="1" spc="600" dirty="0">
                <a:solidFill>
                  <a:schemeClr val="accent1"/>
                </a:solidFill>
                <a:latin typeface="+mj-ea"/>
                <a:ea typeface="+mj-ea"/>
                <a:cs typeface="+mj-cs"/>
              </a:rPr>
              <a:t>The proposed framework</a:t>
            </a:r>
          </a:p>
        </p:txBody>
      </p:sp>
      <p:sp>
        <p:nvSpPr>
          <p:cNvPr id="10" name="矩形 9">
            <a:extLst>
              <a:ext uri="{FF2B5EF4-FFF2-40B4-BE49-F238E27FC236}">
                <a16:creationId xmlns:a16="http://schemas.microsoft.com/office/drawing/2014/main" id="{1AC6CD64-6B87-4ACA-91FE-5A02C1F565AE}"/>
              </a:ext>
            </a:extLst>
          </p:cNvPr>
          <p:cNvSpPr/>
          <p:nvPr/>
        </p:nvSpPr>
        <p:spPr>
          <a:xfrm>
            <a:off x="597008" y="1070044"/>
            <a:ext cx="10902770" cy="3653308"/>
          </a:xfrm>
          <a:prstGeom prst="rect">
            <a:avLst/>
          </a:prstGeom>
          <a:noFill/>
          <a:ln w="38100">
            <a:noFill/>
            <a:miter lim="800000"/>
            <a:headEnd/>
            <a:tailEnd/>
          </a:ln>
          <a:effectLst/>
        </p:spPr>
        <p:txBody>
          <a:bodyPr wrap="square">
            <a:spAutoFit/>
          </a:bodyPr>
          <a:lstStyle/>
          <a:p>
            <a:pPr>
              <a:lnSpc>
                <a:spcPct val="130000"/>
              </a:lnSpc>
              <a:defRPr/>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Bidding module (B)</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Data preparation: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EVA collects the arriving and leaving time, current SOCs, charging needs, and battery parameters of the EVs and generates forecasts about prices and regulation signals according to historical market data. </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Optimal bidding: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based on these parameters, the bidding module outputs the latest optimal bids, and the Lagrange multipliers can be obtained without additional computational overhead. </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Power allocation submodule (A1) embedded in the bidding module (B):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power allocation in each regulation signal scenarios is </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simultaneously optimized</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4"/>
          <a:stretch>
            <a:fillRect/>
          </a:stretch>
        </p:blipFill>
        <p:spPr>
          <a:xfrm>
            <a:off x="438706" y="4625072"/>
            <a:ext cx="4418839" cy="3196853"/>
          </a:xfrm>
          <a:prstGeom prst="rect">
            <a:avLst/>
          </a:prstGeom>
        </p:spPr>
      </p:pic>
      <p:sp>
        <p:nvSpPr>
          <p:cNvPr id="12" name="矩形 11"/>
          <p:cNvSpPr/>
          <p:nvPr/>
        </p:nvSpPr>
        <p:spPr>
          <a:xfrm>
            <a:off x="2036400" y="4625072"/>
            <a:ext cx="1140968" cy="1149103"/>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CC5B662C-859C-4CA9-8A83-85F55F1B3432}"/>
              </a:ext>
            </a:extLst>
          </p:cNvPr>
          <p:cNvPicPr>
            <a:picLocks noChangeAspect="1"/>
          </p:cNvPicPr>
          <p:nvPr/>
        </p:nvPicPr>
        <p:blipFill>
          <a:blip r:embed="rId5"/>
          <a:stretch>
            <a:fillRect/>
          </a:stretch>
        </p:blipFill>
        <p:spPr>
          <a:xfrm>
            <a:off x="4857545" y="4723351"/>
            <a:ext cx="3369515" cy="1801273"/>
          </a:xfrm>
          <a:prstGeom prst="rect">
            <a:avLst/>
          </a:prstGeom>
        </p:spPr>
      </p:pic>
      <p:cxnSp>
        <p:nvCxnSpPr>
          <p:cNvPr id="5" name="直接箭头连接符 4">
            <a:extLst>
              <a:ext uri="{FF2B5EF4-FFF2-40B4-BE49-F238E27FC236}">
                <a16:creationId xmlns:a16="http://schemas.microsoft.com/office/drawing/2014/main" id="{545126AF-5B19-4869-9EBB-765B7AEBF2A9}"/>
              </a:ext>
            </a:extLst>
          </p:cNvPr>
          <p:cNvCxnSpPr/>
          <p:nvPr/>
        </p:nvCxnSpPr>
        <p:spPr>
          <a:xfrm>
            <a:off x="5377343" y="5301842"/>
            <a:ext cx="5545123" cy="98990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3800099F-88F8-46F7-A914-06ED0C58781C}"/>
              </a:ext>
            </a:extLst>
          </p:cNvPr>
          <p:cNvSpPr txBox="1"/>
          <p:nvPr/>
        </p:nvSpPr>
        <p:spPr>
          <a:xfrm>
            <a:off x="5466714" y="6521886"/>
            <a:ext cx="2446182" cy="369332"/>
          </a:xfrm>
          <a:prstGeom prst="rect">
            <a:avLst/>
          </a:prstGeom>
          <a:noFill/>
        </p:spPr>
        <p:txBody>
          <a:bodyPr wrap="none" rtlCol="0">
            <a:spAutoFit/>
          </a:bodyPr>
          <a:lstStyle/>
          <a:p>
            <a:r>
              <a:rPr lang="en-US" altLang="zh-CN" dirty="0"/>
              <a:t>actual regulation signals</a:t>
            </a:r>
            <a:endParaRPr lang="zh-CN" altLang="en-US" dirty="0"/>
          </a:p>
        </p:txBody>
      </p:sp>
    </p:spTree>
    <p:extLst>
      <p:ext uri="{BB962C8B-B14F-4D97-AF65-F5344CB8AC3E}">
        <p14:creationId xmlns:p14="http://schemas.microsoft.com/office/powerpoint/2010/main" val="313258762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227363" y="6362328"/>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mj-ea"/>
                <a:ea typeface="+mj-ea"/>
              </a:rPr>
              <a:pPr algn="r" eaLnBrk="1" hangingPunct="1">
                <a:spcBef>
                  <a:spcPct val="0"/>
                </a:spcBef>
                <a:buClrTx/>
                <a:buSzTx/>
                <a:buFontTx/>
                <a:buNone/>
              </a:pPr>
              <a:t>17</a:t>
            </a:fld>
            <a:endParaRPr lang="zh-CN" altLang="en-US" sz="1800">
              <a:latin typeface="+mj-ea"/>
              <a:ea typeface="+mj-ea"/>
            </a:endParaRPr>
          </a:p>
        </p:txBody>
      </p:sp>
      <p:sp>
        <p:nvSpPr>
          <p:cNvPr id="3" name="矩形 2"/>
          <p:cNvSpPr/>
          <p:nvPr/>
        </p:nvSpPr>
        <p:spPr>
          <a:xfrm>
            <a:off x="2166401" y="199974"/>
            <a:ext cx="7763985" cy="646331"/>
          </a:xfrm>
          <a:prstGeom prst="rect">
            <a:avLst/>
          </a:prstGeom>
        </p:spPr>
        <p:txBody>
          <a:bodyPr wrap="none">
            <a:spAutoFit/>
          </a:bodyPr>
          <a:lstStyle/>
          <a:p>
            <a:pPr algn="ctr"/>
            <a:r>
              <a:rPr lang="en-US" altLang="zh-CN" sz="3600" b="1" spc="600" dirty="0">
                <a:solidFill>
                  <a:schemeClr val="accent1"/>
                </a:solidFill>
                <a:latin typeface="+mj-ea"/>
                <a:ea typeface="+mj-ea"/>
                <a:cs typeface="+mj-cs"/>
              </a:rPr>
              <a:t>The proposed framework</a:t>
            </a:r>
          </a:p>
        </p:txBody>
      </p:sp>
      <p:sp>
        <p:nvSpPr>
          <p:cNvPr id="10" name="矩形 9">
            <a:extLst>
              <a:ext uri="{FF2B5EF4-FFF2-40B4-BE49-F238E27FC236}">
                <a16:creationId xmlns:a16="http://schemas.microsoft.com/office/drawing/2014/main" id="{1AC6CD64-6B87-4ACA-91FE-5A02C1F565AE}"/>
              </a:ext>
            </a:extLst>
          </p:cNvPr>
          <p:cNvSpPr/>
          <p:nvPr/>
        </p:nvSpPr>
        <p:spPr>
          <a:xfrm>
            <a:off x="796513" y="1094982"/>
            <a:ext cx="10034971" cy="3653308"/>
          </a:xfrm>
          <a:prstGeom prst="rect">
            <a:avLst/>
          </a:prstGeom>
          <a:noFill/>
          <a:ln w="38100">
            <a:noFill/>
            <a:miter lim="800000"/>
            <a:headEnd/>
            <a:tailEnd/>
          </a:ln>
          <a:effectLst/>
        </p:spPr>
        <p:txBody>
          <a:bodyPr wrap="square">
            <a:spAutoFit/>
          </a:bodyPr>
          <a:lstStyle/>
          <a:p>
            <a:pPr>
              <a:lnSpc>
                <a:spcPct val="130000"/>
              </a:lnSpc>
              <a:defRPr/>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Optimal power allocation module (A2)</a:t>
            </a:r>
          </a:p>
          <a:p>
            <a:pPr>
              <a:lnSpc>
                <a:spcPct val="130000"/>
              </a:lnSpc>
              <a:defRP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We design a power allocation module (A2) to quickly decide the (dis)charging power of the EVs in regulation deployment.</a:t>
            </a:r>
          </a:p>
          <a:p>
            <a:pPr>
              <a:lnSpc>
                <a:spcPct val="130000"/>
              </a:lnSpc>
              <a:defRPr/>
            </a:pP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rPr>
              <a:t>Why A2? </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defRP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power allocation results (A1) in the bidding model only correspond to the discretized regulation signal scenarios (e.g., [0, 0.1), ..., [0.9, 1),...), while the actual regulation signal may take any value in its nearly continuous range (e.g., 0.9998). Therefore, the bidding model cannot be directly used to respond to regulation signals.</a:t>
            </a:r>
            <a:endParaRPr lang="zh-CN" altLang="en-US" sz="2200" dirty="0">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3"/>
          <a:stretch>
            <a:fillRect/>
          </a:stretch>
        </p:blipFill>
        <p:spPr>
          <a:xfrm>
            <a:off x="192502" y="4748290"/>
            <a:ext cx="3610948" cy="2612376"/>
          </a:xfrm>
          <a:prstGeom prst="rect">
            <a:avLst/>
          </a:prstGeom>
        </p:spPr>
      </p:pic>
      <p:sp>
        <p:nvSpPr>
          <p:cNvPr id="12" name="矩形 11"/>
          <p:cNvSpPr/>
          <p:nvPr/>
        </p:nvSpPr>
        <p:spPr>
          <a:xfrm>
            <a:off x="1535273" y="6016942"/>
            <a:ext cx="874961" cy="833729"/>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C34241EF-84BA-4B69-90C4-D38F0EBB5142}"/>
              </a:ext>
            </a:extLst>
          </p:cNvPr>
          <p:cNvPicPr>
            <a:picLocks noChangeAspect="1"/>
          </p:cNvPicPr>
          <p:nvPr/>
        </p:nvPicPr>
        <p:blipFill rotWithShape="1">
          <a:blip r:embed="rId4"/>
          <a:srcRect b="13083"/>
          <a:stretch/>
        </p:blipFill>
        <p:spPr>
          <a:xfrm>
            <a:off x="7459181" y="4707281"/>
            <a:ext cx="3992233" cy="2289749"/>
          </a:xfrm>
          <a:prstGeom prst="rect">
            <a:avLst/>
          </a:prstGeom>
        </p:spPr>
      </p:pic>
      <p:pic>
        <p:nvPicPr>
          <p:cNvPr id="8" name="图片 7">
            <a:extLst>
              <a:ext uri="{FF2B5EF4-FFF2-40B4-BE49-F238E27FC236}">
                <a16:creationId xmlns:a16="http://schemas.microsoft.com/office/drawing/2014/main" id="{38F623B1-4245-46BF-BF9F-CE9DED02B9B4}"/>
              </a:ext>
            </a:extLst>
          </p:cNvPr>
          <p:cNvPicPr>
            <a:picLocks noChangeAspect="1"/>
          </p:cNvPicPr>
          <p:nvPr/>
        </p:nvPicPr>
        <p:blipFill>
          <a:blip r:embed="rId5"/>
          <a:stretch>
            <a:fillRect/>
          </a:stretch>
        </p:blipFill>
        <p:spPr>
          <a:xfrm>
            <a:off x="4116959" y="4862381"/>
            <a:ext cx="3369515" cy="1801273"/>
          </a:xfrm>
          <a:prstGeom prst="rect">
            <a:avLst/>
          </a:prstGeom>
        </p:spPr>
      </p:pic>
      <p:cxnSp>
        <p:nvCxnSpPr>
          <p:cNvPr id="9" name="直接箭头连接符 8">
            <a:extLst>
              <a:ext uri="{FF2B5EF4-FFF2-40B4-BE49-F238E27FC236}">
                <a16:creationId xmlns:a16="http://schemas.microsoft.com/office/drawing/2014/main" id="{5496F49C-F24F-4B74-AF14-9B93F36FEF87}"/>
              </a:ext>
            </a:extLst>
          </p:cNvPr>
          <p:cNvCxnSpPr/>
          <p:nvPr/>
        </p:nvCxnSpPr>
        <p:spPr>
          <a:xfrm>
            <a:off x="4636757" y="5440872"/>
            <a:ext cx="5545123" cy="98990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2825B3FF-11D1-47B7-837C-407042AC2C87}"/>
              </a:ext>
            </a:extLst>
          </p:cNvPr>
          <p:cNvSpPr txBox="1"/>
          <p:nvPr/>
        </p:nvSpPr>
        <p:spPr>
          <a:xfrm>
            <a:off x="4699490" y="6529235"/>
            <a:ext cx="2446182" cy="369332"/>
          </a:xfrm>
          <a:prstGeom prst="rect">
            <a:avLst/>
          </a:prstGeom>
          <a:noFill/>
        </p:spPr>
        <p:txBody>
          <a:bodyPr wrap="none" rtlCol="0">
            <a:spAutoFit/>
          </a:bodyPr>
          <a:lstStyle/>
          <a:p>
            <a:r>
              <a:rPr lang="en-US" altLang="zh-CN" dirty="0"/>
              <a:t>actual regulation signals</a:t>
            </a:r>
            <a:endParaRPr lang="zh-CN" altLang="en-US" dirty="0"/>
          </a:p>
        </p:txBody>
      </p:sp>
    </p:spTree>
    <p:extLst>
      <p:ext uri="{BB962C8B-B14F-4D97-AF65-F5344CB8AC3E}">
        <p14:creationId xmlns:p14="http://schemas.microsoft.com/office/powerpoint/2010/main" val="21678741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dirty="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33" name="文本框 32"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980AD58A-4B9C-486E-B9D7-2E3D0B2DACFC}"/>
              </a:ext>
            </a:extLst>
          </p:cNvPr>
          <p:cNvSpPr txBox="1"/>
          <p:nvPr/>
        </p:nvSpPr>
        <p:spPr>
          <a:xfrm>
            <a:off x="2841829" y="757775"/>
            <a:ext cx="2909604" cy="707886"/>
          </a:xfrm>
          <a:prstGeom prst="rect">
            <a:avLst/>
          </a:prstGeom>
          <a:noFill/>
        </p:spPr>
        <p:txBody>
          <a:bodyPr wrap="square" rtlCol="0">
            <a:spAutoFit/>
          </a:bodyPr>
          <a:lstStyle/>
          <a:p>
            <a:pPr algn="ctr"/>
            <a:r>
              <a:rPr lang="en-US" altLang="zh-CN" sz="4000" b="1" spc="600" dirty="0">
                <a:solidFill>
                  <a:schemeClr val="accent1"/>
                </a:solidFill>
                <a:cs typeface="+mn-ea"/>
                <a:sym typeface="+mn-lt"/>
              </a:rPr>
              <a:t>Contents</a:t>
            </a:r>
          </a:p>
        </p:txBody>
      </p:sp>
      <p:cxnSp>
        <p:nvCxnSpPr>
          <p:cNvPr id="35" name="直接连接符 34"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62E68CC6-D652-442B-8CFE-E1738739FCAB}"/>
              </a:ext>
            </a:extLst>
          </p:cNvPr>
          <p:cNvCxnSpPr>
            <a:cxnSpLocks/>
          </p:cNvCxnSpPr>
          <p:nvPr/>
        </p:nvCxnSpPr>
        <p:spPr>
          <a:xfrm>
            <a:off x="3775329" y="1475258"/>
            <a:ext cx="105944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09E96879-4550-4FE1-B0ED-CF7A3743437F}"/>
              </a:ext>
            </a:extLst>
          </p:cNvPr>
          <p:cNvSpPr>
            <a:spLocks noGrp="1"/>
          </p:cNvSpPr>
          <p:nvPr>
            <p:ph type="sldNum" sz="quarter" idx="4294967295"/>
          </p:nvPr>
        </p:nvSpPr>
        <p:spPr>
          <a:xfrm>
            <a:off x="11620130" y="6026719"/>
            <a:ext cx="464762" cy="365125"/>
          </a:xfrm>
          <a:prstGeom prst="rect">
            <a:avLst/>
          </a:prstGeom>
        </p:spPr>
        <p:txBody>
          <a:bodyPr/>
          <a:lstStyle/>
          <a:p>
            <a:fld id="{04FD9700-F5CC-49AF-BD2D-23D2173C44DC}" type="slidenum">
              <a:rPr lang="en-US" smtClean="0"/>
              <a:t>18</a:t>
            </a:fld>
            <a:endParaRPr lang="en-US" dirty="0"/>
          </a:p>
        </p:txBody>
      </p:sp>
      <p:grpSp>
        <p:nvGrpSpPr>
          <p:cNvPr id="55" name="组合 54">
            <a:extLst>
              <a:ext uri="{FF2B5EF4-FFF2-40B4-BE49-F238E27FC236}">
                <a16:creationId xmlns:a16="http://schemas.microsoft.com/office/drawing/2014/main" id="{16AC2CDE-3D20-4748-BB56-2876C6E466A0}"/>
              </a:ext>
            </a:extLst>
          </p:cNvPr>
          <p:cNvGrpSpPr/>
          <p:nvPr/>
        </p:nvGrpSpPr>
        <p:grpSpPr>
          <a:xfrm>
            <a:off x="2189086" y="4247929"/>
            <a:ext cx="8966594" cy="646331"/>
            <a:chOff x="6841647" y="4201573"/>
            <a:chExt cx="8966594" cy="646331"/>
          </a:xfrm>
        </p:grpSpPr>
        <p:sp>
          <p:nvSpPr>
            <p:cNvPr id="56" name="文本框 55"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8088852" cy="492443"/>
            </a:xfrm>
            <a:prstGeom prst="rect">
              <a:avLst/>
            </a:prstGeom>
            <a:noFill/>
          </p:spPr>
          <p:txBody>
            <a:bodyPr wrap="square" rtlCol="0">
              <a:spAutoFit/>
            </a:bodyPr>
            <a:lstStyle/>
            <a:p>
              <a:pPr lvl="0">
                <a:defRPr/>
              </a:pPr>
              <a:r>
                <a:rPr lang="en-US" altLang="zh-CN" sz="2600" b="1" dirty="0">
                  <a:cs typeface="+mn-ea"/>
                  <a:sym typeface="+mn-lt"/>
                </a:rPr>
                <a:t>Power Allocation Model Based on Lagrange Multipliers</a:t>
              </a:r>
              <a:endParaRPr lang="zh-CN" altLang="en-US" sz="2600" b="1" dirty="0">
                <a:cs typeface="+mn-ea"/>
                <a:sym typeface="+mn-lt"/>
              </a:endParaRPr>
            </a:p>
          </p:txBody>
        </p:sp>
        <p:cxnSp>
          <p:nvCxnSpPr>
            <p:cNvPr id="57" name="直接连接符 56"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文本框 57"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04</a:t>
              </a:r>
              <a:endParaRPr lang="zh-CN" altLang="en-US" sz="3600" b="1" dirty="0">
                <a:solidFill>
                  <a:schemeClr val="tx1">
                    <a:lumMod val="75000"/>
                    <a:lumOff val="25000"/>
                  </a:schemeClr>
                </a:solidFill>
                <a:cs typeface="+mn-ea"/>
                <a:sym typeface="+mn-lt"/>
              </a:endParaRPr>
            </a:p>
          </p:txBody>
        </p:sp>
      </p:grpSp>
      <p:grpSp>
        <p:nvGrpSpPr>
          <p:cNvPr id="87" name="组合 86">
            <a:extLst>
              <a:ext uri="{FF2B5EF4-FFF2-40B4-BE49-F238E27FC236}">
                <a16:creationId xmlns:a16="http://schemas.microsoft.com/office/drawing/2014/main" id="{5FC629E2-1EA5-48E8-B1FA-48F0D9290E6C}"/>
              </a:ext>
            </a:extLst>
          </p:cNvPr>
          <p:cNvGrpSpPr/>
          <p:nvPr/>
        </p:nvGrpSpPr>
        <p:grpSpPr>
          <a:xfrm>
            <a:off x="2189086" y="1888374"/>
            <a:ext cx="5384463" cy="646331"/>
            <a:chOff x="6841647" y="4201573"/>
            <a:chExt cx="5384463" cy="646331"/>
          </a:xfrm>
        </p:grpSpPr>
        <p:sp>
          <p:nvSpPr>
            <p:cNvPr id="88" name="文本框 8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55E5D7A-6AFD-4651-838A-5D4E4ADD8510}"/>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Background and Motivation</a:t>
              </a:r>
              <a:endParaRPr kumimoji="0" lang="zh-CN" altLang="en-US" sz="2600" b="1" i="0" u="none" strike="noStrike" kern="1200" cap="none" spc="0" normalizeH="0" baseline="0" noProof="0" dirty="0">
                <a:ln>
                  <a:noFill/>
                </a:ln>
                <a:effectLst/>
                <a:uLnTx/>
                <a:uFillTx/>
                <a:cs typeface="+mn-ea"/>
                <a:sym typeface="+mn-lt"/>
              </a:endParaRPr>
            </a:p>
          </p:txBody>
        </p:sp>
        <p:cxnSp>
          <p:nvCxnSpPr>
            <p:cNvPr id="89" name="直接连接符 8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AFE57C9-542A-4A57-94C9-67EDC8E9FE8F}"/>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1" name="文本框 90"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2BBF2294-CDAA-4F37-A18C-12ED54F33174}"/>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01</a:t>
              </a:r>
              <a:endParaRPr lang="zh-CN" altLang="en-US" sz="3600" b="1" dirty="0">
                <a:solidFill>
                  <a:schemeClr val="tx1">
                    <a:lumMod val="75000"/>
                    <a:lumOff val="25000"/>
                  </a:schemeClr>
                </a:solidFill>
                <a:cs typeface="+mn-ea"/>
                <a:sym typeface="+mn-lt"/>
              </a:endParaRPr>
            </a:p>
          </p:txBody>
        </p:sp>
      </p:grpSp>
      <p:grpSp>
        <p:nvGrpSpPr>
          <p:cNvPr id="92" name="组合 91">
            <a:extLst>
              <a:ext uri="{FF2B5EF4-FFF2-40B4-BE49-F238E27FC236}">
                <a16:creationId xmlns:a16="http://schemas.microsoft.com/office/drawing/2014/main" id="{09F7BB3A-1127-4FB9-9BC8-B98C987A73B9}"/>
              </a:ext>
            </a:extLst>
          </p:cNvPr>
          <p:cNvGrpSpPr/>
          <p:nvPr/>
        </p:nvGrpSpPr>
        <p:grpSpPr>
          <a:xfrm>
            <a:off x="2189086" y="2650904"/>
            <a:ext cx="7787018" cy="646331"/>
            <a:chOff x="6841647" y="4201573"/>
            <a:chExt cx="7787018" cy="646331"/>
          </a:xfrm>
        </p:grpSpPr>
        <p:sp>
          <p:nvSpPr>
            <p:cNvPr id="93" name="文本框 92"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CC1D400-8E93-4E37-9342-1A4AC729E3E6}"/>
                </a:ext>
              </a:extLst>
            </p:cNvPr>
            <p:cNvSpPr txBox="1"/>
            <p:nvPr/>
          </p:nvSpPr>
          <p:spPr>
            <a:xfrm>
              <a:off x="7719389" y="4273538"/>
              <a:ext cx="6909276" cy="492443"/>
            </a:xfrm>
            <a:prstGeom prst="rect">
              <a:avLst/>
            </a:prstGeom>
            <a:noFill/>
          </p:spPr>
          <p:txBody>
            <a:bodyPr wrap="square" rtlCol="0">
              <a:spAutoFit/>
            </a:bodyPr>
            <a:lstStyle/>
            <a:p>
              <a:pPr lvl="0">
                <a:defRPr/>
              </a:pPr>
              <a:r>
                <a:rPr lang="en-US" altLang="zh-CN" sz="2600" b="1" dirty="0">
                  <a:cs typeface="+mn-ea"/>
                  <a:sym typeface="+mn-lt"/>
                </a:rPr>
                <a:t>The proposed framework</a:t>
              </a:r>
              <a:endParaRPr lang="zh-CN" altLang="en-US" sz="2600" b="1" dirty="0">
                <a:cs typeface="+mn-ea"/>
                <a:sym typeface="+mn-lt"/>
              </a:endParaRPr>
            </a:p>
          </p:txBody>
        </p:sp>
        <p:cxnSp>
          <p:nvCxnSpPr>
            <p:cNvPr id="94" name="直接连接符 93"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630301C9-A53E-4928-B693-96C6ABA96668}"/>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文本框 94"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4C683014-4432-408C-81BB-92B198E8B69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02</a:t>
              </a:r>
              <a:endParaRPr lang="zh-CN" altLang="en-US" sz="3600" b="1" dirty="0">
                <a:solidFill>
                  <a:schemeClr val="tx1">
                    <a:lumMod val="75000"/>
                    <a:lumOff val="25000"/>
                  </a:schemeClr>
                </a:solidFill>
                <a:cs typeface="+mn-ea"/>
                <a:sym typeface="+mn-lt"/>
              </a:endParaRPr>
            </a:p>
          </p:txBody>
        </p:sp>
      </p:grpSp>
      <p:grpSp>
        <p:nvGrpSpPr>
          <p:cNvPr id="96" name="组合 95">
            <a:extLst>
              <a:ext uri="{FF2B5EF4-FFF2-40B4-BE49-F238E27FC236}">
                <a16:creationId xmlns:a16="http://schemas.microsoft.com/office/drawing/2014/main" id="{787391FD-B799-471D-A685-942B88FC17BA}"/>
              </a:ext>
            </a:extLst>
          </p:cNvPr>
          <p:cNvGrpSpPr/>
          <p:nvPr/>
        </p:nvGrpSpPr>
        <p:grpSpPr>
          <a:xfrm>
            <a:off x="2189086" y="3413434"/>
            <a:ext cx="9058034" cy="646331"/>
            <a:chOff x="6841647" y="4201573"/>
            <a:chExt cx="9058034" cy="646331"/>
          </a:xfrm>
        </p:grpSpPr>
        <p:sp>
          <p:nvSpPr>
            <p:cNvPr id="97" name="文本框 96"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D9CE1E3B-02DE-4694-B8DA-F6656119E644}"/>
                </a:ext>
              </a:extLst>
            </p:cNvPr>
            <p:cNvSpPr txBox="1"/>
            <p:nvPr/>
          </p:nvSpPr>
          <p:spPr>
            <a:xfrm>
              <a:off x="7719389" y="4273538"/>
              <a:ext cx="8180292" cy="492443"/>
            </a:xfrm>
            <a:prstGeom prst="rect">
              <a:avLst/>
            </a:prstGeom>
            <a:noFill/>
          </p:spPr>
          <p:txBody>
            <a:bodyPr wrap="square" rtlCol="0">
              <a:spAutoFit/>
            </a:bodyPr>
            <a:lstStyle/>
            <a:p>
              <a:pPr>
                <a:defRPr/>
              </a:pPr>
              <a:r>
                <a:rPr lang="en-US" altLang="zh-CN" sz="2600" b="1" dirty="0">
                  <a:solidFill>
                    <a:schemeClr val="accent1"/>
                  </a:solidFill>
                  <a:cs typeface="+mn-ea"/>
                  <a:sym typeface="+mn-lt"/>
                </a:rPr>
                <a:t>Optimal Bidding Model with Embedded Power Allocation</a:t>
              </a:r>
              <a:endParaRPr lang="zh-CN" altLang="en-US" sz="2600" b="1" dirty="0">
                <a:solidFill>
                  <a:schemeClr val="accent1"/>
                </a:solidFill>
                <a:cs typeface="+mn-ea"/>
                <a:sym typeface="+mn-lt"/>
              </a:endParaRPr>
            </a:p>
          </p:txBody>
        </p:sp>
        <p:cxnSp>
          <p:nvCxnSpPr>
            <p:cNvPr id="98" name="直接连接符 97"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0C3B934-213C-4E96-AE20-EC3DC8E21123}"/>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文本框 98"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72EC4A5C-2889-476E-BF52-DFC013053E03}"/>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03</a:t>
              </a:r>
              <a:endParaRPr lang="zh-CN" altLang="en-US" sz="3600" b="1" dirty="0">
                <a:solidFill>
                  <a:schemeClr val="tx1">
                    <a:lumMod val="75000"/>
                    <a:lumOff val="25000"/>
                  </a:schemeClr>
                </a:solidFill>
                <a:cs typeface="+mn-ea"/>
                <a:sym typeface="+mn-lt"/>
              </a:endParaRPr>
            </a:p>
          </p:txBody>
        </p:sp>
      </p:grpSp>
      <p:grpSp>
        <p:nvGrpSpPr>
          <p:cNvPr id="37" name="组合 36">
            <a:extLst>
              <a:ext uri="{FF2B5EF4-FFF2-40B4-BE49-F238E27FC236}">
                <a16:creationId xmlns:a16="http://schemas.microsoft.com/office/drawing/2014/main" id="{16AC2CDE-3D20-4748-BB56-2876C6E466A0}"/>
              </a:ext>
            </a:extLst>
          </p:cNvPr>
          <p:cNvGrpSpPr/>
          <p:nvPr/>
        </p:nvGrpSpPr>
        <p:grpSpPr>
          <a:xfrm>
            <a:off x="2189086" y="5129078"/>
            <a:ext cx="5384463" cy="646331"/>
            <a:chOff x="6841647" y="4201573"/>
            <a:chExt cx="5384463" cy="646331"/>
          </a:xfrm>
        </p:grpSpPr>
        <p:sp>
          <p:nvSpPr>
            <p:cNvPr id="38" name="文本框 3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Case Study</a:t>
              </a:r>
              <a:endParaRPr kumimoji="0" lang="zh-CN" altLang="en-US" sz="2600" b="1" i="0" u="none" strike="noStrike" kern="1200" cap="none" spc="0" normalizeH="0" baseline="0" noProof="0" dirty="0">
                <a:ln>
                  <a:noFill/>
                </a:ln>
                <a:effectLst/>
                <a:uLnTx/>
                <a:uFillTx/>
                <a:cs typeface="+mn-ea"/>
                <a:sym typeface="+mn-lt"/>
              </a:endParaRPr>
            </a:p>
          </p:txBody>
        </p:sp>
        <p:cxnSp>
          <p:nvCxnSpPr>
            <p:cNvPr id="39" name="直接连接符 3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文本框 39"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05</a:t>
              </a:r>
              <a:endParaRPr lang="zh-CN" altLang="en-US" sz="3600" b="1" dirty="0">
                <a:solidFill>
                  <a:schemeClr val="tx1">
                    <a:lumMod val="75000"/>
                    <a:lumOff val="25000"/>
                  </a:schemeClr>
                </a:solidFill>
                <a:cs typeface="+mn-ea"/>
                <a:sym typeface="+mn-lt"/>
              </a:endParaRPr>
            </a:p>
          </p:txBody>
        </p:sp>
      </p:grpSp>
    </p:spTree>
    <p:custDataLst>
      <p:tags r:id="rId1"/>
    </p:custDataLst>
    <p:extLst>
      <p:ext uri="{BB962C8B-B14F-4D97-AF65-F5344CB8AC3E}">
        <p14:creationId xmlns:p14="http://schemas.microsoft.com/office/powerpoint/2010/main" val="1244465813"/>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547385" y="6433723"/>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19</a:t>
            </a:fld>
            <a:endParaRPr lang="zh-CN" altLang="en-US" sz="1800">
              <a:latin typeface="Times New Roman" panose="02020603050405020304" pitchFamily="18" charset="0"/>
              <a:ea typeface="+mj-ea"/>
              <a:cs typeface="Times New Roman" panose="02020603050405020304" pitchFamily="18" charset="0"/>
            </a:endParaRPr>
          </a:p>
        </p:txBody>
      </p:sp>
      <p:sp>
        <p:nvSpPr>
          <p:cNvPr id="11" name="矩形 10"/>
          <p:cNvSpPr/>
          <p:nvPr/>
        </p:nvSpPr>
        <p:spPr>
          <a:xfrm>
            <a:off x="7187184" y="3265273"/>
            <a:ext cx="4360201" cy="2733056"/>
          </a:xfrm>
          <a:prstGeom prst="rect">
            <a:avLst/>
          </a:prstGeom>
          <a:solidFill>
            <a:srgbClr val="EAF6FC"/>
          </a:solidFill>
        </p:spPr>
        <p:txBody>
          <a:bodyPr wrap="square">
            <a:spAutoFit/>
          </a:bodyPr>
          <a:lstStyle/>
          <a:p>
            <a:pPr marL="342000" indent="-342000">
              <a:lnSpc>
                <a:spcPct val="130000"/>
              </a:lnSpc>
              <a:buFont typeface="Arial" panose="020B0604020202020204" pitchFamily="34" charset="0"/>
              <a:buChar cha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We use the degradation model for EV batteries* where the battery degradation is based on the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depth of discharge (DOD)</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and can be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linearly approximated by discharge segments.</a:t>
            </a: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Bidding Model </a:t>
              </a:r>
              <a:endParaRPr lang="zh-CN" altLang="en-US" sz="3600" b="1" spc="600" dirty="0">
                <a:solidFill>
                  <a:schemeClr val="accent1"/>
                </a:solidFill>
                <a:latin typeface="Times New Roman" panose="02020603050405020304" pitchFamily="18" charset="0"/>
                <a:cs typeface="Times New Roman" panose="02020603050405020304" pitchFamily="18" charset="0"/>
              </a:endParaRP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3"/>
          <a:stretch>
            <a:fillRect/>
          </a:stretch>
        </p:blipFill>
        <p:spPr>
          <a:xfrm>
            <a:off x="814476" y="2711692"/>
            <a:ext cx="5979557" cy="2552811"/>
          </a:xfrm>
          <a:prstGeom prst="rect">
            <a:avLst/>
          </a:prstGeom>
        </p:spPr>
      </p:pic>
      <p:pic>
        <p:nvPicPr>
          <p:cNvPr id="13" name="图片 12"/>
          <p:cNvPicPr>
            <a:picLocks noChangeAspect="1"/>
          </p:cNvPicPr>
          <p:nvPr/>
        </p:nvPicPr>
        <p:blipFill rotWithShape="1">
          <a:blip r:embed="rId4"/>
          <a:srcRect l="10563" r="8504" b="58429"/>
          <a:stretch/>
        </p:blipFill>
        <p:spPr>
          <a:xfrm>
            <a:off x="841248" y="1338126"/>
            <a:ext cx="5056632" cy="1336258"/>
          </a:xfrm>
          <a:prstGeom prst="rect">
            <a:avLst/>
          </a:prstGeom>
        </p:spPr>
      </p:pic>
      <p:sp>
        <p:nvSpPr>
          <p:cNvPr id="15" name="矩形 14"/>
          <p:cNvSpPr/>
          <p:nvPr/>
        </p:nvSpPr>
        <p:spPr>
          <a:xfrm>
            <a:off x="2588256" y="4757284"/>
            <a:ext cx="3761972" cy="48329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rotWithShape="1">
          <a:blip r:embed="rId5"/>
          <a:srcRect r="36810"/>
          <a:stretch/>
        </p:blipFill>
        <p:spPr>
          <a:xfrm>
            <a:off x="7056304" y="1570133"/>
            <a:ext cx="4279392" cy="466817"/>
          </a:xfrm>
          <a:prstGeom prst="rect">
            <a:avLst/>
          </a:prstGeom>
        </p:spPr>
      </p:pic>
      <p:sp>
        <p:nvSpPr>
          <p:cNvPr id="9" name="矩形 8"/>
          <p:cNvSpPr/>
          <p:nvPr/>
        </p:nvSpPr>
        <p:spPr>
          <a:xfrm>
            <a:off x="5897880" y="6367894"/>
            <a:ext cx="6001140" cy="523220"/>
          </a:xfrm>
          <a:prstGeom prst="rect">
            <a:avLst/>
          </a:prstGeom>
        </p:spPr>
        <p:txBody>
          <a:bodyPr wrap="square">
            <a:spAutoFit/>
          </a:bodyPr>
          <a:lstStyle/>
          <a:p>
            <a:r>
              <a:rPr lang="en-US" altLang="zh-CN" sz="1400" dirty="0">
                <a:solidFill>
                  <a:srgbClr val="000000"/>
                </a:solidFill>
                <a:latin typeface="Times New Roman" panose="02020603050405020304" pitchFamily="18" charset="0"/>
                <a:cs typeface="Times New Roman" panose="02020603050405020304" pitchFamily="18" charset="0"/>
              </a:rPr>
              <a:t>* S. Han, S. Han, and H. Aki, “A practical battery wear model for electric vehicle charging applications,” </a:t>
            </a:r>
            <a:r>
              <a:rPr lang="en-US" altLang="zh-CN" sz="1400" i="1" dirty="0">
                <a:solidFill>
                  <a:srgbClr val="000000"/>
                </a:solidFill>
                <a:latin typeface="Times New Roman" panose="02020603050405020304" pitchFamily="18" charset="0"/>
                <a:cs typeface="Times New Roman" panose="02020603050405020304" pitchFamily="18" charset="0"/>
              </a:rPr>
              <a:t>Applied Energy</a:t>
            </a:r>
            <a:r>
              <a:rPr lang="en-US" altLang="zh-CN" sz="1400" dirty="0">
                <a:solidFill>
                  <a:srgbClr val="000000"/>
                </a:solidFill>
                <a:latin typeface="Times New Roman" panose="02020603050405020304" pitchFamily="18" charset="0"/>
                <a:cs typeface="Times New Roman" panose="02020603050405020304" pitchFamily="18" charset="0"/>
              </a:rPr>
              <a:t>, vol. 113, pp. 1100–1108, Jan. 2014.</a:t>
            </a:r>
            <a:r>
              <a:rPr lang="en-US" altLang="zh-CN" sz="1400"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pic>
        <p:nvPicPr>
          <p:cNvPr id="12" name="图片 11"/>
          <p:cNvPicPr>
            <a:picLocks noChangeAspect="1"/>
          </p:cNvPicPr>
          <p:nvPr/>
        </p:nvPicPr>
        <p:blipFill>
          <a:blip r:embed="rId6"/>
          <a:stretch>
            <a:fillRect/>
          </a:stretch>
        </p:blipFill>
        <p:spPr>
          <a:xfrm>
            <a:off x="939264" y="5296013"/>
            <a:ext cx="4632303" cy="520295"/>
          </a:xfrm>
          <a:prstGeom prst="rect">
            <a:avLst/>
          </a:prstGeom>
        </p:spPr>
      </p:pic>
      <p:cxnSp>
        <p:nvCxnSpPr>
          <p:cNvPr id="17" name="直接箭头连接符 16"/>
          <p:cNvCxnSpPr>
            <a:endCxn id="5" idx="1"/>
          </p:cNvCxnSpPr>
          <p:nvPr/>
        </p:nvCxnSpPr>
        <p:spPr>
          <a:xfrm flipV="1">
            <a:off x="5771017" y="1803542"/>
            <a:ext cx="1285287" cy="295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图片 18"/>
          <p:cNvPicPr>
            <a:picLocks noChangeAspect="1"/>
          </p:cNvPicPr>
          <p:nvPr/>
        </p:nvPicPr>
        <p:blipFill>
          <a:blip r:embed="rId7"/>
          <a:stretch>
            <a:fillRect/>
          </a:stretch>
        </p:blipFill>
        <p:spPr>
          <a:xfrm>
            <a:off x="7212255" y="2523329"/>
            <a:ext cx="4310056" cy="662067"/>
          </a:xfrm>
          <a:prstGeom prst="rect">
            <a:avLst/>
          </a:prstGeom>
        </p:spPr>
      </p:pic>
      <p:pic>
        <p:nvPicPr>
          <p:cNvPr id="21" name="图片 20"/>
          <p:cNvPicPr>
            <a:picLocks noChangeAspect="1"/>
          </p:cNvPicPr>
          <p:nvPr/>
        </p:nvPicPr>
        <p:blipFill rotWithShape="1">
          <a:blip r:embed="rId8"/>
          <a:srcRect t="2191"/>
          <a:stretch/>
        </p:blipFill>
        <p:spPr>
          <a:xfrm>
            <a:off x="7212255" y="2121408"/>
            <a:ext cx="4393837" cy="417368"/>
          </a:xfrm>
          <a:prstGeom prst="rect">
            <a:avLst/>
          </a:prstGeom>
        </p:spPr>
      </p:pic>
      <p:pic>
        <p:nvPicPr>
          <p:cNvPr id="23" name="图片 22"/>
          <p:cNvPicPr>
            <a:picLocks noChangeAspect="1"/>
          </p:cNvPicPr>
          <p:nvPr/>
        </p:nvPicPr>
        <p:blipFill>
          <a:blip r:embed="rId9"/>
          <a:stretch>
            <a:fillRect/>
          </a:stretch>
        </p:blipFill>
        <p:spPr>
          <a:xfrm>
            <a:off x="984776" y="5866584"/>
            <a:ext cx="5111224" cy="709027"/>
          </a:xfrm>
          <a:prstGeom prst="rect">
            <a:avLst/>
          </a:prstGeom>
        </p:spPr>
      </p:pic>
    </p:spTree>
    <p:extLst>
      <p:ext uri="{BB962C8B-B14F-4D97-AF65-F5344CB8AC3E}">
        <p14:creationId xmlns:p14="http://schemas.microsoft.com/office/powerpoint/2010/main" val="365479536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601450" y="6462403"/>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20</a:t>
            </a:fld>
            <a:endParaRPr lang="zh-CN" altLang="en-US" sz="1800" dirty="0">
              <a:latin typeface="Times New Roman" panose="02020603050405020304" pitchFamily="18" charset="0"/>
              <a:ea typeface="+mj-ea"/>
              <a:cs typeface="Times New Roman" panose="02020603050405020304" pitchFamily="18" charset="0"/>
            </a:endParaRPr>
          </a:p>
        </p:txBody>
      </p:sp>
      <p:sp>
        <p:nvSpPr>
          <p:cNvPr id="11" name="矩形 10"/>
          <p:cNvSpPr/>
          <p:nvPr/>
        </p:nvSpPr>
        <p:spPr>
          <a:xfrm>
            <a:off x="6721756" y="2579474"/>
            <a:ext cx="5101436" cy="1412694"/>
          </a:xfrm>
          <a:prstGeom prst="rect">
            <a:avLst/>
          </a:prstGeom>
          <a:solidFill>
            <a:srgbClr val="EAF6FC"/>
          </a:solidFill>
        </p:spPr>
        <p:txBody>
          <a:bodyPr wrap="square">
            <a:spAutoFit/>
          </a:bodyPr>
          <a:lstStyle/>
          <a:p>
            <a:pPr marL="342000" indent="-342000">
              <a:lnSpc>
                <a:spcPct val="130000"/>
              </a:lnSpc>
              <a:buFont typeface="Arial" panose="020B0604020202020204" pitchFamily="34" charset="0"/>
              <a:buChar cha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Net power of the EVs follows the regulation signal in each regulation signal scenario.</a:t>
            </a:r>
            <a:endPar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Bidding Model </a:t>
              </a:r>
              <a:endParaRPr lang="zh-CN" altLang="en-US" sz="3600" b="1" spc="600" dirty="0">
                <a:solidFill>
                  <a:schemeClr val="accent1"/>
                </a:solidFill>
                <a:latin typeface="Times New Roman" panose="02020603050405020304" pitchFamily="18" charset="0"/>
                <a:cs typeface="Times New Roman" panose="02020603050405020304" pitchFamily="18" charset="0"/>
              </a:endParaRP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3"/>
          <a:stretch>
            <a:fillRect/>
          </a:stretch>
        </p:blipFill>
        <p:spPr>
          <a:xfrm>
            <a:off x="919581" y="1478299"/>
            <a:ext cx="4914291" cy="5137986"/>
          </a:xfrm>
          <a:prstGeom prst="rect">
            <a:avLst/>
          </a:prstGeom>
        </p:spPr>
      </p:pic>
      <p:sp>
        <p:nvSpPr>
          <p:cNvPr id="18" name="矩形 17"/>
          <p:cNvSpPr/>
          <p:nvPr/>
        </p:nvSpPr>
        <p:spPr>
          <a:xfrm>
            <a:off x="1011278" y="2587753"/>
            <a:ext cx="4822593" cy="67752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1011278" y="5556505"/>
            <a:ext cx="4822593" cy="67752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矩形 20"/>
          <p:cNvSpPr/>
          <p:nvPr/>
        </p:nvSpPr>
        <p:spPr>
          <a:xfrm>
            <a:off x="6721755" y="3911910"/>
            <a:ext cx="5174589" cy="2733056"/>
          </a:xfrm>
          <a:prstGeom prst="rect">
            <a:avLst/>
          </a:prstGeom>
          <a:solidFill>
            <a:srgbClr val="EAF6FC"/>
          </a:solidFill>
        </p:spPr>
        <p:txBody>
          <a:bodyPr wrap="square">
            <a:spAutoFit/>
          </a:bodyPr>
          <a:lstStyle/>
          <a:p>
            <a:pPr marL="342000" indent="-342000">
              <a:lnSpc>
                <a:spcPct val="130000"/>
              </a:lnSpc>
              <a:buFont typeface="Arial" panose="020B0604020202020204" pitchFamily="34" charset="0"/>
              <a:buChar cha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expected change of EV </a:t>
            </a:r>
            <a:r>
              <a:rPr lang="en-US" altLang="zh-CN" sz="2200" b="1"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in SOC across the time intervals.</a:t>
            </a:r>
          </a:p>
          <a:p>
            <a:pPr marL="342000" indent="-342000">
              <a:lnSpc>
                <a:spcPct val="130000"/>
              </a:lnSpc>
              <a:buFont typeface="Arial" panose="020B0604020202020204" pitchFamily="34" charset="0"/>
              <a:buChar cha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entire model, formulated as a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stochastic linear programming problem</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can be efficiently solved by commercial solvers.</a:t>
            </a:r>
          </a:p>
        </p:txBody>
      </p:sp>
      <p:pic>
        <p:nvPicPr>
          <p:cNvPr id="6" name="图片 5"/>
          <p:cNvPicPr>
            <a:picLocks noChangeAspect="1"/>
          </p:cNvPicPr>
          <p:nvPr/>
        </p:nvPicPr>
        <p:blipFill>
          <a:blip r:embed="rId4"/>
          <a:stretch>
            <a:fillRect/>
          </a:stretch>
        </p:blipFill>
        <p:spPr>
          <a:xfrm>
            <a:off x="6721755" y="1789038"/>
            <a:ext cx="4790306" cy="653891"/>
          </a:xfrm>
          <a:prstGeom prst="rect">
            <a:avLst/>
          </a:prstGeom>
        </p:spPr>
      </p:pic>
      <p:cxnSp>
        <p:nvCxnSpPr>
          <p:cNvPr id="16" name="直接箭头连接符 15"/>
          <p:cNvCxnSpPr/>
          <p:nvPr/>
        </p:nvCxnSpPr>
        <p:spPr>
          <a:xfrm flipH="1" flipV="1">
            <a:off x="5925312" y="2816352"/>
            <a:ext cx="796443" cy="18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5879592" y="4224528"/>
            <a:ext cx="842163" cy="1331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27629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dirty="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33" name="文本框 32"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980AD58A-4B9C-486E-B9D7-2E3D0B2DACFC}"/>
              </a:ext>
            </a:extLst>
          </p:cNvPr>
          <p:cNvSpPr txBox="1"/>
          <p:nvPr/>
        </p:nvSpPr>
        <p:spPr>
          <a:xfrm>
            <a:off x="2841829" y="757775"/>
            <a:ext cx="2909604" cy="707886"/>
          </a:xfrm>
          <a:prstGeom prst="rect">
            <a:avLst/>
          </a:prstGeom>
          <a:noFill/>
        </p:spPr>
        <p:txBody>
          <a:bodyPr wrap="square" rtlCol="0">
            <a:spAutoFit/>
          </a:bodyPr>
          <a:lstStyle/>
          <a:p>
            <a:pPr algn="ctr"/>
            <a:r>
              <a:rPr lang="en-US" altLang="zh-CN" sz="4000" b="1" spc="600" dirty="0">
                <a:solidFill>
                  <a:schemeClr val="accent1"/>
                </a:solidFill>
                <a:cs typeface="+mn-ea"/>
                <a:sym typeface="+mn-lt"/>
              </a:rPr>
              <a:t>Contents</a:t>
            </a:r>
          </a:p>
        </p:txBody>
      </p:sp>
      <p:cxnSp>
        <p:nvCxnSpPr>
          <p:cNvPr id="35" name="直接连接符 34"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62E68CC6-D652-442B-8CFE-E1738739FCAB}"/>
              </a:ext>
            </a:extLst>
          </p:cNvPr>
          <p:cNvCxnSpPr>
            <a:cxnSpLocks/>
          </p:cNvCxnSpPr>
          <p:nvPr/>
        </p:nvCxnSpPr>
        <p:spPr>
          <a:xfrm>
            <a:off x="3775329" y="1475258"/>
            <a:ext cx="105944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09E96879-4550-4FE1-B0ED-CF7A3743437F}"/>
              </a:ext>
            </a:extLst>
          </p:cNvPr>
          <p:cNvSpPr>
            <a:spLocks noGrp="1"/>
          </p:cNvSpPr>
          <p:nvPr>
            <p:ph type="sldNum" sz="quarter" idx="4294967295"/>
          </p:nvPr>
        </p:nvSpPr>
        <p:spPr>
          <a:xfrm>
            <a:off x="11620130" y="6026719"/>
            <a:ext cx="464762" cy="365125"/>
          </a:xfrm>
          <a:prstGeom prst="rect">
            <a:avLst/>
          </a:prstGeom>
        </p:spPr>
        <p:txBody>
          <a:bodyPr/>
          <a:lstStyle/>
          <a:p>
            <a:fld id="{04FD9700-F5CC-49AF-BD2D-23D2173C44DC}" type="slidenum">
              <a:rPr lang="en-US" smtClean="0"/>
              <a:t>21</a:t>
            </a:fld>
            <a:endParaRPr lang="en-US" dirty="0"/>
          </a:p>
        </p:txBody>
      </p:sp>
      <p:grpSp>
        <p:nvGrpSpPr>
          <p:cNvPr id="55" name="组合 54">
            <a:extLst>
              <a:ext uri="{FF2B5EF4-FFF2-40B4-BE49-F238E27FC236}">
                <a16:creationId xmlns:a16="http://schemas.microsoft.com/office/drawing/2014/main" id="{16AC2CDE-3D20-4748-BB56-2876C6E466A0}"/>
              </a:ext>
            </a:extLst>
          </p:cNvPr>
          <p:cNvGrpSpPr/>
          <p:nvPr/>
        </p:nvGrpSpPr>
        <p:grpSpPr>
          <a:xfrm>
            <a:off x="2189086" y="4247929"/>
            <a:ext cx="8966594" cy="646331"/>
            <a:chOff x="6841647" y="4201573"/>
            <a:chExt cx="8966594" cy="646331"/>
          </a:xfrm>
        </p:grpSpPr>
        <p:sp>
          <p:nvSpPr>
            <p:cNvPr id="56" name="文本框 55"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8088852" cy="492443"/>
            </a:xfrm>
            <a:prstGeom prst="rect">
              <a:avLst/>
            </a:prstGeom>
            <a:noFill/>
          </p:spPr>
          <p:txBody>
            <a:bodyPr wrap="square" rtlCol="0">
              <a:spAutoFit/>
            </a:bodyPr>
            <a:lstStyle/>
            <a:p>
              <a:pPr lvl="0">
                <a:defRPr/>
              </a:pPr>
              <a:r>
                <a:rPr lang="en-US" altLang="zh-CN" sz="2600" b="1" dirty="0">
                  <a:solidFill>
                    <a:schemeClr val="accent1"/>
                  </a:solidFill>
                  <a:cs typeface="+mn-ea"/>
                  <a:sym typeface="+mn-lt"/>
                </a:rPr>
                <a:t>Power Allocation Model Based on Lagrange Multipliers</a:t>
              </a:r>
              <a:endParaRPr lang="zh-CN" altLang="en-US" sz="2600" b="1" dirty="0">
                <a:solidFill>
                  <a:schemeClr val="accent1"/>
                </a:solidFill>
                <a:cs typeface="+mn-ea"/>
                <a:sym typeface="+mn-lt"/>
              </a:endParaRPr>
            </a:p>
          </p:txBody>
        </p:sp>
        <p:cxnSp>
          <p:nvCxnSpPr>
            <p:cNvPr id="57" name="直接连接符 56"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文本框 57"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04</a:t>
              </a:r>
              <a:endParaRPr lang="zh-CN" altLang="en-US" sz="3600" b="1" dirty="0">
                <a:solidFill>
                  <a:schemeClr val="tx1">
                    <a:lumMod val="75000"/>
                    <a:lumOff val="25000"/>
                  </a:schemeClr>
                </a:solidFill>
                <a:cs typeface="+mn-ea"/>
                <a:sym typeface="+mn-lt"/>
              </a:endParaRPr>
            </a:p>
          </p:txBody>
        </p:sp>
      </p:grpSp>
      <p:grpSp>
        <p:nvGrpSpPr>
          <p:cNvPr id="87" name="组合 86">
            <a:extLst>
              <a:ext uri="{FF2B5EF4-FFF2-40B4-BE49-F238E27FC236}">
                <a16:creationId xmlns:a16="http://schemas.microsoft.com/office/drawing/2014/main" id="{5FC629E2-1EA5-48E8-B1FA-48F0D9290E6C}"/>
              </a:ext>
            </a:extLst>
          </p:cNvPr>
          <p:cNvGrpSpPr/>
          <p:nvPr/>
        </p:nvGrpSpPr>
        <p:grpSpPr>
          <a:xfrm>
            <a:off x="2189086" y="1888374"/>
            <a:ext cx="5384463" cy="646331"/>
            <a:chOff x="6841647" y="4201573"/>
            <a:chExt cx="5384463" cy="646331"/>
          </a:xfrm>
        </p:grpSpPr>
        <p:sp>
          <p:nvSpPr>
            <p:cNvPr id="88" name="文本框 8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55E5D7A-6AFD-4651-838A-5D4E4ADD8510}"/>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Background and Motivation</a:t>
              </a:r>
              <a:endParaRPr kumimoji="0" lang="zh-CN" altLang="en-US" sz="2600" b="1" i="0" u="none" strike="noStrike" kern="1200" cap="none" spc="0" normalizeH="0" baseline="0" noProof="0" dirty="0">
                <a:ln>
                  <a:noFill/>
                </a:ln>
                <a:effectLst/>
                <a:uLnTx/>
                <a:uFillTx/>
                <a:cs typeface="+mn-ea"/>
                <a:sym typeface="+mn-lt"/>
              </a:endParaRPr>
            </a:p>
          </p:txBody>
        </p:sp>
        <p:cxnSp>
          <p:nvCxnSpPr>
            <p:cNvPr id="89" name="直接连接符 8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AFE57C9-542A-4A57-94C9-67EDC8E9FE8F}"/>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1" name="文本框 90"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2BBF2294-CDAA-4F37-A18C-12ED54F33174}"/>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01</a:t>
              </a:r>
              <a:endParaRPr lang="zh-CN" altLang="en-US" sz="3600" b="1" dirty="0">
                <a:solidFill>
                  <a:schemeClr val="tx1">
                    <a:lumMod val="75000"/>
                    <a:lumOff val="25000"/>
                  </a:schemeClr>
                </a:solidFill>
                <a:cs typeface="+mn-ea"/>
                <a:sym typeface="+mn-lt"/>
              </a:endParaRPr>
            </a:p>
          </p:txBody>
        </p:sp>
      </p:grpSp>
      <p:grpSp>
        <p:nvGrpSpPr>
          <p:cNvPr id="92" name="组合 91">
            <a:extLst>
              <a:ext uri="{FF2B5EF4-FFF2-40B4-BE49-F238E27FC236}">
                <a16:creationId xmlns:a16="http://schemas.microsoft.com/office/drawing/2014/main" id="{09F7BB3A-1127-4FB9-9BC8-B98C987A73B9}"/>
              </a:ext>
            </a:extLst>
          </p:cNvPr>
          <p:cNvGrpSpPr/>
          <p:nvPr/>
        </p:nvGrpSpPr>
        <p:grpSpPr>
          <a:xfrm>
            <a:off x="2189086" y="2650904"/>
            <a:ext cx="7787018" cy="646331"/>
            <a:chOff x="6841647" y="4201573"/>
            <a:chExt cx="7787018" cy="646331"/>
          </a:xfrm>
        </p:grpSpPr>
        <p:sp>
          <p:nvSpPr>
            <p:cNvPr id="93" name="文本框 92"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CC1D400-8E93-4E37-9342-1A4AC729E3E6}"/>
                </a:ext>
              </a:extLst>
            </p:cNvPr>
            <p:cNvSpPr txBox="1"/>
            <p:nvPr/>
          </p:nvSpPr>
          <p:spPr>
            <a:xfrm>
              <a:off x="7719389" y="4273538"/>
              <a:ext cx="6909276" cy="492443"/>
            </a:xfrm>
            <a:prstGeom prst="rect">
              <a:avLst/>
            </a:prstGeom>
            <a:noFill/>
          </p:spPr>
          <p:txBody>
            <a:bodyPr wrap="square" rtlCol="0">
              <a:spAutoFit/>
            </a:bodyPr>
            <a:lstStyle/>
            <a:p>
              <a:pPr lvl="0">
                <a:defRPr/>
              </a:pPr>
              <a:r>
                <a:rPr lang="en-US" altLang="zh-CN" sz="2600" b="1" dirty="0">
                  <a:cs typeface="+mn-ea"/>
                  <a:sym typeface="+mn-lt"/>
                </a:rPr>
                <a:t>The proposed framework</a:t>
              </a:r>
              <a:endParaRPr lang="zh-CN" altLang="en-US" sz="2600" b="1" dirty="0">
                <a:cs typeface="+mn-ea"/>
                <a:sym typeface="+mn-lt"/>
              </a:endParaRPr>
            </a:p>
          </p:txBody>
        </p:sp>
        <p:cxnSp>
          <p:nvCxnSpPr>
            <p:cNvPr id="94" name="直接连接符 93"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630301C9-A53E-4928-B693-96C6ABA96668}"/>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文本框 94"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4C683014-4432-408C-81BB-92B198E8B69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02</a:t>
              </a:r>
              <a:endParaRPr lang="zh-CN" altLang="en-US" sz="3600" b="1" dirty="0">
                <a:solidFill>
                  <a:schemeClr val="tx1">
                    <a:lumMod val="75000"/>
                    <a:lumOff val="25000"/>
                  </a:schemeClr>
                </a:solidFill>
                <a:cs typeface="+mn-ea"/>
                <a:sym typeface="+mn-lt"/>
              </a:endParaRPr>
            </a:p>
          </p:txBody>
        </p:sp>
      </p:grpSp>
      <p:grpSp>
        <p:nvGrpSpPr>
          <p:cNvPr id="96" name="组合 95">
            <a:extLst>
              <a:ext uri="{FF2B5EF4-FFF2-40B4-BE49-F238E27FC236}">
                <a16:creationId xmlns:a16="http://schemas.microsoft.com/office/drawing/2014/main" id="{787391FD-B799-471D-A685-942B88FC17BA}"/>
              </a:ext>
            </a:extLst>
          </p:cNvPr>
          <p:cNvGrpSpPr/>
          <p:nvPr/>
        </p:nvGrpSpPr>
        <p:grpSpPr>
          <a:xfrm>
            <a:off x="2189086" y="3413434"/>
            <a:ext cx="9058034" cy="646331"/>
            <a:chOff x="6841647" y="4201573"/>
            <a:chExt cx="9058034" cy="646331"/>
          </a:xfrm>
        </p:grpSpPr>
        <p:sp>
          <p:nvSpPr>
            <p:cNvPr id="97" name="文本框 96"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D9CE1E3B-02DE-4694-B8DA-F6656119E644}"/>
                </a:ext>
              </a:extLst>
            </p:cNvPr>
            <p:cNvSpPr txBox="1"/>
            <p:nvPr/>
          </p:nvSpPr>
          <p:spPr>
            <a:xfrm>
              <a:off x="7719389" y="4273538"/>
              <a:ext cx="8180292" cy="492443"/>
            </a:xfrm>
            <a:prstGeom prst="rect">
              <a:avLst/>
            </a:prstGeom>
            <a:noFill/>
          </p:spPr>
          <p:txBody>
            <a:bodyPr wrap="square" rtlCol="0">
              <a:spAutoFit/>
            </a:bodyPr>
            <a:lstStyle/>
            <a:p>
              <a:pPr>
                <a:defRPr/>
              </a:pPr>
              <a:r>
                <a:rPr lang="en-US" altLang="zh-CN" sz="2600" b="1" dirty="0">
                  <a:cs typeface="+mn-ea"/>
                  <a:sym typeface="+mn-lt"/>
                </a:rPr>
                <a:t>Optimal Bidding Model with Embedded Power Allocation</a:t>
              </a:r>
              <a:endParaRPr lang="zh-CN" altLang="en-US" sz="2600" b="1" dirty="0">
                <a:cs typeface="+mn-ea"/>
                <a:sym typeface="+mn-lt"/>
              </a:endParaRPr>
            </a:p>
          </p:txBody>
        </p:sp>
        <p:cxnSp>
          <p:nvCxnSpPr>
            <p:cNvPr id="98" name="直接连接符 97"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0C3B934-213C-4E96-AE20-EC3DC8E21123}"/>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文本框 98"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72EC4A5C-2889-476E-BF52-DFC013053E03}"/>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03</a:t>
              </a:r>
              <a:endParaRPr lang="zh-CN" altLang="en-US" sz="3600" b="1" dirty="0">
                <a:solidFill>
                  <a:schemeClr val="tx1">
                    <a:lumMod val="75000"/>
                    <a:lumOff val="25000"/>
                  </a:schemeClr>
                </a:solidFill>
                <a:cs typeface="+mn-ea"/>
                <a:sym typeface="+mn-lt"/>
              </a:endParaRPr>
            </a:p>
          </p:txBody>
        </p:sp>
      </p:grpSp>
      <p:grpSp>
        <p:nvGrpSpPr>
          <p:cNvPr id="37" name="组合 36">
            <a:extLst>
              <a:ext uri="{FF2B5EF4-FFF2-40B4-BE49-F238E27FC236}">
                <a16:creationId xmlns:a16="http://schemas.microsoft.com/office/drawing/2014/main" id="{16AC2CDE-3D20-4748-BB56-2876C6E466A0}"/>
              </a:ext>
            </a:extLst>
          </p:cNvPr>
          <p:cNvGrpSpPr/>
          <p:nvPr/>
        </p:nvGrpSpPr>
        <p:grpSpPr>
          <a:xfrm>
            <a:off x="2189086" y="5129078"/>
            <a:ext cx="5384463" cy="646331"/>
            <a:chOff x="6841647" y="4201573"/>
            <a:chExt cx="5384463" cy="646331"/>
          </a:xfrm>
        </p:grpSpPr>
        <p:sp>
          <p:nvSpPr>
            <p:cNvPr id="38" name="文本框 3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Case Study</a:t>
              </a:r>
              <a:endParaRPr kumimoji="0" lang="zh-CN" altLang="en-US" sz="2600" b="1" i="0" u="none" strike="noStrike" kern="1200" cap="none" spc="0" normalizeH="0" baseline="0" noProof="0" dirty="0">
                <a:ln>
                  <a:noFill/>
                </a:ln>
                <a:effectLst/>
                <a:uLnTx/>
                <a:uFillTx/>
                <a:cs typeface="+mn-ea"/>
                <a:sym typeface="+mn-lt"/>
              </a:endParaRPr>
            </a:p>
          </p:txBody>
        </p:sp>
        <p:cxnSp>
          <p:nvCxnSpPr>
            <p:cNvPr id="39" name="直接连接符 3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文本框 39"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05</a:t>
              </a:r>
              <a:endParaRPr lang="zh-CN" altLang="en-US" sz="3600" b="1" dirty="0">
                <a:solidFill>
                  <a:schemeClr val="tx1">
                    <a:lumMod val="75000"/>
                    <a:lumOff val="25000"/>
                  </a:schemeClr>
                </a:solidFill>
                <a:cs typeface="+mn-ea"/>
                <a:sym typeface="+mn-lt"/>
              </a:endParaRPr>
            </a:p>
          </p:txBody>
        </p:sp>
      </p:grpSp>
    </p:spTree>
    <p:custDataLst>
      <p:tags r:id="rId1"/>
    </p:custDataLst>
    <p:extLst>
      <p:ext uri="{BB962C8B-B14F-4D97-AF65-F5344CB8AC3E}">
        <p14:creationId xmlns:p14="http://schemas.microsoft.com/office/powerpoint/2010/main" val="4086690750"/>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547385" y="6433723"/>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22</a:t>
            </a:fld>
            <a:endParaRPr lang="zh-CN" altLang="en-US" sz="1800">
              <a:latin typeface="Times New Roman" panose="02020603050405020304" pitchFamily="18" charset="0"/>
              <a:ea typeface="+mj-ea"/>
              <a:cs typeface="Times New Roman" panose="02020603050405020304" pitchFamily="18" charset="0"/>
            </a:endParaRPr>
          </a:p>
        </p:txBody>
      </p:sp>
      <p:sp>
        <p:nvSpPr>
          <p:cNvPr id="11" name="矩形 10"/>
          <p:cNvSpPr/>
          <p:nvPr/>
        </p:nvSpPr>
        <p:spPr>
          <a:xfrm>
            <a:off x="6474746" y="1779032"/>
            <a:ext cx="5248738" cy="4493538"/>
          </a:xfrm>
          <a:prstGeom prst="rect">
            <a:avLst/>
          </a:prstGeom>
          <a:solidFill>
            <a:srgbClr val="EAF6FC"/>
          </a:solidFill>
        </p:spPr>
        <p:txBody>
          <a:bodyPr wrap="square">
            <a:spAutoFit/>
          </a:bodyPr>
          <a:lstStyle/>
          <a:p>
            <a:pPr marL="342000" indent="-342000">
              <a:lnSpc>
                <a:spcPct val="130000"/>
              </a:lnSpc>
              <a:buFont typeface="Arial" panose="020B0604020202020204" pitchFamily="34" charset="0"/>
              <a:buChar cha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second term in the objective function is a penalty term, which forces the EVA to follow the regulation signal as closely as possible. </a:t>
            </a:r>
          </a:p>
          <a:p>
            <a:pPr marL="342000" indent="-342000">
              <a:lnSpc>
                <a:spcPct val="130000"/>
              </a:lnSpc>
              <a:buFont typeface="Arial" panose="020B0604020202020204" pitchFamily="34" charset="0"/>
              <a:buChar char="•"/>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cost is calculated from the battery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degradation cost that is immediately generated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by EV discharge in addition to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the impact on future EVA profit accounted for through the Lagrange multiplier</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which will be analyzed later.</a:t>
            </a:r>
            <a:endPar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Power Allocation Model</a:t>
              </a:r>
              <a:endParaRPr lang="zh-CN" altLang="en-US" sz="3600" b="1" spc="600" dirty="0">
                <a:solidFill>
                  <a:schemeClr val="accent1"/>
                </a:solidFill>
                <a:latin typeface="Times New Roman" panose="02020603050405020304" pitchFamily="18" charset="0"/>
                <a:cs typeface="Times New Roman" panose="02020603050405020304" pitchFamily="18" charset="0"/>
              </a:endParaRP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a:extLst>
              <a:ext uri="{FF2B5EF4-FFF2-40B4-BE49-F238E27FC236}">
                <a16:creationId xmlns:a16="http://schemas.microsoft.com/office/drawing/2014/main" id="{4FE954DD-450F-44BB-989A-98F4B59E2598}"/>
              </a:ext>
            </a:extLst>
          </p:cNvPr>
          <p:cNvCxnSpPr>
            <a:cxnSpLocks/>
          </p:cNvCxnSpPr>
          <p:nvPr/>
        </p:nvCxnSpPr>
        <p:spPr>
          <a:xfrm>
            <a:off x="468516" y="6323060"/>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729660" y="2394222"/>
            <a:ext cx="5441826" cy="2585663"/>
          </a:xfrm>
          <a:prstGeom prst="rect">
            <a:avLst/>
          </a:prstGeom>
        </p:spPr>
      </p:pic>
      <p:pic>
        <p:nvPicPr>
          <p:cNvPr id="6" name="图片 5"/>
          <p:cNvPicPr>
            <a:picLocks noChangeAspect="1"/>
          </p:cNvPicPr>
          <p:nvPr/>
        </p:nvPicPr>
        <p:blipFill>
          <a:blip r:embed="rId4"/>
          <a:stretch>
            <a:fillRect/>
          </a:stretch>
        </p:blipFill>
        <p:spPr>
          <a:xfrm>
            <a:off x="1418291" y="5064972"/>
            <a:ext cx="4700478" cy="730171"/>
          </a:xfrm>
          <a:prstGeom prst="rect">
            <a:avLst/>
          </a:prstGeom>
        </p:spPr>
      </p:pic>
      <p:sp>
        <p:nvSpPr>
          <p:cNvPr id="9" name="文本框 8"/>
          <p:cNvSpPr txBox="1"/>
          <p:nvPr/>
        </p:nvSpPr>
        <p:spPr>
          <a:xfrm rot="5400000">
            <a:off x="3192710" y="5902432"/>
            <a:ext cx="441146"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a:t>
            </a:r>
            <a:endParaRPr lang="zh-CN" altLang="en-US" sz="2000" b="1" dirty="0">
              <a:latin typeface="Times New Roman" panose="02020603050405020304" pitchFamily="18" charset="0"/>
              <a:cs typeface="Times New Roman" panose="02020603050405020304" pitchFamily="18" charset="0"/>
            </a:endParaRPr>
          </a:p>
        </p:txBody>
      </p:sp>
      <p:sp>
        <p:nvSpPr>
          <p:cNvPr id="15" name="矩形 14"/>
          <p:cNvSpPr/>
          <p:nvPr/>
        </p:nvSpPr>
        <p:spPr>
          <a:xfrm>
            <a:off x="1252015" y="4403060"/>
            <a:ext cx="4524906" cy="425569"/>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13" name="直接箭头连接符 12"/>
          <p:cNvCxnSpPr/>
          <p:nvPr/>
        </p:nvCxnSpPr>
        <p:spPr>
          <a:xfrm flipH="1" flipV="1">
            <a:off x="4745207" y="4226762"/>
            <a:ext cx="1929083" cy="54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4745207" y="2075688"/>
            <a:ext cx="1824067" cy="1709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5"/>
          <a:stretch>
            <a:fillRect/>
          </a:stretch>
        </p:blipFill>
        <p:spPr>
          <a:xfrm>
            <a:off x="1642106" y="1434032"/>
            <a:ext cx="3103101" cy="951168"/>
          </a:xfrm>
          <a:prstGeom prst="rect">
            <a:avLst/>
          </a:prstGeom>
        </p:spPr>
      </p:pic>
      <p:cxnSp>
        <p:nvCxnSpPr>
          <p:cNvPr id="18" name="直接箭头连接符 17"/>
          <p:cNvCxnSpPr/>
          <p:nvPr/>
        </p:nvCxnSpPr>
        <p:spPr>
          <a:xfrm flipH="1" flipV="1">
            <a:off x="5094236" y="4809543"/>
            <a:ext cx="1714167" cy="319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68292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547385" y="6433723"/>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mj-ea"/>
                <a:ea typeface="+mj-ea"/>
              </a:rPr>
              <a:pPr algn="r" eaLnBrk="1" hangingPunct="1">
                <a:spcBef>
                  <a:spcPct val="0"/>
                </a:spcBef>
                <a:buClrTx/>
                <a:buSzTx/>
                <a:buFontTx/>
                <a:buNone/>
              </a:pPr>
              <a:t>23</a:t>
            </a:fld>
            <a:endParaRPr lang="zh-CN" altLang="en-US" sz="1800">
              <a:latin typeface="+mj-ea"/>
              <a:ea typeface="+mj-ea"/>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Power Allocation Model</a:t>
              </a:r>
              <a:endParaRPr lang="zh-CN" altLang="en-US" sz="3600" b="1" spc="600" dirty="0">
                <a:solidFill>
                  <a:schemeClr val="accent1"/>
                </a:solidFill>
                <a:latin typeface="Times New Roman" panose="02020603050405020304" pitchFamily="18" charset="0"/>
                <a:cs typeface="Times New Roman" panose="02020603050405020304" pitchFamily="18" charset="0"/>
              </a:endParaRP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a:extLst>
              <a:ext uri="{FF2B5EF4-FFF2-40B4-BE49-F238E27FC236}">
                <a16:creationId xmlns:a16="http://schemas.microsoft.com/office/drawing/2014/main" id="{4FE954DD-450F-44BB-989A-98F4B59E2598}"/>
              </a:ext>
            </a:extLst>
          </p:cNvPr>
          <p:cNvCxnSpPr>
            <a:cxnSpLocks/>
          </p:cNvCxnSpPr>
          <p:nvPr/>
        </p:nvCxnSpPr>
        <p:spPr>
          <a:xfrm>
            <a:off x="468516" y="6562973"/>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721660" y="1445513"/>
            <a:ext cx="3780952" cy="295238"/>
          </a:xfrm>
          <a:prstGeom prst="rect">
            <a:avLst/>
          </a:prstGeom>
        </p:spPr>
      </p:pic>
      <p:sp>
        <p:nvSpPr>
          <p:cNvPr id="6" name="矩形 5"/>
          <p:cNvSpPr/>
          <p:nvPr/>
        </p:nvSpPr>
        <p:spPr>
          <a:xfrm>
            <a:off x="985163" y="1875435"/>
            <a:ext cx="7393727" cy="1107996"/>
          </a:xfrm>
          <a:prstGeom prst="rect">
            <a:avLst/>
          </a:prstGeom>
        </p:spPr>
        <p:txBody>
          <a:bodyPr wrap="square">
            <a:spAutoFit/>
          </a:bodyPr>
          <a:lstStyle/>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In this paper, the optimality of the power allocation problem refers to the fact that its output (allocated power)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corresponds to the optimal power allocation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given by the bidding problem.</a:t>
            </a:r>
          </a:p>
        </p:txBody>
      </p:sp>
      <p:pic>
        <p:nvPicPr>
          <p:cNvPr id="7" name="图片 6"/>
          <p:cNvPicPr>
            <a:picLocks noChangeAspect="1"/>
          </p:cNvPicPr>
          <p:nvPr/>
        </p:nvPicPr>
        <p:blipFill>
          <a:blip r:embed="rId4"/>
          <a:stretch>
            <a:fillRect/>
          </a:stretch>
        </p:blipFill>
        <p:spPr>
          <a:xfrm>
            <a:off x="8970058" y="1391888"/>
            <a:ext cx="2644021" cy="2707090"/>
          </a:xfrm>
          <a:prstGeom prst="rect">
            <a:avLst/>
          </a:prstGeom>
        </p:spPr>
      </p:pic>
      <p:pic>
        <p:nvPicPr>
          <p:cNvPr id="12" name="图片 11"/>
          <p:cNvPicPr>
            <a:picLocks noChangeAspect="1"/>
          </p:cNvPicPr>
          <p:nvPr/>
        </p:nvPicPr>
        <p:blipFill>
          <a:blip r:embed="rId5"/>
          <a:stretch>
            <a:fillRect/>
          </a:stretch>
        </p:blipFill>
        <p:spPr>
          <a:xfrm>
            <a:off x="8943385" y="4818802"/>
            <a:ext cx="2923322" cy="1245589"/>
          </a:xfrm>
          <a:prstGeom prst="rect">
            <a:avLst/>
          </a:prstGeom>
        </p:spPr>
      </p:pic>
      <p:sp>
        <p:nvSpPr>
          <p:cNvPr id="16" name="矩形 15"/>
          <p:cNvSpPr/>
          <p:nvPr/>
        </p:nvSpPr>
        <p:spPr>
          <a:xfrm>
            <a:off x="8897515" y="4738185"/>
            <a:ext cx="3035406" cy="132620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矩形 16"/>
          <p:cNvSpPr/>
          <p:nvPr/>
        </p:nvSpPr>
        <p:spPr>
          <a:xfrm>
            <a:off x="8897514" y="1387296"/>
            <a:ext cx="3035407" cy="285230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15" name="直接箭头连接符 14"/>
          <p:cNvCxnSpPr/>
          <p:nvPr/>
        </p:nvCxnSpPr>
        <p:spPr>
          <a:xfrm flipH="1">
            <a:off x="9414265" y="3824465"/>
            <a:ext cx="437577" cy="1470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9153550" y="4400952"/>
            <a:ext cx="2569934" cy="369332"/>
          </a:xfrm>
          <a:prstGeom prst="rect">
            <a:avLst/>
          </a:prstGeom>
        </p:spPr>
        <p:txBody>
          <a:bodyPr wrap="none">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Power allocation problem</a:t>
            </a:r>
            <a:endParaRPr lang="zh-CN" altLang="en-US" dirty="0"/>
          </a:p>
        </p:txBody>
      </p:sp>
      <p:sp>
        <p:nvSpPr>
          <p:cNvPr id="21" name="矩形 20"/>
          <p:cNvSpPr/>
          <p:nvPr/>
        </p:nvSpPr>
        <p:spPr>
          <a:xfrm>
            <a:off x="9414265" y="1039123"/>
            <a:ext cx="1755609" cy="369332"/>
          </a:xfrm>
          <a:prstGeom prst="rect">
            <a:avLst/>
          </a:prstGeom>
        </p:spPr>
        <p:txBody>
          <a:bodyPr wrap="none">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Bidding problem</a:t>
            </a:r>
            <a:endParaRPr lang="zh-CN" altLang="en-US" dirty="0"/>
          </a:p>
        </p:txBody>
      </p:sp>
      <mc:AlternateContent xmlns:mc="http://schemas.openxmlformats.org/markup-compatibility/2006" xmlns:a14="http://schemas.microsoft.com/office/drawing/2010/main">
        <mc:Choice Requires="a14">
          <p:sp>
            <p:nvSpPr>
              <p:cNvPr id="19" name="矩形 18"/>
              <p:cNvSpPr/>
              <p:nvPr/>
            </p:nvSpPr>
            <p:spPr>
              <a:xfrm>
                <a:off x="1002416" y="3200623"/>
                <a:ext cx="7376474" cy="2555892"/>
              </a:xfrm>
              <a:prstGeom prst="rect">
                <a:avLst/>
              </a:prstGeom>
            </p:spPr>
            <p:txBody>
              <a:bodyPr wrap="square">
                <a:spAutoFit/>
              </a:bodyPr>
              <a:lstStyle/>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Intuitively, the Lagrange multiplier of the SOC constraint </a:t>
                </a:r>
                <a14:m>
                  <m:oMath xmlns:m="http://schemas.openxmlformats.org/officeDocument/2006/math">
                    <m:sSubSup>
                      <m:sSubSupPr>
                        <m:ctrlPr>
                          <a:rPr lang="en-US" altLang="zh-CN" sz="2200" b="0" i="1" smtClean="0">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2200" b="0" i="1" smtClean="0">
                            <a:latin typeface="Cambria Math" panose="02040503050406030204" pitchFamily="18" charset="0"/>
                            <a:ea typeface="微软雅黑" panose="020B0503020204020204" pitchFamily="34" charset="-122"/>
                            <a:cs typeface="Times New Roman" panose="02020603050405020304" pitchFamily="18" charset="0"/>
                          </a:rPr>
                          <m:t>𝜆</m:t>
                        </m:r>
                      </m:e>
                      <m:sub>
                        <m:r>
                          <a:rPr lang="en-US" altLang="zh-CN" sz="2200" b="0" i="1" smtClean="0">
                            <a:latin typeface="Cambria Math" panose="02040503050406030204" pitchFamily="18" charset="0"/>
                            <a:ea typeface="微软雅黑" panose="020B0503020204020204" pitchFamily="34" charset="-122"/>
                            <a:cs typeface="Times New Roman" panose="02020603050405020304" pitchFamily="18" charset="0"/>
                          </a:rPr>
                          <m:t>𝑡</m:t>
                        </m:r>
                        <m:r>
                          <a:rPr lang="en-US" altLang="zh-CN" sz="2200" b="0" i="1"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200" b="0" i="1" smtClean="0">
                            <a:latin typeface="Cambria Math" panose="02040503050406030204" pitchFamily="18" charset="0"/>
                            <a:ea typeface="微软雅黑" panose="020B0503020204020204" pitchFamily="34" charset="-122"/>
                            <a:cs typeface="Times New Roman" panose="02020603050405020304" pitchFamily="18" charset="0"/>
                          </a:rPr>
                          <m:t>𝑖</m:t>
                        </m:r>
                      </m:sub>
                      <m:sup>
                        <m:r>
                          <a:rPr lang="en-US" altLang="zh-CN" sz="2200" b="0" i="1" smtClean="0">
                            <a:latin typeface="Cambria Math" panose="02040503050406030204" pitchFamily="18" charset="0"/>
                            <a:ea typeface="微软雅黑" panose="020B0503020204020204" pitchFamily="34" charset="-122"/>
                            <a:cs typeface="Times New Roman" panose="02020603050405020304" pitchFamily="18" charset="0"/>
                          </a:rPr>
                          <m:t>𝐸</m:t>
                        </m:r>
                      </m:sup>
                    </m:sSubSup>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represents the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shadow price of SOC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for the profit of EVA bidding, i.e., the cost of increasing a unit SOC of EV </a:t>
                </a:r>
                <a:r>
                  <a:rPr lang="en-US" altLang="zh-CN" sz="2200" b="1"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at </a:t>
                </a:r>
                <a:r>
                  <a:rPr lang="en-US" altLang="zh-CN" sz="2200" b="1"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p>
              <a:p>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By considering the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impact on future EVA profit through </a:t>
                </a:r>
                <a14:m>
                  <m:oMath xmlns:m="http://schemas.openxmlformats.org/officeDocument/2006/math">
                    <m:sSubSup>
                      <m:sSubSupPr>
                        <m:ctrlPr>
                          <a:rPr lang="en-US" altLang="zh-CN" sz="2200" b="1" i="1">
                            <a:solidFill>
                              <a:schemeClr val="accent1"/>
                            </a:solidFill>
                            <a:latin typeface="Cambria Math" panose="02040503050406030204" pitchFamily="18" charset="0"/>
                            <a:ea typeface="微软雅黑" panose="020B0503020204020204" pitchFamily="34" charset="-122"/>
                            <a:cs typeface="Times New Roman" panose="02020603050405020304" pitchFamily="18" charset="0"/>
                          </a:rPr>
                        </m:ctrlPr>
                      </m:sSubSupPr>
                      <m:e>
                        <m:r>
                          <a:rPr lang="en-US" altLang="zh-CN" sz="2200" b="1" i="1">
                            <a:solidFill>
                              <a:schemeClr val="accent1"/>
                            </a:solidFill>
                            <a:latin typeface="Cambria Math" panose="02040503050406030204" pitchFamily="18" charset="0"/>
                            <a:ea typeface="微软雅黑" panose="020B0503020204020204" pitchFamily="34" charset="-122"/>
                            <a:cs typeface="Times New Roman" panose="02020603050405020304" pitchFamily="18" charset="0"/>
                          </a:rPr>
                          <m:t>𝝀</m:t>
                        </m:r>
                      </m:e>
                      <m:sub>
                        <m:r>
                          <a:rPr lang="en-US" altLang="zh-CN" sz="2200" b="1" i="1">
                            <a:solidFill>
                              <a:schemeClr val="accent1"/>
                            </a:solidFill>
                            <a:latin typeface="Cambria Math" panose="02040503050406030204" pitchFamily="18" charset="0"/>
                            <a:ea typeface="微软雅黑" panose="020B0503020204020204" pitchFamily="34" charset="-122"/>
                            <a:cs typeface="Times New Roman" panose="02020603050405020304" pitchFamily="18" charset="0"/>
                          </a:rPr>
                          <m:t>𝒕</m:t>
                        </m:r>
                        <m:r>
                          <a:rPr lang="en-US" altLang="zh-CN" sz="2200" b="1" i="1">
                            <a:solidFill>
                              <a:schemeClr val="accent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2200" b="1" i="1">
                            <a:solidFill>
                              <a:schemeClr val="accent1"/>
                            </a:solidFill>
                            <a:latin typeface="Cambria Math" panose="02040503050406030204" pitchFamily="18" charset="0"/>
                            <a:ea typeface="微软雅黑" panose="020B0503020204020204" pitchFamily="34" charset="-122"/>
                            <a:cs typeface="Times New Roman" panose="02020603050405020304" pitchFamily="18" charset="0"/>
                          </a:rPr>
                          <m:t>𝒊</m:t>
                        </m:r>
                      </m:sub>
                      <m:sup>
                        <m:r>
                          <a:rPr lang="en-US" altLang="zh-CN" sz="2200" b="1" i="1">
                            <a:solidFill>
                              <a:schemeClr val="accent1"/>
                            </a:solidFill>
                            <a:latin typeface="Cambria Math" panose="02040503050406030204" pitchFamily="18" charset="0"/>
                            <a:ea typeface="微软雅黑" panose="020B0503020204020204" pitchFamily="34" charset="-122"/>
                            <a:cs typeface="Times New Roman" panose="02020603050405020304" pitchFamily="18" charset="0"/>
                          </a:rPr>
                          <m:t>𝑬</m:t>
                        </m:r>
                      </m:sup>
                    </m:sSubSup>
                  </m:oMath>
                </a14:m>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together with the immediately induced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degradation cost, the solution to the power allocation problem maximizes EVA profit.</a:t>
                </a:r>
              </a:p>
            </p:txBody>
          </p:sp>
        </mc:Choice>
        <mc:Fallback xmlns="">
          <p:sp>
            <p:nvSpPr>
              <p:cNvPr id="19" name="矩形 18"/>
              <p:cNvSpPr>
                <a:spLocks noRot="1" noChangeAspect="1" noMove="1" noResize="1" noEditPoints="1" noAdjustHandles="1" noChangeArrowheads="1" noChangeShapeType="1" noTextEdit="1"/>
              </p:cNvSpPr>
              <p:nvPr/>
            </p:nvSpPr>
            <p:spPr>
              <a:xfrm>
                <a:off x="1002416" y="3200623"/>
                <a:ext cx="7376474" cy="2555892"/>
              </a:xfrm>
              <a:prstGeom prst="rect">
                <a:avLst/>
              </a:prstGeom>
              <a:blipFill>
                <a:blip r:embed="rId6"/>
                <a:stretch>
                  <a:fillRect l="-1074" t="-955" r="-744" b="-40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646203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547385" y="6433723"/>
            <a:ext cx="590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800">
                <a:latin typeface="+mj-ea"/>
                <a:ea typeface="+mj-ea"/>
              </a:rPr>
              <a:pPr algn="r" eaLnBrk="1" hangingPunct="1">
                <a:spcBef>
                  <a:spcPct val="0"/>
                </a:spcBef>
                <a:buClrTx/>
                <a:buSzTx/>
                <a:buFontTx/>
                <a:buNone/>
              </a:pPr>
              <a:t>24</a:t>
            </a:fld>
            <a:endParaRPr lang="zh-CN" altLang="en-US" sz="1800">
              <a:latin typeface="+mj-ea"/>
              <a:ea typeface="+mj-ea"/>
            </a:endParaRPr>
          </a:p>
        </p:txBody>
      </p:sp>
      <p:grpSp>
        <p:nvGrpSpPr>
          <p:cNvPr id="8" name="组合 7">
            <a:extLst>
              <a:ext uri="{FF2B5EF4-FFF2-40B4-BE49-F238E27FC236}">
                <a16:creationId xmlns:a16="http://schemas.microsoft.com/office/drawing/2014/main" id="{58E3DE50-2451-47F9-908D-9F3EF8C21538}"/>
              </a:ext>
            </a:extLst>
          </p:cNvPr>
          <p:cNvGrpSpPr/>
          <p:nvPr/>
        </p:nvGrpSpPr>
        <p:grpSpPr>
          <a:xfrm>
            <a:off x="1131469" y="470953"/>
            <a:ext cx="9950488" cy="752836"/>
            <a:chOff x="1131469" y="470953"/>
            <a:chExt cx="9950488" cy="752836"/>
          </a:xfrm>
        </p:grpSpPr>
        <p:sp>
          <p:nvSpPr>
            <p:cNvPr id="10" name="标题 1">
              <a:extLst>
                <a:ext uri="{FF2B5EF4-FFF2-40B4-BE49-F238E27FC236}">
                  <a16:creationId xmlns:a16="http://schemas.microsoft.com/office/drawing/2014/main" id="{90E30881-3990-46FF-91CA-94D01503D6EE}"/>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Power Allocation Model</a:t>
              </a:r>
              <a:endParaRPr lang="zh-CN" altLang="en-US" sz="3600" b="1" spc="600" dirty="0">
                <a:solidFill>
                  <a:schemeClr val="accent1"/>
                </a:solidFill>
                <a:latin typeface="Times New Roman" panose="02020603050405020304" pitchFamily="18" charset="0"/>
                <a:cs typeface="Times New Roman" panose="02020603050405020304" pitchFamily="18" charset="0"/>
              </a:endParaRPr>
            </a:p>
          </p:txBody>
        </p:sp>
        <p:cxnSp>
          <p:nvCxnSpPr>
            <p:cNvPr id="14" name="直接连接符 1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526BB72-6057-486D-80AA-11C7C4AFFF3A}"/>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a:extLst>
              <a:ext uri="{FF2B5EF4-FFF2-40B4-BE49-F238E27FC236}">
                <a16:creationId xmlns:a16="http://schemas.microsoft.com/office/drawing/2014/main" id="{4FE954DD-450F-44BB-989A-98F4B59E2598}"/>
              </a:ext>
            </a:extLst>
          </p:cNvPr>
          <p:cNvCxnSpPr>
            <a:cxnSpLocks/>
          </p:cNvCxnSpPr>
          <p:nvPr/>
        </p:nvCxnSpPr>
        <p:spPr>
          <a:xfrm>
            <a:off x="468516" y="6562973"/>
            <a:ext cx="1125496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721660" y="1445513"/>
            <a:ext cx="3780952" cy="295238"/>
          </a:xfrm>
          <a:prstGeom prst="rect">
            <a:avLst/>
          </a:prstGeom>
        </p:spPr>
      </p:pic>
      <p:sp>
        <p:nvSpPr>
          <p:cNvPr id="6" name="矩形 5"/>
          <p:cNvSpPr/>
          <p:nvPr/>
        </p:nvSpPr>
        <p:spPr>
          <a:xfrm>
            <a:off x="985163" y="1875435"/>
            <a:ext cx="10096794" cy="1107996"/>
          </a:xfrm>
          <a:prstGeom prst="rect">
            <a:avLst/>
          </a:prstGeom>
        </p:spPr>
        <p:txBody>
          <a:bodyPr wrap="square">
            <a:spAutoFit/>
          </a:bodyPr>
          <a:lstStyle/>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In the mathematical meaning, introducing Lagrange multipliers of the bidding problem into the power allocation problem makes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the optimality conditions of the two problems correspond</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Our analysis is based on the following assumptions:</a:t>
            </a:r>
          </a:p>
        </p:txBody>
      </p:sp>
      <p:pic>
        <p:nvPicPr>
          <p:cNvPr id="3" name="图片 2"/>
          <p:cNvPicPr>
            <a:picLocks noChangeAspect="1"/>
          </p:cNvPicPr>
          <p:nvPr/>
        </p:nvPicPr>
        <p:blipFill>
          <a:blip r:embed="rId4"/>
          <a:stretch>
            <a:fillRect/>
          </a:stretch>
        </p:blipFill>
        <p:spPr>
          <a:xfrm>
            <a:off x="2850539" y="3322933"/>
            <a:ext cx="6714286" cy="2476190"/>
          </a:xfrm>
          <a:prstGeom prst="rect">
            <a:avLst/>
          </a:prstGeom>
        </p:spPr>
      </p:pic>
      <p:sp>
        <p:nvSpPr>
          <p:cNvPr id="22" name="矩形 21"/>
          <p:cNvSpPr/>
          <p:nvPr/>
        </p:nvSpPr>
        <p:spPr>
          <a:xfrm>
            <a:off x="2850538" y="3241870"/>
            <a:ext cx="6869533" cy="273830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84597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73F3D11-C8B9-4BBE-BAAA-A55CE5CE1BDB}"/>
              </a:ext>
            </a:extLst>
          </p:cNvPr>
          <p:cNvSpPr>
            <a:spLocks noGrp="1"/>
          </p:cNvSpPr>
          <p:nvPr>
            <p:ph type="sldNum" sz="quarter" idx="12"/>
          </p:nvPr>
        </p:nvSpPr>
        <p:spPr/>
        <p:txBody>
          <a:bodyPr/>
          <a:lstStyle/>
          <a:p>
            <a:fld id="{04FD9700-F5CC-49AF-BD2D-23D2173C44DC}" type="slidenum">
              <a:rPr lang="en-US" smtClean="0"/>
              <a:pPr/>
              <a:t>25</a:t>
            </a:fld>
            <a:endParaRPr lang="en-US" dirty="0"/>
          </a:p>
        </p:txBody>
      </p:sp>
      <p:sp>
        <p:nvSpPr>
          <p:cNvPr id="3" name="标题 1">
            <a:extLst>
              <a:ext uri="{FF2B5EF4-FFF2-40B4-BE49-F238E27FC236}">
                <a16:creationId xmlns:a16="http://schemas.microsoft.com/office/drawing/2014/main" id="{199D58C8-D0B1-47F0-9274-C5AA0D377242}"/>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For Extension</a:t>
            </a:r>
            <a:endParaRPr lang="zh-CN" altLang="en-US" sz="3600" b="1" spc="600" dirty="0">
              <a:solidFill>
                <a:schemeClr val="accent1"/>
              </a:solidFill>
              <a:latin typeface="Times New Roman" panose="02020603050405020304" pitchFamily="18" charset="0"/>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89FD0204-40E9-4FF1-960D-B7298F765193}"/>
              </a:ext>
            </a:extLst>
          </p:cNvPr>
          <p:cNvGraphicFramePr>
            <a:graphicFrameLocks noGrp="1"/>
          </p:cNvGraphicFramePr>
          <p:nvPr>
            <p:custDataLst>
              <p:tags r:id="rId2"/>
            </p:custDataLst>
            <p:extLst>
              <p:ext uri="{D42A27DB-BD31-4B8C-83A1-F6EECF244321}">
                <p14:modId xmlns:p14="http://schemas.microsoft.com/office/powerpoint/2010/main" val="935633310"/>
              </p:ext>
            </p:extLst>
          </p:nvPr>
        </p:nvGraphicFramePr>
        <p:xfrm>
          <a:off x="6354445" y="2585212"/>
          <a:ext cx="5635660" cy="2773680"/>
        </p:xfrm>
        <a:graphic>
          <a:graphicData uri="http://schemas.openxmlformats.org/drawingml/2006/table">
            <a:tbl>
              <a:tblPr firstRow="1" bandRow="1">
                <a:tableStyleId>{5C22544A-7EE6-4342-B048-85BDC9FD1C3A}</a:tableStyleId>
              </a:tblPr>
              <a:tblGrid>
                <a:gridCol w="3967120">
                  <a:extLst>
                    <a:ext uri="{9D8B030D-6E8A-4147-A177-3AD203B41FA5}">
                      <a16:colId xmlns:a16="http://schemas.microsoft.com/office/drawing/2014/main" val="20000"/>
                    </a:ext>
                  </a:extLst>
                </a:gridCol>
                <a:gridCol w="1668540">
                  <a:extLst>
                    <a:ext uri="{9D8B030D-6E8A-4147-A177-3AD203B41FA5}">
                      <a16:colId xmlns:a16="http://schemas.microsoft.com/office/drawing/2014/main" val="20001"/>
                    </a:ext>
                  </a:extLst>
                </a:gridCol>
              </a:tblGrid>
              <a:tr h="648970">
                <a:tc>
                  <a:txBody>
                    <a:bodyPr/>
                    <a:lstStyle/>
                    <a:p>
                      <a:endParaRPr lang="zh-CN"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pitchFamily="34" charset="-122"/>
                          <a:ea typeface="微软雅黑" panose="020B0503020204020204" pitchFamily="34" charset="-122"/>
                          <a:cs typeface="Aparajita" panose="020B0604020202020204" pitchFamily="34" charset="0"/>
                        </a:rPr>
                        <a:t>Power limit</a:t>
                      </a:r>
                    </a:p>
                  </a:txBody>
                  <a:tcPr anchor="ctr"/>
                </a:tc>
                <a:extLst>
                  <a:ext uri="{0D108BD9-81ED-4DB2-BD59-A6C34878D82A}">
                    <a16:rowId xmlns:a16="http://schemas.microsoft.com/office/drawing/2014/main" val="10000"/>
                  </a:ext>
                </a:extLst>
              </a:tr>
              <a:tr h="411480">
                <a:tc>
                  <a:txBody>
                    <a:bodyPr/>
                    <a:lstStyle/>
                    <a:p>
                      <a:endParaRPr lang="zh-CN" altLang="en-US" dirty="0"/>
                    </a:p>
                  </a:txBody>
                  <a:tcPr anchor="ctr"/>
                </a:tc>
                <a:tc>
                  <a:txBody>
                    <a:bodyPr/>
                    <a:lstStyle/>
                    <a:p>
                      <a:pPr>
                        <a:lnSpc>
                          <a:spcPct val="120000"/>
                        </a:lnSpc>
                        <a:defRPr/>
                      </a:pPr>
                      <a:r>
                        <a:rPr lang="en-US" altLang="zh-CN" sz="1600" b="0" dirty="0">
                          <a:solidFill>
                            <a:schemeClr val="tx1"/>
                          </a:solidFill>
                          <a:latin typeface="微软雅黑" panose="020B0503020204020204" pitchFamily="34" charset="-122"/>
                          <a:ea typeface="微软雅黑" panose="020B0503020204020204" pitchFamily="34" charset="-122"/>
                          <a:cs typeface="Aparajita" panose="020B0604020202020204" pitchFamily="34" charset="0"/>
                        </a:rPr>
                        <a:t>Energy limit</a:t>
                      </a:r>
                    </a:p>
                  </a:txBody>
                  <a:tcPr anchor="ctr"/>
                </a:tc>
                <a:extLst>
                  <a:ext uri="{0D108BD9-81ED-4DB2-BD59-A6C34878D82A}">
                    <a16:rowId xmlns:a16="http://schemas.microsoft.com/office/drawing/2014/main" val="10001"/>
                  </a:ext>
                </a:extLst>
              </a:tr>
              <a:tr h="870585">
                <a:tc>
                  <a:txBody>
                    <a:bodyPr/>
                    <a:lstStyle/>
                    <a:p>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pitchFamily="34" charset="-122"/>
                          <a:ea typeface="微软雅黑" panose="020B0503020204020204" pitchFamily="34" charset="-122"/>
                          <a:cs typeface="Aparajita" panose="020B0604020202020204" pitchFamily="34" charset="0"/>
                        </a:rPr>
                        <a:t>Change of energy</a:t>
                      </a:r>
                    </a:p>
                  </a:txBody>
                  <a:tcPr anchor="ctr"/>
                </a:tc>
                <a:extLst>
                  <a:ext uri="{0D108BD9-81ED-4DB2-BD59-A6C34878D82A}">
                    <a16:rowId xmlns:a16="http://schemas.microsoft.com/office/drawing/2014/main" val="10002"/>
                  </a:ext>
                </a:extLst>
              </a:tr>
              <a:tr h="392430">
                <a:tc>
                  <a:txBody>
                    <a:bodyPr/>
                    <a:lstStyle/>
                    <a:p>
                      <a:endParaRPr lang="zh-CN"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pitchFamily="34" charset="-122"/>
                          <a:ea typeface="微软雅黑" panose="020B0503020204020204" pitchFamily="34" charset="-122"/>
                          <a:cs typeface="Aparajita" panose="020B0604020202020204" pitchFamily="34" charset="0"/>
                        </a:rPr>
                        <a:t>Initial energy</a:t>
                      </a:r>
                    </a:p>
                  </a:txBody>
                  <a:tcPr anchor="ctr"/>
                </a:tc>
                <a:extLst>
                  <a:ext uri="{0D108BD9-81ED-4DB2-BD59-A6C34878D82A}">
                    <a16:rowId xmlns:a16="http://schemas.microsoft.com/office/drawing/2014/main" val="10003"/>
                  </a:ext>
                </a:extLst>
              </a:tr>
              <a:tr h="450215">
                <a:tc>
                  <a:txBody>
                    <a:bodyPr/>
                    <a:lstStyle/>
                    <a:p>
                      <a:endParaRPr lang="zh-CN"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00" b="0" dirty="0">
                          <a:solidFill>
                            <a:schemeClr val="tx1"/>
                          </a:solidFill>
                          <a:latin typeface="微软雅黑" panose="020B0503020204020204" pitchFamily="34" charset="-122"/>
                          <a:ea typeface="微软雅黑" panose="020B0503020204020204" pitchFamily="34" charset="-122"/>
                          <a:cs typeface="Aparajita" panose="020B0604020202020204" pitchFamily="34" charset="0"/>
                        </a:rPr>
                        <a:t>Response cost</a:t>
                      </a:r>
                    </a:p>
                  </a:txBody>
                  <a:tcPr anchor="ctr"/>
                </a:tc>
                <a:extLst>
                  <a:ext uri="{0D108BD9-81ED-4DB2-BD59-A6C34878D82A}">
                    <a16:rowId xmlns:a16="http://schemas.microsoft.com/office/drawing/2014/main" val="10004"/>
                  </a:ext>
                </a:extLst>
              </a:tr>
            </a:tbl>
          </a:graphicData>
        </a:graphic>
      </p:graphicFrame>
      <p:graphicFrame>
        <p:nvGraphicFramePr>
          <p:cNvPr id="5" name="对象 4">
            <a:extLst>
              <a:ext uri="{FF2B5EF4-FFF2-40B4-BE49-F238E27FC236}">
                <a16:creationId xmlns:a16="http://schemas.microsoft.com/office/drawing/2014/main" id="{9C940E22-6882-488E-9E03-FB193B1A2026}"/>
              </a:ext>
            </a:extLst>
          </p:cNvPr>
          <p:cNvGraphicFramePr>
            <a:graphicFrameLocks noChangeAspect="1"/>
          </p:cNvGraphicFramePr>
          <p:nvPr>
            <p:custDataLst>
              <p:tags r:id="rId3"/>
            </p:custDataLst>
            <p:extLst>
              <p:ext uri="{D42A27DB-BD31-4B8C-83A1-F6EECF244321}">
                <p14:modId xmlns:p14="http://schemas.microsoft.com/office/powerpoint/2010/main" val="2910342290"/>
              </p:ext>
            </p:extLst>
          </p:nvPr>
        </p:nvGraphicFramePr>
        <p:xfrm>
          <a:off x="6332855" y="2629027"/>
          <a:ext cx="3268345" cy="2137410"/>
        </p:xfrm>
        <a:graphic>
          <a:graphicData uri="http://schemas.openxmlformats.org/presentationml/2006/ole">
            <mc:AlternateContent xmlns:mc="http://schemas.openxmlformats.org/markup-compatibility/2006">
              <mc:Choice xmlns:v="urn:schemas-microsoft-com:vml" Requires="v">
                <p:oleObj spid="_x0000_s1032" name="Equation" r:id="rId6" imgW="2828925" imgH="1725295" progId="Equation.DSMT4">
                  <p:embed/>
                </p:oleObj>
              </mc:Choice>
              <mc:Fallback>
                <p:oleObj name="Equation" r:id="rId6" imgW="2828925" imgH="1725295" progId="Equation.DSMT4">
                  <p:embed/>
                  <p:pic>
                    <p:nvPicPr>
                      <p:cNvPr id="8" name="对象 7"/>
                      <p:cNvPicPr/>
                      <p:nvPr/>
                    </p:nvPicPr>
                    <p:blipFill>
                      <a:blip r:embed="rId7"/>
                      <a:stretch>
                        <a:fillRect/>
                      </a:stretch>
                    </p:blipFill>
                    <p:spPr>
                      <a:xfrm>
                        <a:off x="6332855" y="2629027"/>
                        <a:ext cx="3268345" cy="213741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717DF5C8-3870-4CDF-9FE5-A153A0F7742F}"/>
              </a:ext>
            </a:extLst>
          </p:cNvPr>
          <p:cNvGraphicFramePr>
            <a:graphicFrameLocks noChangeAspect="1"/>
          </p:cNvGraphicFramePr>
          <p:nvPr>
            <p:custDataLst>
              <p:tags r:id="rId4"/>
            </p:custDataLst>
            <p:extLst>
              <p:ext uri="{D42A27DB-BD31-4B8C-83A1-F6EECF244321}">
                <p14:modId xmlns:p14="http://schemas.microsoft.com/office/powerpoint/2010/main" val="4014781580"/>
              </p:ext>
            </p:extLst>
          </p:nvPr>
        </p:nvGraphicFramePr>
        <p:xfrm>
          <a:off x="6532880" y="4914392"/>
          <a:ext cx="2868930" cy="398145"/>
        </p:xfrm>
        <a:graphic>
          <a:graphicData uri="http://schemas.openxmlformats.org/presentationml/2006/ole">
            <mc:AlternateContent xmlns:mc="http://schemas.openxmlformats.org/markup-compatibility/2006">
              <mc:Choice xmlns:v="urn:schemas-microsoft-com:vml" Requires="v">
                <p:oleObj spid="_x0000_s1033" name="Equation" r:id="rId8" imgW="2875915" imgH="372745" progId="Equation.DSMT4">
                  <p:embed/>
                </p:oleObj>
              </mc:Choice>
              <mc:Fallback>
                <p:oleObj name="Equation" r:id="rId8" imgW="2875915" imgH="372745" progId="Equation.DSMT4">
                  <p:embed/>
                  <p:pic>
                    <p:nvPicPr>
                      <p:cNvPr id="11" name="对象 10"/>
                      <p:cNvPicPr/>
                      <p:nvPr/>
                    </p:nvPicPr>
                    <p:blipFill>
                      <a:blip r:embed="rId9"/>
                      <a:stretch>
                        <a:fillRect/>
                      </a:stretch>
                    </p:blipFill>
                    <p:spPr>
                      <a:xfrm>
                        <a:off x="6532880" y="4914392"/>
                        <a:ext cx="2868930" cy="398145"/>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8D28B32B-21A2-4FDB-95F7-D01C0E362488}"/>
              </a:ext>
            </a:extLst>
          </p:cNvPr>
          <p:cNvPicPr>
            <a:picLocks noChangeAspect="1"/>
          </p:cNvPicPr>
          <p:nvPr/>
        </p:nvPicPr>
        <p:blipFill>
          <a:blip r:embed="rId10"/>
          <a:stretch>
            <a:fillRect/>
          </a:stretch>
        </p:blipFill>
        <p:spPr>
          <a:xfrm>
            <a:off x="77620" y="2359025"/>
            <a:ext cx="6266030" cy="4165600"/>
          </a:xfrm>
          <a:prstGeom prst="rect">
            <a:avLst/>
          </a:prstGeom>
        </p:spPr>
      </p:pic>
      <p:sp>
        <p:nvSpPr>
          <p:cNvPr id="10" name="文本框 9">
            <a:extLst>
              <a:ext uri="{FF2B5EF4-FFF2-40B4-BE49-F238E27FC236}">
                <a16:creationId xmlns:a16="http://schemas.microsoft.com/office/drawing/2014/main" id="{EA747E77-2844-470B-A9AD-770460AEF551}"/>
              </a:ext>
            </a:extLst>
          </p:cNvPr>
          <p:cNvSpPr txBox="1"/>
          <p:nvPr/>
        </p:nvSpPr>
        <p:spPr>
          <a:xfrm>
            <a:off x="1110963" y="1251029"/>
            <a:ext cx="10476169" cy="1107996"/>
          </a:xfrm>
          <a:prstGeom prst="rect">
            <a:avLst/>
          </a:prstGeom>
          <a:noFill/>
        </p:spPr>
        <p:txBody>
          <a:bodyPr wrap="square">
            <a:spAutoFit/>
          </a:bodyPr>
          <a:lstStyle/>
          <a:p>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We extended the optimal operation framework to VPPs composed of various distributed resources: establish a standardized model that can express the operating characteristics of multiple distributed resources and everything can be easily applied!</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81956528"/>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dirty="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33" name="文本框 32"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980AD58A-4B9C-486E-B9D7-2E3D0B2DACFC}"/>
              </a:ext>
            </a:extLst>
          </p:cNvPr>
          <p:cNvSpPr txBox="1"/>
          <p:nvPr/>
        </p:nvSpPr>
        <p:spPr>
          <a:xfrm>
            <a:off x="2841829" y="757775"/>
            <a:ext cx="2909604" cy="707886"/>
          </a:xfrm>
          <a:prstGeom prst="rect">
            <a:avLst/>
          </a:prstGeom>
          <a:noFill/>
        </p:spPr>
        <p:txBody>
          <a:bodyPr wrap="square" rtlCol="0">
            <a:spAutoFit/>
          </a:bodyPr>
          <a:lstStyle/>
          <a:p>
            <a:pPr algn="ctr"/>
            <a:r>
              <a:rPr lang="en-US" altLang="zh-CN" sz="4000" b="1" spc="600" dirty="0">
                <a:solidFill>
                  <a:schemeClr val="accent1"/>
                </a:solidFill>
                <a:cs typeface="+mn-ea"/>
                <a:sym typeface="+mn-lt"/>
              </a:rPr>
              <a:t>Contents</a:t>
            </a:r>
          </a:p>
        </p:txBody>
      </p:sp>
      <p:cxnSp>
        <p:nvCxnSpPr>
          <p:cNvPr id="35" name="直接连接符 34"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62E68CC6-D652-442B-8CFE-E1738739FCAB}"/>
              </a:ext>
            </a:extLst>
          </p:cNvPr>
          <p:cNvCxnSpPr>
            <a:cxnSpLocks/>
          </p:cNvCxnSpPr>
          <p:nvPr/>
        </p:nvCxnSpPr>
        <p:spPr>
          <a:xfrm>
            <a:off x="3775329" y="1475258"/>
            <a:ext cx="105944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09E96879-4550-4FE1-B0ED-CF7A3743437F}"/>
              </a:ext>
            </a:extLst>
          </p:cNvPr>
          <p:cNvSpPr>
            <a:spLocks noGrp="1"/>
          </p:cNvSpPr>
          <p:nvPr>
            <p:ph type="sldNum" sz="quarter" idx="4294967295"/>
          </p:nvPr>
        </p:nvSpPr>
        <p:spPr>
          <a:xfrm>
            <a:off x="11620130" y="6026719"/>
            <a:ext cx="464762" cy="365125"/>
          </a:xfrm>
          <a:prstGeom prst="rect">
            <a:avLst/>
          </a:prstGeom>
        </p:spPr>
        <p:txBody>
          <a:bodyPr/>
          <a:lstStyle/>
          <a:p>
            <a:fld id="{04FD9700-F5CC-49AF-BD2D-23D2173C44DC}" type="slidenum">
              <a:rPr lang="en-US" smtClean="0"/>
              <a:t>26</a:t>
            </a:fld>
            <a:endParaRPr lang="en-US" dirty="0"/>
          </a:p>
        </p:txBody>
      </p:sp>
      <p:grpSp>
        <p:nvGrpSpPr>
          <p:cNvPr id="55" name="组合 54">
            <a:extLst>
              <a:ext uri="{FF2B5EF4-FFF2-40B4-BE49-F238E27FC236}">
                <a16:creationId xmlns:a16="http://schemas.microsoft.com/office/drawing/2014/main" id="{16AC2CDE-3D20-4748-BB56-2876C6E466A0}"/>
              </a:ext>
            </a:extLst>
          </p:cNvPr>
          <p:cNvGrpSpPr/>
          <p:nvPr/>
        </p:nvGrpSpPr>
        <p:grpSpPr>
          <a:xfrm>
            <a:off x="2189086" y="4247929"/>
            <a:ext cx="8966594" cy="646331"/>
            <a:chOff x="6841647" y="4201573"/>
            <a:chExt cx="8966594" cy="646331"/>
          </a:xfrm>
        </p:grpSpPr>
        <p:sp>
          <p:nvSpPr>
            <p:cNvPr id="56" name="文本框 55"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8088852" cy="492443"/>
            </a:xfrm>
            <a:prstGeom prst="rect">
              <a:avLst/>
            </a:prstGeom>
            <a:noFill/>
          </p:spPr>
          <p:txBody>
            <a:bodyPr wrap="square" rtlCol="0">
              <a:spAutoFit/>
            </a:bodyPr>
            <a:lstStyle/>
            <a:p>
              <a:pPr lvl="0">
                <a:defRPr/>
              </a:pPr>
              <a:r>
                <a:rPr lang="en-US" altLang="zh-CN" sz="2600" b="1" dirty="0">
                  <a:cs typeface="+mn-ea"/>
                  <a:sym typeface="+mn-lt"/>
                </a:rPr>
                <a:t>Power Allocation Model Based on Lagrange Multipliers</a:t>
              </a:r>
              <a:endParaRPr lang="zh-CN" altLang="en-US" sz="2600" b="1" dirty="0">
                <a:cs typeface="+mn-ea"/>
                <a:sym typeface="+mn-lt"/>
              </a:endParaRPr>
            </a:p>
          </p:txBody>
        </p:sp>
        <p:cxnSp>
          <p:nvCxnSpPr>
            <p:cNvPr id="57" name="直接连接符 56"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文本框 57"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04</a:t>
              </a:r>
              <a:endParaRPr lang="zh-CN" altLang="en-US" sz="3600" b="1" dirty="0">
                <a:solidFill>
                  <a:schemeClr val="tx1">
                    <a:lumMod val="75000"/>
                    <a:lumOff val="25000"/>
                  </a:schemeClr>
                </a:solidFill>
                <a:cs typeface="+mn-ea"/>
                <a:sym typeface="+mn-lt"/>
              </a:endParaRPr>
            </a:p>
          </p:txBody>
        </p:sp>
      </p:grpSp>
      <p:grpSp>
        <p:nvGrpSpPr>
          <p:cNvPr id="87" name="组合 86">
            <a:extLst>
              <a:ext uri="{FF2B5EF4-FFF2-40B4-BE49-F238E27FC236}">
                <a16:creationId xmlns:a16="http://schemas.microsoft.com/office/drawing/2014/main" id="{5FC629E2-1EA5-48E8-B1FA-48F0D9290E6C}"/>
              </a:ext>
            </a:extLst>
          </p:cNvPr>
          <p:cNvGrpSpPr/>
          <p:nvPr/>
        </p:nvGrpSpPr>
        <p:grpSpPr>
          <a:xfrm>
            <a:off x="2189086" y="1888374"/>
            <a:ext cx="5384463" cy="646331"/>
            <a:chOff x="6841647" y="4201573"/>
            <a:chExt cx="5384463" cy="646331"/>
          </a:xfrm>
        </p:grpSpPr>
        <p:sp>
          <p:nvSpPr>
            <p:cNvPr id="88" name="文本框 8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55E5D7A-6AFD-4651-838A-5D4E4ADD8510}"/>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cs typeface="+mn-ea"/>
                  <a:sym typeface="+mn-lt"/>
                </a:rPr>
                <a:t>Background and Motivation</a:t>
              </a:r>
              <a:endParaRPr kumimoji="0" lang="zh-CN" altLang="en-US" sz="2600" b="1" i="0" u="none" strike="noStrike" kern="1200" cap="none" spc="0" normalizeH="0" baseline="0" noProof="0" dirty="0">
                <a:ln>
                  <a:noFill/>
                </a:ln>
                <a:effectLst/>
                <a:uLnTx/>
                <a:uFillTx/>
                <a:cs typeface="+mn-ea"/>
                <a:sym typeface="+mn-lt"/>
              </a:endParaRPr>
            </a:p>
          </p:txBody>
        </p:sp>
        <p:cxnSp>
          <p:nvCxnSpPr>
            <p:cNvPr id="89" name="直接连接符 8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AFE57C9-542A-4A57-94C9-67EDC8E9FE8F}"/>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1" name="文本框 90"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2BBF2294-CDAA-4F37-A18C-12ED54F33174}"/>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01</a:t>
              </a:r>
              <a:endParaRPr lang="zh-CN" altLang="en-US" sz="3600" b="1" dirty="0">
                <a:solidFill>
                  <a:schemeClr val="tx1">
                    <a:lumMod val="75000"/>
                    <a:lumOff val="25000"/>
                  </a:schemeClr>
                </a:solidFill>
                <a:cs typeface="+mn-ea"/>
                <a:sym typeface="+mn-lt"/>
              </a:endParaRPr>
            </a:p>
          </p:txBody>
        </p:sp>
      </p:grpSp>
      <p:grpSp>
        <p:nvGrpSpPr>
          <p:cNvPr id="92" name="组合 91">
            <a:extLst>
              <a:ext uri="{FF2B5EF4-FFF2-40B4-BE49-F238E27FC236}">
                <a16:creationId xmlns:a16="http://schemas.microsoft.com/office/drawing/2014/main" id="{09F7BB3A-1127-4FB9-9BC8-B98C987A73B9}"/>
              </a:ext>
            </a:extLst>
          </p:cNvPr>
          <p:cNvGrpSpPr/>
          <p:nvPr/>
        </p:nvGrpSpPr>
        <p:grpSpPr>
          <a:xfrm>
            <a:off x="2189086" y="2650904"/>
            <a:ext cx="7787018" cy="646331"/>
            <a:chOff x="6841647" y="4201573"/>
            <a:chExt cx="7787018" cy="646331"/>
          </a:xfrm>
        </p:grpSpPr>
        <p:sp>
          <p:nvSpPr>
            <p:cNvPr id="93" name="文本框 92"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9CC1D400-8E93-4E37-9342-1A4AC729E3E6}"/>
                </a:ext>
              </a:extLst>
            </p:cNvPr>
            <p:cNvSpPr txBox="1"/>
            <p:nvPr/>
          </p:nvSpPr>
          <p:spPr>
            <a:xfrm>
              <a:off x="7719389" y="4273538"/>
              <a:ext cx="6909276" cy="492443"/>
            </a:xfrm>
            <a:prstGeom prst="rect">
              <a:avLst/>
            </a:prstGeom>
            <a:noFill/>
          </p:spPr>
          <p:txBody>
            <a:bodyPr wrap="square" rtlCol="0">
              <a:spAutoFit/>
            </a:bodyPr>
            <a:lstStyle/>
            <a:p>
              <a:pPr lvl="0">
                <a:defRPr/>
              </a:pPr>
              <a:r>
                <a:rPr lang="en-US" altLang="zh-CN" sz="2600" b="1" dirty="0">
                  <a:cs typeface="+mn-ea"/>
                  <a:sym typeface="+mn-lt"/>
                </a:rPr>
                <a:t>The proposed framework</a:t>
              </a:r>
              <a:endParaRPr lang="zh-CN" altLang="en-US" sz="2600" b="1" dirty="0">
                <a:cs typeface="+mn-ea"/>
                <a:sym typeface="+mn-lt"/>
              </a:endParaRPr>
            </a:p>
          </p:txBody>
        </p:sp>
        <p:cxnSp>
          <p:nvCxnSpPr>
            <p:cNvPr id="94" name="直接连接符 93"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630301C9-A53E-4928-B693-96C6ABA96668}"/>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5" name="文本框 94"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4C683014-4432-408C-81BB-92B198E8B69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02</a:t>
              </a:r>
              <a:endParaRPr lang="zh-CN" altLang="en-US" sz="3600" b="1" dirty="0">
                <a:solidFill>
                  <a:schemeClr val="tx1">
                    <a:lumMod val="75000"/>
                    <a:lumOff val="25000"/>
                  </a:schemeClr>
                </a:solidFill>
                <a:cs typeface="+mn-ea"/>
                <a:sym typeface="+mn-lt"/>
              </a:endParaRPr>
            </a:p>
          </p:txBody>
        </p:sp>
      </p:grpSp>
      <p:grpSp>
        <p:nvGrpSpPr>
          <p:cNvPr id="96" name="组合 95">
            <a:extLst>
              <a:ext uri="{FF2B5EF4-FFF2-40B4-BE49-F238E27FC236}">
                <a16:creationId xmlns:a16="http://schemas.microsoft.com/office/drawing/2014/main" id="{787391FD-B799-471D-A685-942B88FC17BA}"/>
              </a:ext>
            </a:extLst>
          </p:cNvPr>
          <p:cNvGrpSpPr/>
          <p:nvPr/>
        </p:nvGrpSpPr>
        <p:grpSpPr>
          <a:xfrm>
            <a:off x="2189086" y="3413434"/>
            <a:ext cx="9058034" cy="646331"/>
            <a:chOff x="6841647" y="4201573"/>
            <a:chExt cx="9058034" cy="646331"/>
          </a:xfrm>
        </p:grpSpPr>
        <p:sp>
          <p:nvSpPr>
            <p:cNvPr id="97" name="文本框 96"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D9CE1E3B-02DE-4694-B8DA-F6656119E644}"/>
                </a:ext>
              </a:extLst>
            </p:cNvPr>
            <p:cNvSpPr txBox="1"/>
            <p:nvPr/>
          </p:nvSpPr>
          <p:spPr>
            <a:xfrm>
              <a:off x="7719389" y="4273538"/>
              <a:ext cx="8180292" cy="492443"/>
            </a:xfrm>
            <a:prstGeom prst="rect">
              <a:avLst/>
            </a:prstGeom>
            <a:noFill/>
          </p:spPr>
          <p:txBody>
            <a:bodyPr wrap="square" rtlCol="0">
              <a:spAutoFit/>
            </a:bodyPr>
            <a:lstStyle/>
            <a:p>
              <a:pPr>
                <a:defRPr/>
              </a:pPr>
              <a:r>
                <a:rPr lang="en-US" altLang="zh-CN" sz="2600" b="1" dirty="0">
                  <a:cs typeface="+mn-ea"/>
                  <a:sym typeface="+mn-lt"/>
                </a:rPr>
                <a:t>Optimal Bidding Model with Embedded Power Allocation</a:t>
              </a:r>
              <a:endParaRPr lang="zh-CN" altLang="en-US" sz="2600" b="1" dirty="0">
                <a:cs typeface="+mn-ea"/>
                <a:sym typeface="+mn-lt"/>
              </a:endParaRPr>
            </a:p>
          </p:txBody>
        </p:sp>
        <p:cxnSp>
          <p:nvCxnSpPr>
            <p:cNvPr id="98" name="直接连接符 97"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A0C3B934-213C-4E96-AE20-EC3DC8E21123}"/>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文本框 98"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72EC4A5C-2889-476E-BF52-DFC013053E03}"/>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03</a:t>
              </a:r>
              <a:endParaRPr lang="zh-CN" altLang="en-US" sz="3600" b="1" dirty="0">
                <a:solidFill>
                  <a:schemeClr val="tx1">
                    <a:lumMod val="75000"/>
                    <a:lumOff val="25000"/>
                  </a:schemeClr>
                </a:solidFill>
                <a:cs typeface="+mn-ea"/>
                <a:sym typeface="+mn-lt"/>
              </a:endParaRPr>
            </a:p>
          </p:txBody>
        </p:sp>
      </p:grpSp>
      <p:grpSp>
        <p:nvGrpSpPr>
          <p:cNvPr id="37" name="组合 36">
            <a:extLst>
              <a:ext uri="{FF2B5EF4-FFF2-40B4-BE49-F238E27FC236}">
                <a16:creationId xmlns:a16="http://schemas.microsoft.com/office/drawing/2014/main" id="{16AC2CDE-3D20-4748-BB56-2876C6E466A0}"/>
              </a:ext>
            </a:extLst>
          </p:cNvPr>
          <p:cNvGrpSpPr/>
          <p:nvPr/>
        </p:nvGrpSpPr>
        <p:grpSpPr>
          <a:xfrm>
            <a:off x="2189086" y="5129078"/>
            <a:ext cx="5384463" cy="646331"/>
            <a:chOff x="6841647" y="4201573"/>
            <a:chExt cx="5384463" cy="646331"/>
          </a:xfrm>
        </p:grpSpPr>
        <p:sp>
          <p:nvSpPr>
            <p:cNvPr id="38" name="文本框 37" descr="e7d195523061f1c0220a3acd2f99070e22f7f2176c6c61f4AB5BC6AF3DF28E09514168BD2F6654DA4347BEC42B9A9B38EB2139F52FD80B94EB8F1B847F5BC18ECD11DB8433CCABD6DAEA8D49E99C31D3DFA65C87AB47BEF22E7091100B95F7EB9063B311ACF53306D85C27B5A91A374FC8D0A47885948E52CC1AF70D740300A5601AB3F19CEEC2D4">
              <a:extLst>
                <a:ext uri="{FF2B5EF4-FFF2-40B4-BE49-F238E27FC236}">
                  <a16:creationId xmlns:a16="http://schemas.microsoft.com/office/drawing/2014/main" id="{CBE10483-E974-4873-B38F-D2C002DF47F5}"/>
                </a:ext>
              </a:extLst>
            </p:cNvPr>
            <p:cNvSpPr txBox="1"/>
            <p:nvPr/>
          </p:nvSpPr>
          <p:spPr>
            <a:xfrm>
              <a:off x="7719389" y="4273538"/>
              <a:ext cx="4506721" cy="492443"/>
            </a:xfrm>
            <a:prstGeom prst="rect">
              <a:avLst/>
            </a:prstGeom>
            <a:noFill/>
          </p:spPr>
          <p:txBody>
            <a:bodyPr wrap="square" rtlCol="0">
              <a:spAutoFit/>
            </a:bodyPr>
            <a:lstStyle/>
            <a:p>
              <a:pPr lvl="0">
                <a:defRPr/>
              </a:pPr>
              <a:r>
                <a:rPr lang="en-US" altLang="zh-CN" sz="2600" b="1" dirty="0">
                  <a:solidFill>
                    <a:schemeClr val="accent1"/>
                  </a:solidFill>
                  <a:cs typeface="+mn-ea"/>
                  <a:sym typeface="+mn-lt"/>
                </a:rPr>
                <a:t>Case Study</a:t>
              </a:r>
              <a:endParaRPr lang="zh-CN" altLang="en-US" sz="2600" b="1" dirty="0">
                <a:solidFill>
                  <a:schemeClr val="accent1"/>
                </a:solidFill>
                <a:cs typeface="+mn-ea"/>
                <a:sym typeface="+mn-lt"/>
              </a:endParaRPr>
            </a:p>
          </p:txBody>
        </p:sp>
        <p:cxnSp>
          <p:nvCxnSpPr>
            <p:cNvPr id="39" name="直接连接符 38" descr="e7d195523061f1c0220a3acd2f99070e22f7f2176c6c61f4AB5BC6AF3DF28E09514168BD2F6654DA4347BEC42B9A9B38EB2139F52FD80B94EB8F1B847F5BC18ECD11DB8433CCABD6DAEA8D49E99C31D30DD985C7E7F6586801F1A9D4A6731C7B808AD6DE936560B66AF9ABAFD27B4F14F2216738F2BDCF8E8980047CD5FC5117A8630BC284B82A52">
              <a:extLst>
                <a:ext uri="{FF2B5EF4-FFF2-40B4-BE49-F238E27FC236}">
                  <a16:creationId xmlns:a16="http://schemas.microsoft.com/office/drawing/2014/main" id="{0763271B-E7D3-40CE-8541-4A9854D53B20}"/>
                </a:ext>
              </a:extLst>
            </p:cNvPr>
            <p:cNvCxnSpPr/>
            <p:nvPr/>
          </p:nvCxnSpPr>
          <p:spPr>
            <a:xfrm>
              <a:off x="7586520" y="4248227"/>
              <a:ext cx="0" cy="55302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文本框 39" descr="e7d195523061f1c0220a3acd2f99070e22f7f2176c6c61f4AB5BC6AF3DF28E09514168BD2F6654DA4347BEC42B9A9B38EB2139F52FD80B94EB8F1B847F5BC18ECD11DB8433CCABD6DAEA8D49E99C31D350EAFDAACB317BB3E14408BF66FC528EA6910C26B7E1A625BBC728711ADC406678A592B428A68BC3E54D155740563EF32107E6C5936A62C02D5975A6FA4CF8FB">
              <a:extLst>
                <a:ext uri="{FF2B5EF4-FFF2-40B4-BE49-F238E27FC236}">
                  <a16:creationId xmlns:a16="http://schemas.microsoft.com/office/drawing/2014/main" id="{09C99BDB-0605-46CF-94BB-6E3CAC33B982}"/>
                </a:ext>
              </a:extLst>
            </p:cNvPr>
            <p:cNvSpPr txBox="1"/>
            <p:nvPr/>
          </p:nvSpPr>
          <p:spPr>
            <a:xfrm>
              <a:off x="6841647" y="4201573"/>
              <a:ext cx="652743" cy="646331"/>
            </a:xfrm>
            <a:prstGeom prst="rect">
              <a:avLst/>
            </a:prstGeom>
            <a:noFill/>
          </p:spPr>
          <p:txBody>
            <a:bodyPr wrap="none" rtlCol="0">
              <a:spAutoFit/>
            </a:bodyPr>
            <a:lstStyle/>
            <a:p>
              <a:r>
                <a:rPr lang="en-US" altLang="zh-CN" sz="3600" b="1" dirty="0">
                  <a:solidFill>
                    <a:schemeClr val="tx1">
                      <a:lumMod val="75000"/>
                      <a:lumOff val="25000"/>
                    </a:schemeClr>
                  </a:solidFill>
                  <a:cs typeface="+mn-ea"/>
                  <a:sym typeface="+mn-lt"/>
                </a:rPr>
                <a:t>05</a:t>
              </a:r>
              <a:endParaRPr lang="zh-CN" altLang="en-US" sz="3600" b="1" dirty="0">
                <a:solidFill>
                  <a:schemeClr val="tx1">
                    <a:lumMod val="75000"/>
                    <a:lumOff val="25000"/>
                  </a:schemeClr>
                </a:solidFill>
                <a:cs typeface="+mn-ea"/>
                <a:sym typeface="+mn-lt"/>
              </a:endParaRPr>
            </a:p>
          </p:txBody>
        </p:sp>
      </p:grpSp>
    </p:spTree>
    <p:custDataLst>
      <p:tags r:id="rId1"/>
    </p:custDataLst>
    <p:extLst>
      <p:ext uri="{BB962C8B-B14F-4D97-AF65-F5344CB8AC3E}">
        <p14:creationId xmlns:p14="http://schemas.microsoft.com/office/powerpoint/2010/main" val="923719397"/>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454761" y="6441948"/>
            <a:ext cx="624537" cy="3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400">
                <a:latin typeface="+mj-ea"/>
                <a:ea typeface="+mj-ea"/>
              </a:rPr>
              <a:pPr algn="r" eaLnBrk="1" hangingPunct="1">
                <a:spcBef>
                  <a:spcPct val="0"/>
                </a:spcBef>
                <a:buClrTx/>
                <a:buSzTx/>
                <a:buFontTx/>
                <a:buNone/>
              </a:pPr>
              <a:t>27</a:t>
            </a:fld>
            <a:endParaRPr lang="zh-CN" altLang="en-US" sz="1400" dirty="0">
              <a:latin typeface="+mj-ea"/>
              <a:ea typeface="+mj-ea"/>
            </a:endParaRPr>
          </a:p>
        </p:txBody>
      </p:sp>
      <p:sp>
        <p:nvSpPr>
          <p:cNvPr id="9" name="矩形 8"/>
          <p:cNvSpPr/>
          <p:nvPr/>
        </p:nvSpPr>
        <p:spPr>
          <a:xfrm>
            <a:off x="780783" y="1572824"/>
            <a:ext cx="10986246" cy="892552"/>
          </a:xfrm>
          <a:prstGeom prst="rect">
            <a:avLst/>
          </a:prstGeom>
          <a:solidFill>
            <a:srgbClr val="EAF6FC"/>
          </a:solidFill>
        </p:spPr>
        <p:txBody>
          <a:bodyPr wrap="square">
            <a:spAutoFit/>
          </a:bodyPr>
          <a:lstStyle/>
          <a:p>
            <a:pPr marL="342900" indent="-342900" fontAlgn="base">
              <a:lnSpc>
                <a:spcPct val="130000"/>
              </a:lnSpc>
              <a:spcBef>
                <a:spcPct val="0"/>
              </a:spcBef>
              <a:spcAft>
                <a:spcPct val="0"/>
              </a:spcAft>
              <a:buFont typeface="Arial" panose="020B0604020202020204" pitchFamily="34" charset="0"/>
              <a:buChar char="•"/>
              <a:defRPr/>
            </a:pPr>
            <a:r>
              <a:rPr lang="en-US" altLang="zh-CN" sz="2000" dirty="0">
                <a:latin typeface="Times New Roman" panose="02020603050405020304" pitchFamily="18" charset="0"/>
                <a:ea typeface="+mj-ea"/>
                <a:cs typeface="Times New Roman" panose="02020603050405020304" pitchFamily="18" charset="0"/>
              </a:rPr>
              <a:t>We used historical market data in July 2022 from PJM. We assumed that the prices can be accurately forecasted while the regulation-signal-related parameters in the bidding problem are forecasted results.</a:t>
            </a:r>
          </a:p>
        </p:txBody>
      </p:sp>
      <p:grpSp>
        <p:nvGrpSpPr>
          <p:cNvPr id="331" name="组合 330">
            <a:extLst>
              <a:ext uri="{FF2B5EF4-FFF2-40B4-BE49-F238E27FC236}">
                <a16:creationId xmlns:a16="http://schemas.microsoft.com/office/drawing/2014/main" id="{CABF3368-3586-407F-A169-A9CF11F85941}"/>
              </a:ext>
            </a:extLst>
          </p:cNvPr>
          <p:cNvGrpSpPr/>
          <p:nvPr/>
        </p:nvGrpSpPr>
        <p:grpSpPr>
          <a:xfrm>
            <a:off x="1131469" y="470953"/>
            <a:ext cx="9950488" cy="752836"/>
            <a:chOff x="1131469" y="470953"/>
            <a:chExt cx="9950488" cy="752836"/>
          </a:xfrm>
        </p:grpSpPr>
        <p:sp>
          <p:nvSpPr>
            <p:cNvPr id="332" name="标题 1">
              <a:extLst>
                <a:ext uri="{FF2B5EF4-FFF2-40B4-BE49-F238E27FC236}">
                  <a16:creationId xmlns:a16="http://schemas.microsoft.com/office/drawing/2014/main" id="{5DDE7EDF-E4A9-4F97-821C-530F2D3E43E0}"/>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Case Study</a:t>
              </a:r>
            </a:p>
          </p:txBody>
        </p:sp>
        <p:cxnSp>
          <p:nvCxnSpPr>
            <p:cNvPr id="334" name="直接连接符 33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1737BC3-F004-4CC4-9FA4-7F038A354941}"/>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35" name="图片 334"/>
          <p:cNvPicPr>
            <a:picLocks noChangeAspect="1"/>
          </p:cNvPicPr>
          <p:nvPr/>
        </p:nvPicPr>
        <p:blipFill>
          <a:blip r:embed="rId3"/>
          <a:stretch>
            <a:fillRect/>
          </a:stretch>
        </p:blipFill>
        <p:spPr>
          <a:xfrm>
            <a:off x="1186463" y="28986928"/>
            <a:ext cx="6311404" cy="6109976"/>
          </a:xfrm>
          <a:prstGeom prst="rect">
            <a:avLst/>
          </a:prstGeom>
        </p:spPr>
      </p:pic>
      <p:sp>
        <p:nvSpPr>
          <p:cNvPr id="340" name="文本占位符 27"/>
          <p:cNvSpPr txBox="1">
            <a:spLocks/>
          </p:cNvSpPr>
          <p:nvPr/>
        </p:nvSpPr>
        <p:spPr>
          <a:xfrm>
            <a:off x="105443" y="35097579"/>
            <a:ext cx="8481442" cy="62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t>联络线交换功率、容量价格均收敛</a:t>
            </a:r>
            <a:endParaRPr lang="zh-CN" altLang="en-US" dirty="0"/>
          </a:p>
        </p:txBody>
      </p:sp>
      <p:pic>
        <p:nvPicPr>
          <p:cNvPr id="2" name="图片 1"/>
          <p:cNvPicPr>
            <a:picLocks noChangeAspect="1"/>
          </p:cNvPicPr>
          <p:nvPr/>
        </p:nvPicPr>
        <p:blipFill>
          <a:blip r:embed="rId4"/>
          <a:stretch>
            <a:fillRect/>
          </a:stretch>
        </p:blipFill>
        <p:spPr>
          <a:xfrm>
            <a:off x="4144061" y="4350066"/>
            <a:ext cx="3903878" cy="2233934"/>
          </a:xfrm>
          <a:prstGeom prst="rect">
            <a:avLst/>
          </a:prstGeom>
        </p:spPr>
      </p:pic>
      <p:pic>
        <p:nvPicPr>
          <p:cNvPr id="3" name="图片 2"/>
          <p:cNvPicPr>
            <a:picLocks noChangeAspect="1"/>
          </p:cNvPicPr>
          <p:nvPr/>
        </p:nvPicPr>
        <p:blipFill>
          <a:blip r:embed="rId5"/>
          <a:stretch>
            <a:fillRect/>
          </a:stretch>
        </p:blipFill>
        <p:spPr>
          <a:xfrm>
            <a:off x="8055225" y="4294904"/>
            <a:ext cx="3549997" cy="2342573"/>
          </a:xfrm>
          <a:prstGeom prst="rect">
            <a:avLst/>
          </a:prstGeom>
        </p:spPr>
      </p:pic>
      <p:pic>
        <p:nvPicPr>
          <p:cNvPr id="5" name="图片 4"/>
          <p:cNvPicPr>
            <a:picLocks noChangeAspect="1"/>
          </p:cNvPicPr>
          <p:nvPr/>
        </p:nvPicPr>
        <p:blipFill>
          <a:blip r:embed="rId6"/>
          <a:stretch>
            <a:fillRect/>
          </a:stretch>
        </p:blipFill>
        <p:spPr>
          <a:xfrm>
            <a:off x="922853" y="1196777"/>
            <a:ext cx="3899313" cy="360582"/>
          </a:xfrm>
          <a:prstGeom prst="rect">
            <a:avLst/>
          </a:prstGeom>
        </p:spPr>
      </p:pic>
      <p:pic>
        <p:nvPicPr>
          <p:cNvPr id="4" name="图片 3"/>
          <p:cNvPicPr>
            <a:picLocks noChangeAspect="1"/>
          </p:cNvPicPr>
          <p:nvPr/>
        </p:nvPicPr>
        <p:blipFill>
          <a:blip r:embed="rId7"/>
          <a:stretch>
            <a:fillRect/>
          </a:stretch>
        </p:blipFill>
        <p:spPr>
          <a:xfrm>
            <a:off x="1625585" y="2480841"/>
            <a:ext cx="8962256" cy="1840009"/>
          </a:xfrm>
          <a:prstGeom prst="rect">
            <a:avLst/>
          </a:prstGeom>
        </p:spPr>
      </p:pic>
      <p:pic>
        <p:nvPicPr>
          <p:cNvPr id="6" name="图片 5"/>
          <p:cNvPicPr>
            <a:picLocks noChangeAspect="1"/>
          </p:cNvPicPr>
          <p:nvPr/>
        </p:nvPicPr>
        <p:blipFill>
          <a:blip r:embed="rId8"/>
          <a:stretch>
            <a:fillRect/>
          </a:stretch>
        </p:blipFill>
        <p:spPr>
          <a:xfrm>
            <a:off x="348974" y="4434199"/>
            <a:ext cx="3787801" cy="2126939"/>
          </a:xfrm>
          <a:prstGeom prst="rect">
            <a:avLst/>
          </a:prstGeom>
        </p:spPr>
      </p:pic>
    </p:spTree>
    <p:extLst>
      <p:ext uri="{BB962C8B-B14F-4D97-AF65-F5344CB8AC3E}">
        <p14:creationId xmlns:p14="http://schemas.microsoft.com/office/powerpoint/2010/main" val="214319120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454761" y="6441948"/>
            <a:ext cx="624537" cy="3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400">
                <a:latin typeface="+mj-ea"/>
                <a:ea typeface="+mj-ea"/>
              </a:rPr>
              <a:pPr algn="r" eaLnBrk="1" hangingPunct="1">
                <a:spcBef>
                  <a:spcPct val="0"/>
                </a:spcBef>
                <a:buClrTx/>
                <a:buSzTx/>
                <a:buFontTx/>
                <a:buNone/>
              </a:pPr>
              <a:t>28</a:t>
            </a:fld>
            <a:endParaRPr lang="zh-CN" altLang="en-US" sz="1400" dirty="0">
              <a:latin typeface="+mj-ea"/>
              <a:ea typeface="+mj-ea"/>
            </a:endParaRPr>
          </a:p>
        </p:txBody>
      </p:sp>
      <p:grpSp>
        <p:nvGrpSpPr>
          <p:cNvPr id="331" name="组合 330">
            <a:extLst>
              <a:ext uri="{FF2B5EF4-FFF2-40B4-BE49-F238E27FC236}">
                <a16:creationId xmlns:a16="http://schemas.microsoft.com/office/drawing/2014/main" id="{CABF3368-3586-407F-A169-A9CF11F85941}"/>
              </a:ext>
            </a:extLst>
          </p:cNvPr>
          <p:cNvGrpSpPr/>
          <p:nvPr/>
        </p:nvGrpSpPr>
        <p:grpSpPr>
          <a:xfrm>
            <a:off x="1131469" y="470953"/>
            <a:ext cx="9950488" cy="752836"/>
            <a:chOff x="1131469" y="470953"/>
            <a:chExt cx="9950488" cy="752836"/>
          </a:xfrm>
        </p:grpSpPr>
        <p:sp>
          <p:nvSpPr>
            <p:cNvPr id="332" name="标题 1">
              <a:extLst>
                <a:ext uri="{FF2B5EF4-FFF2-40B4-BE49-F238E27FC236}">
                  <a16:creationId xmlns:a16="http://schemas.microsoft.com/office/drawing/2014/main" id="{5DDE7EDF-E4A9-4F97-821C-530F2D3E43E0}"/>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Case Study</a:t>
              </a:r>
            </a:p>
          </p:txBody>
        </p:sp>
        <p:cxnSp>
          <p:nvCxnSpPr>
            <p:cNvPr id="334" name="直接连接符 33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1737BC3-F004-4CC4-9FA4-7F038A354941}"/>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35" name="图片 334"/>
          <p:cNvPicPr>
            <a:picLocks noChangeAspect="1"/>
          </p:cNvPicPr>
          <p:nvPr/>
        </p:nvPicPr>
        <p:blipFill>
          <a:blip r:embed="rId3"/>
          <a:stretch>
            <a:fillRect/>
          </a:stretch>
        </p:blipFill>
        <p:spPr>
          <a:xfrm>
            <a:off x="1186463" y="28986928"/>
            <a:ext cx="6311404" cy="6109976"/>
          </a:xfrm>
          <a:prstGeom prst="rect">
            <a:avLst/>
          </a:prstGeom>
        </p:spPr>
      </p:pic>
      <p:sp>
        <p:nvSpPr>
          <p:cNvPr id="340" name="文本占位符 27"/>
          <p:cNvSpPr txBox="1">
            <a:spLocks/>
          </p:cNvSpPr>
          <p:nvPr/>
        </p:nvSpPr>
        <p:spPr>
          <a:xfrm>
            <a:off x="105443" y="35097579"/>
            <a:ext cx="8481442" cy="62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t>联络线交换功率、容量价格均收敛</a:t>
            </a:r>
            <a:endParaRPr lang="zh-CN" altLang="en-US" dirty="0"/>
          </a:p>
        </p:txBody>
      </p:sp>
      <p:pic>
        <p:nvPicPr>
          <p:cNvPr id="10" name="图片 9"/>
          <p:cNvPicPr>
            <a:picLocks noChangeAspect="1"/>
          </p:cNvPicPr>
          <p:nvPr/>
        </p:nvPicPr>
        <p:blipFill>
          <a:blip r:embed="rId4"/>
          <a:stretch>
            <a:fillRect/>
          </a:stretch>
        </p:blipFill>
        <p:spPr>
          <a:xfrm>
            <a:off x="781890" y="1480986"/>
            <a:ext cx="5166281" cy="4840192"/>
          </a:xfrm>
          <a:prstGeom prst="rect">
            <a:avLst/>
          </a:prstGeom>
        </p:spPr>
      </p:pic>
      <p:pic>
        <p:nvPicPr>
          <p:cNvPr id="11" name="图片 10"/>
          <p:cNvPicPr>
            <a:picLocks noChangeAspect="1"/>
          </p:cNvPicPr>
          <p:nvPr/>
        </p:nvPicPr>
        <p:blipFill>
          <a:blip r:embed="rId5"/>
          <a:stretch>
            <a:fillRect/>
          </a:stretch>
        </p:blipFill>
        <p:spPr>
          <a:xfrm>
            <a:off x="6564427" y="3651547"/>
            <a:ext cx="3838043" cy="2874808"/>
          </a:xfrm>
          <a:prstGeom prst="rect">
            <a:avLst/>
          </a:prstGeom>
        </p:spPr>
      </p:pic>
      <p:pic>
        <p:nvPicPr>
          <p:cNvPr id="18" name="图片 17"/>
          <p:cNvPicPr>
            <a:picLocks noChangeAspect="1"/>
          </p:cNvPicPr>
          <p:nvPr/>
        </p:nvPicPr>
        <p:blipFill>
          <a:blip r:embed="rId6"/>
          <a:stretch>
            <a:fillRect/>
          </a:stretch>
        </p:blipFill>
        <p:spPr>
          <a:xfrm>
            <a:off x="6564427" y="1280441"/>
            <a:ext cx="4082143" cy="2314453"/>
          </a:xfrm>
          <a:prstGeom prst="rect">
            <a:avLst/>
          </a:prstGeom>
        </p:spPr>
      </p:pic>
    </p:spTree>
    <p:extLst>
      <p:ext uri="{BB962C8B-B14F-4D97-AF65-F5344CB8AC3E}">
        <p14:creationId xmlns:p14="http://schemas.microsoft.com/office/powerpoint/2010/main" val="179317182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454761" y="6441948"/>
            <a:ext cx="624537" cy="3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400">
                <a:latin typeface="+mj-ea"/>
                <a:ea typeface="+mj-ea"/>
              </a:rPr>
              <a:pPr algn="r" eaLnBrk="1" hangingPunct="1">
                <a:spcBef>
                  <a:spcPct val="0"/>
                </a:spcBef>
                <a:buClrTx/>
                <a:buSzTx/>
                <a:buFontTx/>
                <a:buNone/>
              </a:pPr>
              <a:t>29</a:t>
            </a:fld>
            <a:endParaRPr lang="zh-CN" altLang="en-US" sz="1400" dirty="0">
              <a:latin typeface="+mj-ea"/>
              <a:ea typeface="+mj-ea"/>
            </a:endParaRPr>
          </a:p>
        </p:txBody>
      </p:sp>
      <p:grpSp>
        <p:nvGrpSpPr>
          <p:cNvPr id="331" name="组合 330">
            <a:extLst>
              <a:ext uri="{FF2B5EF4-FFF2-40B4-BE49-F238E27FC236}">
                <a16:creationId xmlns:a16="http://schemas.microsoft.com/office/drawing/2014/main" id="{CABF3368-3586-407F-A169-A9CF11F85941}"/>
              </a:ext>
            </a:extLst>
          </p:cNvPr>
          <p:cNvGrpSpPr/>
          <p:nvPr/>
        </p:nvGrpSpPr>
        <p:grpSpPr>
          <a:xfrm>
            <a:off x="1131469" y="470953"/>
            <a:ext cx="9950488" cy="752836"/>
            <a:chOff x="1131469" y="470953"/>
            <a:chExt cx="9950488" cy="752836"/>
          </a:xfrm>
        </p:grpSpPr>
        <p:sp>
          <p:nvSpPr>
            <p:cNvPr id="332" name="标题 1">
              <a:extLst>
                <a:ext uri="{FF2B5EF4-FFF2-40B4-BE49-F238E27FC236}">
                  <a16:creationId xmlns:a16="http://schemas.microsoft.com/office/drawing/2014/main" id="{5DDE7EDF-E4A9-4F97-821C-530F2D3E43E0}"/>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Case Study</a:t>
              </a:r>
            </a:p>
          </p:txBody>
        </p:sp>
        <p:cxnSp>
          <p:nvCxnSpPr>
            <p:cNvPr id="334" name="直接连接符 33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1737BC3-F004-4CC4-9FA4-7F038A354941}"/>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35" name="图片 334"/>
          <p:cNvPicPr>
            <a:picLocks noChangeAspect="1"/>
          </p:cNvPicPr>
          <p:nvPr/>
        </p:nvPicPr>
        <p:blipFill>
          <a:blip r:embed="rId3"/>
          <a:stretch>
            <a:fillRect/>
          </a:stretch>
        </p:blipFill>
        <p:spPr>
          <a:xfrm>
            <a:off x="1186463" y="28986928"/>
            <a:ext cx="6311404" cy="6109976"/>
          </a:xfrm>
          <a:prstGeom prst="rect">
            <a:avLst/>
          </a:prstGeom>
        </p:spPr>
      </p:pic>
      <p:sp>
        <p:nvSpPr>
          <p:cNvPr id="340" name="文本占位符 27"/>
          <p:cNvSpPr txBox="1">
            <a:spLocks/>
          </p:cNvSpPr>
          <p:nvPr/>
        </p:nvSpPr>
        <p:spPr>
          <a:xfrm>
            <a:off x="105443" y="35097579"/>
            <a:ext cx="8481442" cy="62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t>联络线交换功率、容量价格均收敛</a:t>
            </a:r>
            <a:endParaRPr lang="zh-CN" altLang="en-US" dirty="0"/>
          </a:p>
        </p:txBody>
      </p:sp>
      <p:pic>
        <p:nvPicPr>
          <p:cNvPr id="4" name="图片 3"/>
          <p:cNvPicPr>
            <a:picLocks noChangeAspect="1"/>
          </p:cNvPicPr>
          <p:nvPr/>
        </p:nvPicPr>
        <p:blipFill>
          <a:blip r:embed="rId4"/>
          <a:stretch>
            <a:fillRect/>
          </a:stretch>
        </p:blipFill>
        <p:spPr>
          <a:xfrm>
            <a:off x="680848" y="6092140"/>
            <a:ext cx="6205683" cy="699615"/>
          </a:xfrm>
          <a:prstGeom prst="rect">
            <a:avLst/>
          </a:prstGeom>
        </p:spPr>
      </p:pic>
      <p:sp>
        <p:nvSpPr>
          <p:cNvPr id="5" name="矩形 4"/>
          <p:cNvSpPr/>
          <p:nvPr/>
        </p:nvSpPr>
        <p:spPr>
          <a:xfrm>
            <a:off x="576974" y="1183079"/>
            <a:ext cx="5759697" cy="707886"/>
          </a:xfrm>
          <a:prstGeom prst="rect">
            <a:avLst/>
          </a:prstGeom>
        </p:spPr>
        <p:txBody>
          <a:bodyPr wrap="square">
            <a:spAutoFit/>
          </a:bodyPr>
          <a:lstStyle/>
          <a:p>
            <a:r>
              <a:rPr lang="en-US" altLang="zh-CN" sz="2000" dirty="0">
                <a:latin typeface="Times New Roman" panose="02020603050405020304" pitchFamily="18" charset="0"/>
                <a:ea typeface="+mj-ea"/>
                <a:cs typeface="Times New Roman" panose="02020603050405020304" pitchFamily="18" charset="0"/>
              </a:rPr>
              <a:t>EV211: Type a (low degradation cost), arrived at 18:00 on the 17th and left at 10:00 on the 18th).</a:t>
            </a:r>
          </a:p>
        </p:txBody>
      </p:sp>
      <p:pic>
        <p:nvPicPr>
          <p:cNvPr id="7" name="图片 6"/>
          <p:cNvPicPr>
            <a:picLocks noChangeAspect="1"/>
          </p:cNvPicPr>
          <p:nvPr/>
        </p:nvPicPr>
        <p:blipFill>
          <a:blip r:embed="rId5"/>
          <a:stretch>
            <a:fillRect/>
          </a:stretch>
        </p:blipFill>
        <p:spPr>
          <a:xfrm>
            <a:off x="454081" y="3870099"/>
            <a:ext cx="6783479" cy="2136328"/>
          </a:xfrm>
          <a:prstGeom prst="rect">
            <a:avLst/>
          </a:prstGeom>
        </p:spPr>
      </p:pic>
      <p:pic>
        <p:nvPicPr>
          <p:cNvPr id="6" name="图片 5"/>
          <p:cNvPicPr>
            <a:picLocks noChangeAspect="1"/>
          </p:cNvPicPr>
          <p:nvPr/>
        </p:nvPicPr>
        <p:blipFill>
          <a:blip r:embed="rId6"/>
          <a:stretch>
            <a:fillRect/>
          </a:stretch>
        </p:blipFill>
        <p:spPr>
          <a:xfrm>
            <a:off x="454082" y="1850254"/>
            <a:ext cx="6783479" cy="2128316"/>
          </a:xfrm>
          <a:prstGeom prst="rect">
            <a:avLst/>
          </a:prstGeom>
        </p:spPr>
      </p:pic>
      <p:sp>
        <p:nvSpPr>
          <p:cNvPr id="17" name="矩形 16"/>
          <p:cNvSpPr/>
          <p:nvPr/>
        </p:nvSpPr>
        <p:spPr>
          <a:xfrm>
            <a:off x="7328232" y="1911744"/>
            <a:ext cx="4308801" cy="3816429"/>
          </a:xfrm>
          <a:prstGeom prst="rect">
            <a:avLst/>
          </a:prstGeom>
          <a:solidFill>
            <a:srgbClr val="EAF6FC"/>
          </a:solidFill>
        </p:spPr>
        <p:txBody>
          <a:bodyPr wrap="square">
            <a:spAutoFit/>
          </a:bodyPr>
          <a:lstStyle/>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Proportional Allocation: failing to utilize the low degradation cost of EV211.</a:t>
            </a:r>
          </a:p>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Minimum Degradation: ignoring the impact of discharging EV211 on future EVA profit.</a:t>
            </a:r>
          </a:p>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Heuristic Weight: partially reconciles the aim of reducing degradation costs and increasing future income.</a:t>
            </a:r>
          </a:p>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Proposed Method: optimal.</a:t>
            </a:r>
          </a:p>
        </p:txBody>
      </p:sp>
    </p:spTree>
    <p:extLst>
      <p:ext uri="{BB962C8B-B14F-4D97-AF65-F5344CB8AC3E}">
        <p14:creationId xmlns:p14="http://schemas.microsoft.com/office/powerpoint/2010/main" val="360570302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454761" y="6441948"/>
            <a:ext cx="624537" cy="3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4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30</a:t>
            </a:fld>
            <a:endParaRPr lang="zh-CN" altLang="en-US" sz="1400" dirty="0">
              <a:latin typeface="Times New Roman" panose="02020603050405020304" pitchFamily="18" charset="0"/>
              <a:ea typeface="+mj-ea"/>
              <a:cs typeface="Times New Roman" panose="02020603050405020304" pitchFamily="18" charset="0"/>
            </a:endParaRPr>
          </a:p>
        </p:txBody>
      </p:sp>
      <p:grpSp>
        <p:nvGrpSpPr>
          <p:cNvPr id="331" name="组合 330">
            <a:extLst>
              <a:ext uri="{FF2B5EF4-FFF2-40B4-BE49-F238E27FC236}">
                <a16:creationId xmlns:a16="http://schemas.microsoft.com/office/drawing/2014/main" id="{CABF3368-3586-407F-A169-A9CF11F85941}"/>
              </a:ext>
            </a:extLst>
          </p:cNvPr>
          <p:cNvGrpSpPr/>
          <p:nvPr/>
        </p:nvGrpSpPr>
        <p:grpSpPr>
          <a:xfrm>
            <a:off x="1131469" y="470953"/>
            <a:ext cx="9950488" cy="752836"/>
            <a:chOff x="1131469" y="470953"/>
            <a:chExt cx="9950488" cy="752836"/>
          </a:xfrm>
        </p:grpSpPr>
        <p:sp>
          <p:nvSpPr>
            <p:cNvPr id="332" name="标题 1">
              <a:extLst>
                <a:ext uri="{FF2B5EF4-FFF2-40B4-BE49-F238E27FC236}">
                  <a16:creationId xmlns:a16="http://schemas.microsoft.com/office/drawing/2014/main" id="{5DDE7EDF-E4A9-4F97-821C-530F2D3E43E0}"/>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Case Study</a:t>
              </a:r>
            </a:p>
          </p:txBody>
        </p:sp>
        <p:cxnSp>
          <p:nvCxnSpPr>
            <p:cNvPr id="334" name="直接连接符 33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1737BC3-F004-4CC4-9FA4-7F038A354941}"/>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35" name="图片 334"/>
          <p:cNvPicPr>
            <a:picLocks noChangeAspect="1"/>
          </p:cNvPicPr>
          <p:nvPr/>
        </p:nvPicPr>
        <p:blipFill>
          <a:blip r:embed="rId3"/>
          <a:stretch>
            <a:fillRect/>
          </a:stretch>
        </p:blipFill>
        <p:spPr>
          <a:xfrm>
            <a:off x="1186463" y="28986928"/>
            <a:ext cx="6311404" cy="6109976"/>
          </a:xfrm>
          <a:prstGeom prst="rect">
            <a:avLst/>
          </a:prstGeom>
        </p:spPr>
      </p:pic>
      <p:sp>
        <p:nvSpPr>
          <p:cNvPr id="340" name="文本占位符 27"/>
          <p:cNvSpPr txBox="1">
            <a:spLocks/>
          </p:cNvSpPr>
          <p:nvPr/>
        </p:nvSpPr>
        <p:spPr>
          <a:xfrm>
            <a:off x="105443" y="35097579"/>
            <a:ext cx="8481442" cy="62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latin typeface="Times New Roman" panose="02020603050405020304" pitchFamily="18" charset="0"/>
                <a:cs typeface="Times New Roman" panose="02020603050405020304" pitchFamily="18" charset="0"/>
              </a:rPr>
              <a:t>联络线交换功率、容量价格均收敛</a:t>
            </a:r>
            <a:endParaRPr lang="zh-CN" altLang="en-US"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1270958" y="1569020"/>
            <a:ext cx="4397005" cy="3080617"/>
          </a:xfrm>
          <a:prstGeom prst="rect">
            <a:avLst/>
          </a:prstGeom>
        </p:spPr>
      </p:pic>
      <p:sp>
        <p:nvSpPr>
          <p:cNvPr id="7" name="矩形 6"/>
          <p:cNvSpPr/>
          <p:nvPr/>
        </p:nvSpPr>
        <p:spPr>
          <a:xfrm>
            <a:off x="1186463" y="4906435"/>
            <a:ext cx="4715774" cy="1631216"/>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Compared to the Proportional Allocation method (blue), the increase ratio of profits using the proposed method (red) ranges between 6.5% and 41.3%, and the total profit of the 14 days is increased by 13.4%.</a:t>
            </a:r>
            <a:endParaRPr lang="zh-CN" altLang="en-US" sz="2000" dirty="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5"/>
          <a:stretch>
            <a:fillRect/>
          </a:stretch>
        </p:blipFill>
        <p:spPr>
          <a:xfrm>
            <a:off x="6096000" y="1569020"/>
            <a:ext cx="4746242" cy="3337415"/>
          </a:xfrm>
          <a:prstGeom prst="rect">
            <a:avLst/>
          </a:prstGeom>
        </p:spPr>
      </p:pic>
      <p:sp>
        <p:nvSpPr>
          <p:cNvPr id="9" name="矩形 8"/>
          <p:cNvSpPr/>
          <p:nvPr/>
        </p:nvSpPr>
        <p:spPr>
          <a:xfrm>
            <a:off x="6096000" y="4906435"/>
            <a:ext cx="6096000" cy="1938992"/>
          </a:xfrm>
          <a:prstGeom prst="rect">
            <a:avLst/>
          </a:prstGeom>
        </p:spPr>
        <p:txBody>
          <a:bodyPr>
            <a:spAutoFit/>
          </a:bodyPr>
          <a:lstStyle/>
          <a:p>
            <a:r>
              <a:rPr lang="en-US" altLang="zh-CN" sz="2000" dirty="0">
                <a:solidFill>
                  <a:srgbClr val="000000"/>
                </a:solidFill>
                <a:latin typeface="Times New Roman" panose="02020603050405020304" pitchFamily="18" charset="0"/>
                <a:cs typeface="Times New Roman" panose="02020603050405020304" pitchFamily="18" charset="0"/>
              </a:rPr>
              <a:t>Compared with the Proportional Allocation method</a:t>
            </a:r>
            <a:br>
              <a:rPr lang="en-US" altLang="zh-CN" sz="2000" dirty="0">
                <a:solidFill>
                  <a:srgbClr val="000000"/>
                </a:solidFill>
                <a:latin typeface="Times New Roman" panose="02020603050405020304" pitchFamily="18" charset="0"/>
                <a:cs typeface="Times New Roman" panose="02020603050405020304" pitchFamily="18" charset="0"/>
              </a:rPr>
            </a:br>
            <a:r>
              <a:rPr lang="en-US" altLang="zh-CN" sz="2000" dirty="0">
                <a:solidFill>
                  <a:srgbClr val="000000"/>
                </a:solidFill>
                <a:latin typeface="Times New Roman" panose="02020603050405020304" pitchFamily="18" charset="0"/>
                <a:cs typeface="Times New Roman" panose="02020603050405020304" pitchFamily="18" charset="0"/>
              </a:rPr>
              <a:t>(blue), when the degradation factors are 1, 2, and 4 times</a:t>
            </a:r>
            <a:br>
              <a:rPr lang="en-US" altLang="zh-CN" sz="2000" dirty="0">
                <a:solidFill>
                  <a:srgbClr val="000000"/>
                </a:solidFill>
                <a:latin typeface="Times New Roman" panose="02020603050405020304" pitchFamily="18" charset="0"/>
                <a:cs typeface="Times New Roman" panose="02020603050405020304" pitchFamily="18" charset="0"/>
              </a:rPr>
            </a:br>
            <a:r>
              <a:rPr lang="en-US" altLang="zh-CN" sz="2000" dirty="0">
                <a:solidFill>
                  <a:srgbClr val="000000"/>
                </a:solidFill>
                <a:latin typeface="Times New Roman" panose="02020603050405020304" pitchFamily="18" charset="0"/>
                <a:cs typeface="Times New Roman" panose="02020603050405020304" pitchFamily="18" charset="0"/>
              </a:rPr>
              <a:t>the default value, the EVA profits using the proposed method</a:t>
            </a:r>
            <a:r>
              <a:rPr lang="en-US" altLang="zh-CN" sz="2000" dirty="0">
                <a:latin typeface="Times New Roman" panose="02020603050405020304" pitchFamily="18" charset="0"/>
                <a:cs typeface="Times New Roman" panose="02020603050405020304" pitchFamily="18" charset="0"/>
              </a:rPr>
              <a:t>  (red) are 16.7%, 42.4%, and 61.0% higher, respectively.</a:t>
            </a:r>
            <a:br>
              <a:rPr lang="en-US" altLang="zh-CN" sz="2000" dirty="0">
                <a:latin typeface="Times New Roman" panose="02020603050405020304" pitchFamily="18" charset="0"/>
                <a:cs typeface="Times New Roman" panose="02020603050405020304" pitchFamily="18" charset="0"/>
              </a:rPr>
            </a:br>
            <a:endParaRPr lang="zh-CN" altLang="en-US" sz="2000" dirty="0">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6"/>
          <a:stretch>
            <a:fillRect/>
          </a:stretch>
        </p:blipFill>
        <p:spPr>
          <a:xfrm>
            <a:off x="1186463" y="1156777"/>
            <a:ext cx="2504762" cy="323810"/>
          </a:xfrm>
          <a:prstGeom prst="rect">
            <a:avLst/>
          </a:prstGeom>
        </p:spPr>
      </p:pic>
      <p:sp>
        <p:nvSpPr>
          <p:cNvPr id="20" name="矩形 19"/>
          <p:cNvSpPr/>
          <p:nvPr/>
        </p:nvSpPr>
        <p:spPr>
          <a:xfrm>
            <a:off x="1131469" y="4906435"/>
            <a:ext cx="4770768" cy="163121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矩形 20"/>
          <p:cNvSpPr/>
          <p:nvPr/>
        </p:nvSpPr>
        <p:spPr>
          <a:xfrm>
            <a:off x="6106712" y="4905760"/>
            <a:ext cx="5866751" cy="163189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72077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454761" y="6441948"/>
            <a:ext cx="624537" cy="3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4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31</a:t>
            </a:fld>
            <a:endParaRPr lang="zh-CN" altLang="en-US" sz="1400" dirty="0">
              <a:latin typeface="Times New Roman" panose="02020603050405020304" pitchFamily="18" charset="0"/>
              <a:ea typeface="+mj-ea"/>
              <a:cs typeface="Times New Roman" panose="02020603050405020304" pitchFamily="18" charset="0"/>
            </a:endParaRPr>
          </a:p>
        </p:txBody>
      </p:sp>
      <p:grpSp>
        <p:nvGrpSpPr>
          <p:cNvPr id="331" name="组合 330">
            <a:extLst>
              <a:ext uri="{FF2B5EF4-FFF2-40B4-BE49-F238E27FC236}">
                <a16:creationId xmlns:a16="http://schemas.microsoft.com/office/drawing/2014/main" id="{CABF3368-3586-407F-A169-A9CF11F85941}"/>
              </a:ext>
            </a:extLst>
          </p:cNvPr>
          <p:cNvGrpSpPr/>
          <p:nvPr/>
        </p:nvGrpSpPr>
        <p:grpSpPr>
          <a:xfrm>
            <a:off x="1131469" y="470953"/>
            <a:ext cx="9950488" cy="752836"/>
            <a:chOff x="1131469" y="470953"/>
            <a:chExt cx="9950488" cy="752836"/>
          </a:xfrm>
        </p:grpSpPr>
        <p:sp>
          <p:nvSpPr>
            <p:cNvPr id="332" name="标题 1">
              <a:extLst>
                <a:ext uri="{FF2B5EF4-FFF2-40B4-BE49-F238E27FC236}">
                  <a16:creationId xmlns:a16="http://schemas.microsoft.com/office/drawing/2014/main" id="{5DDE7EDF-E4A9-4F97-821C-530F2D3E43E0}"/>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Case Study</a:t>
              </a:r>
            </a:p>
          </p:txBody>
        </p:sp>
        <p:cxnSp>
          <p:nvCxnSpPr>
            <p:cNvPr id="334" name="直接连接符 33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1737BC3-F004-4CC4-9FA4-7F038A354941}"/>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35" name="图片 334"/>
          <p:cNvPicPr>
            <a:picLocks noChangeAspect="1"/>
          </p:cNvPicPr>
          <p:nvPr/>
        </p:nvPicPr>
        <p:blipFill>
          <a:blip r:embed="rId3"/>
          <a:stretch>
            <a:fillRect/>
          </a:stretch>
        </p:blipFill>
        <p:spPr>
          <a:xfrm>
            <a:off x="1186463" y="28986928"/>
            <a:ext cx="6311404" cy="6109976"/>
          </a:xfrm>
          <a:prstGeom prst="rect">
            <a:avLst/>
          </a:prstGeom>
        </p:spPr>
      </p:pic>
      <p:sp>
        <p:nvSpPr>
          <p:cNvPr id="340" name="文本占位符 27"/>
          <p:cNvSpPr txBox="1">
            <a:spLocks/>
          </p:cNvSpPr>
          <p:nvPr/>
        </p:nvSpPr>
        <p:spPr>
          <a:xfrm>
            <a:off x="105443" y="35097579"/>
            <a:ext cx="8481442" cy="62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latin typeface="Times New Roman" panose="02020603050405020304" pitchFamily="18" charset="0"/>
                <a:cs typeface="Times New Roman" panose="02020603050405020304" pitchFamily="18" charset="0"/>
              </a:rPr>
              <a:t>联络线交换功率、容量价格均收敛</a:t>
            </a:r>
            <a:endParaRPr lang="zh-CN" altLang="en-US" dirty="0">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4"/>
          <a:stretch>
            <a:fillRect/>
          </a:stretch>
        </p:blipFill>
        <p:spPr>
          <a:xfrm>
            <a:off x="1186463" y="1156777"/>
            <a:ext cx="2504762" cy="323810"/>
          </a:xfrm>
          <a:prstGeom prst="rect">
            <a:avLst/>
          </a:prstGeom>
        </p:spPr>
      </p:pic>
      <p:pic>
        <p:nvPicPr>
          <p:cNvPr id="14" name="图片 13"/>
          <p:cNvPicPr>
            <a:picLocks noChangeAspect="1"/>
          </p:cNvPicPr>
          <p:nvPr/>
        </p:nvPicPr>
        <p:blipFill>
          <a:blip r:embed="rId5"/>
          <a:stretch>
            <a:fillRect/>
          </a:stretch>
        </p:blipFill>
        <p:spPr>
          <a:xfrm>
            <a:off x="1131469" y="1502565"/>
            <a:ext cx="4829045" cy="2474671"/>
          </a:xfrm>
          <a:prstGeom prst="rect">
            <a:avLst/>
          </a:prstGeom>
        </p:spPr>
      </p:pic>
      <p:pic>
        <p:nvPicPr>
          <p:cNvPr id="2" name="图片 1"/>
          <p:cNvPicPr>
            <a:picLocks noChangeAspect="1"/>
          </p:cNvPicPr>
          <p:nvPr/>
        </p:nvPicPr>
        <p:blipFill>
          <a:blip r:embed="rId6"/>
          <a:stretch>
            <a:fillRect/>
          </a:stretch>
        </p:blipFill>
        <p:spPr>
          <a:xfrm>
            <a:off x="1249373" y="3999214"/>
            <a:ext cx="4593235" cy="2474444"/>
          </a:xfrm>
          <a:prstGeom prst="rect">
            <a:avLst/>
          </a:prstGeom>
        </p:spPr>
      </p:pic>
      <p:pic>
        <p:nvPicPr>
          <p:cNvPr id="15" name="图片 14"/>
          <p:cNvPicPr>
            <a:picLocks noChangeAspect="1"/>
          </p:cNvPicPr>
          <p:nvPr/>
        </p:nvPicPr>
        <p:blipFill>
          <a:blip r:embed="rId7"/>
          <a:stretch>
            <a:fillRect/>
          </a:stretch>
        </p:blipFill>
        <p:spPr>
          <a:xfrm>
            <a:off x="6364932" y="1976625"/>
            <a:ext cx="5211718" cy="1922052"/>
          </a:xfrm>
          <a:prstGeom prst="rect">
            <a:avLst/>
          </a:prstGeom>
        </p:spPr>
      </p:pic>
      <p:sp>
        <p:nvSpPr>
          <p:cNvPr id="16" name="矩形 15"/>
          <p:cNvSpPr/>
          <p:nvPr/>
        </p:nvSpPr>
        <p:spPr>
          <a:xfrm>
            <a:off x="6442570" y="4528550"/>
            <a:ext cx="4715774" cy="707886"/>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Although our assumptions are not all true, the proposed framework works well!</a:t>
            </a:r>
            <a:endParaRPr lang="zh-CN" altLang="en-US" sz="2000" dirty="0">
              <a:latin typeface="Times New Roman" panose="02020603050405020304" pitchFamily="18" charset="0"/>
              <a:cs typeface="Times New Roman" panose="02020603050405020304" pitchFamily="18" charset="0"/>
            </a:endParaRPr>
          </a:p>
        </p:txBody>
      </p:sp>
      <p:sp>
        <p:nvSpPr>
          <p:cNvPr id="17" name="矩形 16"/>
          <p:cNvSpPr/>
          <p:nvPr/>
        </p:nvSpPr>
        <p:spPr>
          <a:xfrm>
            <a:off x="6442570" y="4528551"/>
            <a:ext cx="4530230" cy="70788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48601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2">
            <a:extLst>
              <a:ext uri="{FF2B5EF4-FFF2-40B4-BE49-F238E27FC236}">
                <a16:creationId xmlns:a16="http://schemas.microsoft.com/office/drawing/2014/main" id="{4E673006-0FBC-4846-BFF0-A9F3D5FA568A}"/>
              </a:ext>
            </a:extLst>
          </p:cNvPr>
          <p:cNvSpPr txBox="1">
            <a:spLocks/>
          </p:cNvSpPr>
          <p:nvPr/>
        </p:nvSpPr>
        <p:spPr bwMode="auto">
          <a:xfrm>
            <a:off x="11454761" y="6441948"/>
            <a:ext cx="624537" cy="34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250"/>
              </a:spcBef>
              <a:buClr>
                <a:schemeClr val="accent1"/>
              </a:buClr>
              <a:buSzPct val="80000"/>
              <a:buFont typeface="Wingdings 2" panose="05020102010507070707" pitchFamily="18" charset="2"/>
              <a:buChar char=""/>
              <a:defRPr sz="2800">
                <a:solidFill>
                  <a:schemeClr val="tx1"/>
                </a:solidFill>
                <a:latin typeface="Verdana" panose="020B0604030504040204" pitchFamily="34" charset="0"/>
                <a:ea typeface="微软雅黑" panose="020B0503020204020204" pitchFamily="34" charset="-122"/>
              </a:defRPr>
            </a:lvl1pPr>
            <a:lvl2pPr marL="742950" indent="-285750">
              <a:spcBef>
                <a:spcPts val="250"/>
              </a:spcBef>
              <a:buClr>
                <a:schemeClr val="accent1"/>
              </a:buClr>
              <a:buSzPct val="100000"/>
              <a:buFont typeface="Verdana" panose="020B0604030504040204" pitchFamily="34" charset="0"/>
              <a:buChar char="◦"/>
              <a:defRPr sz="2400">
                <a:solidFill>
                  <a:schemeClr val="tx1"/>
                </a:solidFill>
                <a:latin typeface="Verdana" panose="020B0604030504040204" pitchFamily="34" charset="0"/>
                <a:ea typeface="微软雅黑" panose="020B0503020204020204" pitchFamily="34" charset="-122"/>
              </a:defRPr>
            </a:lvl2pPr>
            <a:lvl3pPr marL="1143000" indent="-228600">
              <a:spcBef>
                <a:spcPts val="250"/>
              </a:spcBef>
              <a:buClr>
                <a:srgbClr val="ED3742"/>
              </a:buClr>
              <a:buSzPct val="100000"/>
              <a:buFont typeface="Wingdings 2" panose="05020102010507070707" pitchFamily="18" charset="2"/>
              <a:buChar char=""/>
              <a:defRPr sz="2200">
                <a:solidFill>
                  <a:schemeClr val="tx1"/>
                </a:solidFill>
                <a:latin typeface="Verdana" panose="020B0604030504040204" pitchFamily="34" charset="0"/>
                <a:ea typeface="微软雅黑" panose="020B0503020204020204" pitchFamily="34" charset="-122"/>
              </a:defRPr>
            </a:lvl3pPr>
            <a:lvl4pPr marL="1600200" indent="-228600">
              <a:spcBef>
                <a:spcPts val="225"/>
              </a:spcBef>
              <a:buClr>
                <a:srgbClr val="ED3742"/>
              </a:buClr>
              <a:buSzPct val="112000"/>
              <a:buFont typeface="Verdana" panose="020B0604030504040204" pitchFamily="34" charset="0"/>
              <a:buChar char="◦"/>
              <a:defRPr sz="1900">
                <a:solidFill>
                  <a:schemeClr val="tx1"/>
                </a:solidFill>
                <a:latin typeface="Verdana" panose="020B0604030504040204" pitchFamily="34" charset="0"/>
                <a:ea typeface="微软雅黑" panose="020B0503020204020204" pitchFamily="34" charset="-122"/>
              </a:defRPr>
            </a:lvl4pPr>
            <a:lvl5pPr marL="2057400" indent="-228600">
              <a:spcBef>
                <a:spcPts val="250"/>
              </a:spcBef>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solidFill>
                  <a:schemeClr val="tx1"/>
                </a:solidFill>
                <a:latin typeface="Verdana" panose="020B0604030504040204" pitchFamily="34" charset="0"/>
                <a:ea typeface="微软雅黑" panose="020B0503020204020204" pitchFamily="34" charset="-122"/>
              </a:defRPr>
            </a:lvl9pPr>
          </a:lstStyle>
          <a:p>
            <a:pPr algn="r" eaLnBrk="1" hangingPunct="1">
              <a:spcBef>
                <a:spcPct val="0"/>
              </a:spcBef>
              <a:buClrTx/>
              <a:buSzTx/>
              <a:buFontTx/>
              <a:buNone/>
            </a:pPr>
            <a:fld id="{75A1D34D-0602-40AF-B13E-48588BC84BD3}" type="slidenum">
              <a:rPr lang="zh-CN" altLang="en-US" sz="1400">
                <a:latin typeface="Times New Roman" panose="02020603050405020304" pitchFamily="18" charset="0"/>
                <a:ea typeface="+mj-ea"/>
                <a:cs typeface="Times New Roman" panose="02020603050405020304" pitchFamily="18" charset="0"/>
              </a:rPr>
              <a:pPr algn="r" eaLnBrk="1" hangingPunct="1">
                <a:spcBef>
                  <a:spcPct val="0"/>
                </a:spcBef>
                <a:buClrTx/>
                <a:buSzTx/>
                <a:buFontTx/>
                <a:buNone/>
              </a:pPr>
              <a:t>32</a:t>
            </a:fld>
            <a:endParaRPr lang="zh-CN" altLang="en-US" sz="1400" dirty="0">
              <a:latin typeface="Times New Roman" panose="02020603050405020304" pitchFamily="18" charset="0"/>
              <a:ea typeface="+mj-ea"/>
              <a:cs typeface="Times New Roman" panose="02020603050405020304" pitchFamily="18" charset="0"/>
            </a:endParaRPr>
          </a:p>
        </p:txBody>
      </p:sp>
      <p:grpSp>
        <p:nvGrpSpPr>
          <p:cNvPr id="331" name="组合 330">
            <a:extLst>
              <a:ext uri="{FF2B5EF4-FFF2-40B4-BE49-F238E27FC236}">
                <a16:creationId xmlns:a16="http://schemas.microsoft.com/office/drawing/2014/main" id="{CABF3368-3586-407F-A169-A9CF11F85941}"/>
              </a:ext>
            </a:extLst>
          </p:cNvPr>
          <p:cNvGrpSpPr/>
          <p:nvPr/>
        </p:nvGrpSpPr>
        <p:grpSpPr>
          <a:xfrm>
            <a:off x="1131469" y="470953"/>
            <a:ext cx="9950488" cy="752836"/>
            <a:chOff x="1131469" y="470953"/>
            <a:chExt cx="9950488" cy="752836"/>
          </a:xfrm>
        </p:grpSpPr>
        <p:sp>
          <p:nvSpPr>
            <p:cNvPr id="332" name="标题 1">
              <a:extLst>
                <a:ext uri="{FF2B5EF4-FFF2-40B4-BE49-F238E27FC236}">
                  <a16:creationId xmlns:a16="http://schemas.microsoft.com/office/drawing/2014/main" id="{5DDE7EDF-E4A9-4F97-821C-530F2D3E43E0}"/>
                </a:ext>
              </a:extLst>
            </p:cNvPr>
            <p:cNvSpPr txBox="1">
              <a:spLocks/>
            </p:cNvSpPr>
            <p:nvPr/>
          </p:nvSpPr>
          <p:spPr>
            <a:xfrm>
              <a:off x="1131469" y="470953"/>
              <a:ext cx="9950488" cy="752836"/>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3600" b="1" spc="600" dirty="0">
                  <a:solidFill>
                    <a:schemeClr val="accent1"/>
                  </a:solidFill>
                  <a:latin typeface="Times New Roman" panose="02020603050405020304" pitchFamily="18" charset="0"/>
                  <a:cs typeface="Times New Roman" panose="02020603050405020304" pitchFamily="18" charset="0"/>
                </a:rPr>
                <a:t>Conclusion</a:t>
              </a:r>
            </a:p>
          </p:txBody>
        </p:sp>
        <p:cxnSp>
          <p:nvCxnSpPr>
            <p:cNvPr id="334" name="直接连接符 333"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D1737BC3-F004-4CC4-9FA4-7F038A354941}"/>
                </a:ext>
              </a:extLst>
            </p:cNvPr>
            <p:cNvCxnSpPr>
              <a:cxnSpLocks/>
            </p:cNvCxnSpPr>
            <p:nvPr/>
          </p:nvCxnSpPr>
          <p:spPr>
            <a:xfrm>
              <a:off x="5644153" y="1223789"/>
              <a:ext cx="925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35" name="图片 334"/>
          <p:cNvPicPr>
            <a:picLocks noChangeAspect="1"/>
          </p:cNvPicPr>
          <p:nvPr/>
        </p:nvPicPr>
        <p:blipFill>
          <a:blip r:embed="rId3"/>
          <a:stretch>
            <a:fillRect/>
          </a:stretch>
        </p:blipFill>
        <p:spPr>
          <a:xfrm>
            <a:off x="1186463" y="28986928"/>
            <a:ext cx="6311404" cy="6109976"/>
          </a:xfrm>
          <a:prstGeom prst="rect">
            <a:avLst/>
          </a:prstGeom>
        </p:spPr>
      </p:pic>
      <p:sp>
        <p:nvSpPr>
          <p:cNvPr id="340" name="文本占位符 27"/>
          <p:cNvSpPr txBox="1">
            <a:spLocks/>
          </p:cNvSpPr>
          <p:nvPr/>
        </p:nvSpPr>
        <p:spPr>
          <a:xfrm>
            <a:off x="105443" y="35097579"/>
            <a:ext cx="8481442" cy="625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a:latin typeface="Times New Roman" panose="02020603050405020304" pitchFamily="18" charset="0"/>
                <a:cs typeface="Times New Roman" panose="02020603050405020304" pitchFamily="18" charset="0"/>
              </a:rPr>
              <a:t>联络线交换功率、容量价格均收敛</a:t>
            </a:r>
            <a:endParaRPr lang="zh-CN" altLang="en-US" dirty="0">
              <a:latin typeface="Times New Roman" panose="02020603050405020304" pitchFamily="18" charset="0"/>
              <a:cs typeface="Times New Roman" panose="02020603050405020304" pitchFamily="18" charset="0"/>
            </a:endParaRPr>
          </a:p>
        </p:txBody>
      </p:sp>
      <p:sp>
        <p:nvSpPr>
          <p:cNvPr id="18" name="矩形 17"/>
          <p:cNvSpPr/>
          <p:nvPr/>
        </p:nvSpPr>
        <p:spPr>
          <a:xfrm>
            <a:off x="459570" y="1641367"/>
            <a:ext cx="11307459" cy="3613297"/>
          </a:xfrm>
          <a:prstGeom prst="rect">
            <a:avLst/>
          </a:prstGeom>
          <a:solidFill>
            <a:srgbClr val="EAF6FC"/>
          </a:solidFill>
        </p:spPr>
        <p:txBody>
          <a:bodyPr wrap="square">
            <a:spAutoFit/>
          </a:bodyPr>
          <a:lstStyle/>
          <a:p>
            <a:pPr marL="457200" indent="-457200">
              <a:lnSpc>
                <a:spcPct val="130000"/>
              </a:lnSpc>
              <a:buFont typeface="+mj-lt"/>
              <a:buAutoNum type="arabicPeriod"/>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An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EVA's bidding in the regulation market is coupled with its power allocation strategy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for regulation deployment. Considering this coupling improves the EVA profit.</a:t>
            </a:r>
          </a:p>
          <a:p>
            <a:pPr marL="457200" indent="-457200">
              <a:lnSpc>
                <a:spcPct val="130000"/>
              </a:lnSpc>
              <a:buFont typeface="+mj-lt"/>
              <a:buAutoNum type="arabicPeriod"/>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simulation results verify that co-optimizing bidding and power allocation enables both utilizing the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heterogeneous characteristics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of the EVs and </a:t>
            </a:r>
            <a:r>
              <a:rPr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balancing the short/long-term costs</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 thus improving the profit of the EVA while reducing the degradation costs.</a:t>
            </a:r>
          </a:p>
          <a:p>
            <a:pPr marL="457200" indent="-457200">
              <a:lnSpc>
                <a:spcPct val="130000"/>
              </a:lnSpc>
              <a:buFont typeface="+mj-lt"/>
              <a:buAutoNum type="arabicPeriod"/>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The profit distribution between the EVA and EVs is also coupled with bidding and power allocation. In addition, the forecast of regulation signals could be improved. These issues are for future research.</a:t>
            </a:r>
          </a:p>
        </p:txBody>
      </p:sp>
    </p:spTree>
    <p:extLst>
      <p:ext uri="{BB962C8B-B14F-4D97-AF65-F5344CB8AC3E}">
        <p14:creationId xmlns:p14="http://schemas.microsoft.com/office/powerpoint/2010/main" val="377014122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e7d195523061f1c0" descr="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 hidden="1"/>
          <p:cNvSpPr txBox="1"/>
          <p:nvPr/>
        </p:nvSpPr>
        <p:spPr>
          <a:xfrm>
            <a:off x="-355600" y="1803400"/>
            <a:ext cx="293927" cy="1016000"/>
          </a:xfrm>
          <a:prstGeom prst="rect">
            <a:avLst/>
          </a:prstGeom>
          <a:noFill/>
        </p:spPr>
        <p:txBody>
          <a:bodyPr vert="wordArtVert" rtlCol="0">
            <a:spAutoFit/>
          </a:bodyPr>
          <a:lstStyle/>
          <a:p>
            <a:r>
              <a:rPr lang="en-US" altLang="zh-CN" sz="100"/>
              <a:t>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a:t>
            </a:r>
            <a:endParaRPr lang="zh-CN" altLang="en-US" sz="100"/>
          </a:p>
        </p:txBody>
      </p:sp>
      <p:sp>
        <p:nvSpPr>
          <p:cNvPr id="8" name="内容占位符 2"/>
          <p:cNvSpPr txBox="1">
            <a:spLocks noChangeArrowheads="1"/>
          </p:cNvSpPr>
          <p:nvPr/>
        </p:nvSpPr>
        <p:spPr bwMode="auto">
          <a:xfrm>
            <a:off x="113987" y="2255223"/>
            <a:ext cx="9504463" cy="2215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spcBef>
                <a:spcPct val="20000"/>
              </a:spcBef>
              <a:buClr>
                <a:srgbClr val="003399"/>
              </a:buClr>
            </a:pPr>
            <a:r>
              <a:rPr lang="en-US" altLang="zh-CN" sz="5400" spc="6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Thanks for Listening!</a:t>
            </a:r>
          </a:p>
          <a:p>
            <a:pPr algn="ctr">
              <a:spcBef>
                <a:spcPct val="20000"/>
              </a:spcBef>
              <a:buClr>
                <a:srgbClr val="003399"/>
              </a:buClr>
            </a:pPr>
            <a:r>
              <a:rPr lang="en-US" altLang="zh-CN" sz="5400" spc="6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Q &amp; A</a:t>
            </a:r>
            <a:endParaRPr lang="zh-CN" altLang="en-US" sz="5400" spc="6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9" name="直接连接符 8"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59884A04-F20E-478E-A670-C28D709F1DCD}"/>
              </a:ext>
            </a:extLst>
          </p:cNvPr>
          <p:cNvCxnSpPr>
            <a:cxnSpLocks/>
          </p:cNvCxnSpPr>
          <p:nvPr/>
        </p:nvCxnSpPr>
        <p:spPr>
          <a:xfrm>
            <a:off x="3593697" y="4323601"/>
            <a:ext cx="254504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AutoShape 2"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2195E436-260B-4E8B-94A2-4BE2DAD0442A}"/>
              </a:ext>
            </a:extLst>
          </p:cNvPr>
          <p:cNvSpPr>
            <a:spLocks/>
          </p:cNvSpPr>
          <p:nvPr/>
        </p:nvSpPr>
        <p:spPr bwMode="auto">
          <a:xfrm>
            <a:off x="4014850" y="4470228"/>
            <a:ext cx="6188840" cy="15900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1pPr>
            <a:lvl2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2pPr>
            <a:lvl3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3pPr>
            <a:lvl4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4pPr>
            <a:lvl5pP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5pPr>
            <a:lvl6pPr marL="39243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6pPr>
            <a:lvl7pPr marL="43815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7pPr>
            <a:lvl8pPr marL="48387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8pPr>
            <a:lvl9pPr marL="5295900" indent="-927100" algn="ctr" defTabSz="825500" fontAlgn="base" hangingPunct="0">
              <a:lnSpc>
                <a:spcPct val="90000"/>
              </a:lnSpc>
              <a:spcBef>
                <a:spcPct val="0"/>
              </a:spcBef>
              <a:spcAft>
                <a:spcPct val="0"/>
              </a:spcAft>
              <a:buSzPct val="75000"/>
              <a:buChar char="•"/>
              <a:defRPr sz="7600">
                <a:solidFill>
                  <a:srgbClr val="777776"/>
                </a:solidFill>
                <a:latin typeface="Open Sans" panose="020B0606030504020204" pitchFamily="34" charset="0"/>
                <a:cs typeface="Open Sans" panose="020B0606030504020204" pitchFamily="34" charset="0"/>
                <a:sym typeface="Open Sans" panose="020B0606030504020204" pitchFamily="34" charset="0"/>
              </a:defRPr>
            </a:lvl9pPr>
          </a:lstStyle>
          <a:p>
            <a:pPr>
              <a:lnSpc>
                <a:spcPct val="150000"/>
              </a:lnSpc>
            </a:pPr>
            <a:r>
              <a:rPr lang="en-US" altLang="zh-CN" sz="2000" b="1" dirty="0" err="1">
                <a:solidFill>
                  <a:srgbClr val="0070C0"/>
                </a:solidFill>
                <a:cs typeface="+mn-ea"/>
                <a:sym typeface="+mn-lt"/>
              </a:rPr>
              <a:t>Ruike</a:t>
            </a:r>
            <a:r>
              <a:rPr lang="en-US" altLang="zh-CN" sz="2000" b="1" dirty="0">
                <a:solidFill>
                  <a:srgbClr val="0070C0"/>
                </a:solidFill>
                <a:cs typeface="+mn-ea"/>
                <a:sym typeface="+mn-lt"/>
              </a:rPr>
              <a:t> </a:t>
            </a:r>
            <a:r>
              <a:rPr lang="en-US" altLang="zh-CN" sz="2000" b="1" dirty="0" err="1">
                <a:solidFill>
                  <a:srgbClr val="0070C0"/>
                </a:solidFill>
                <a:cs typeface="+mn-ea"/>
                <a:sym typeface="+mn-lt"/>
              </a:rPr>
              <a:t>Lyu</a:t>
            </a:r>
            <a:r>
              <a:rPr lang="en-US" altLang="zh-CN" sz="2000" b="1" dirty="0">
                <a:solidFill>
                  <a:srgbClr val="0070C0"/>
                </a:solidFill>
                <a:cs typeface="+mn-ea"/>
                <a:sym typeface="+mn-lt"/>
              </a:rPr>
              <a:t> (</a:t>
            </a:r>
            <a:r>
              <a:rPr lang="zh-CN" altLang="en-US" sz="2000" b="1" dirty="0">
                <a:solidFill>
                  <a:srgbClr val="0070C0"/>
                </a:solidFill>
                <a:cs typeface="+mn-ea"/>
                <a:sym typeface="+mn-lt"/>
              </a:rPr>
              <a:t>吕睿可</a:t>
            </a:r>
            <a:r>
              <a:rPr lang="en-US" altLang="zh-CN" sz="2000" b="1" dirty="0">
                <a:solidFill>
                  <a:srgbClr val="0070C0"/>
                </a:solidFill>
                <a:cs typeface="+mn-ea"/>
                <a:sym typeface="+mn-lt"/>
              </a:rPr>
              <a:t>)</a:t>
            </a:r>
          </a:p>
        </p:txBody>
      </p:sp>
      <p:sp>
        <p:nvSpPr>
          <p:cNvPr id="6" name="矩形 5"/>
          <p:cNvSpPr/>
          <p:nvPr/>
        </p:nvSpPr>
        <p:spPr>
          <a:xfrm>
            <a:off x="323272" y="6159853"/>
            <a:ext cx="11951855" cy="646331"/>
          </a:xfrm>
          <a:prstGeom prst="rect">
            <a:avLst/>
          </a:prstGeom>
        </p:spPr>
        <p:txBody>
          <a:bodyPr wrap="square">
            <a:spAutoFit/>
          </a:bodyPr>
          <a:lstStyle/>
          <a:p>
            <a:r>
              <a:rPr lang="en-US" altLang="zh-CN" dirty="0" err="1">
                <a:solidFill>
                  <a:srgbClr val="222222"/>
                </a:solidFill>
                <a:latin typeface="Arial" panose="020B0604020202020204" pitchFamily="34" charset="0"/>
              </a:rPr>
              <a:t>Lyu</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Ruike</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Hongye</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Guo</a:t>
            </a:r>
            <a:r>
              <a:rPr lang="en-US" altLang="zh-CN" dirty="0">
                <a:solidFill>
                  <a:srgbClr val="222222"/>
                </a:solidFill>
                <a:latin typeface="Arial" panose="020B0604020202020204" pitchFamily="34" charset="0"/>
              </a:rPr>
              <a:t>, </a:t>
            </a:r>
            <a:r>
              <a:rPr lang="en-US" altLang="zh-CN" dirty="0" err="1">
                <a:solidFill>
                  <a:srgbClr val="222222"/>
                </a:solidFill>
                <a:latin typeface="Arial" panose="020B0604020202020204" pitchFamily="34" charset="0"/>
              </a:rPr>
              <a:t>Kedi</a:t>
            </a:r>
            <a:r>
              <a:rPr lang="en-US" altLang="zh-CN" dirty="0">
                <a:solidFill>
                  <a:srgbClr val="222222"/>
                </a:solidFill>
                <a:latin typeface="Arial" panose="020B0604020202020204" pitchFamily="34" charset="0"/>
              </a:rPr>
              <a:t> Zheng, </a:t>
            </a:r>
            <a:r>
              <a:rPr lang="en-US" altLang="zh-CN" dirty="0" err="1">
                <a:solidFill>
                  <a:srgbClr val="222222"/>
                </a:solidFill>
                <a:latin typeface="Arial" panose="020B0604020202020204" pitchFamily="34" charset="0"/>
              </a:rPr>
              <a:t>Mingyang</a:t>
            </a:r>
            <a:r>
              <a:rPr lang="en-US" altLang="zh-CN" dirty="0">
                <a:solidFill>
                  <a:srgbClr val="222222"/>
                </a:solidFill>
                <a:latin typeface="Arial" panose="020B0604020202020204" pitchFamily="34" charset="0"/>
              </a:rPr>
              <a:t> Sun, and </a:t>
            </a:r>
            <a:r>
              <a:rPr lang="en-US" altLang="zh-CN" dirty="0" err="1">
                <a:solidFill>
                  <a:srgbClr val="222222"/>
                </a:solidFill>
                <a:latin typeface="Arial" panose="020B0604020202020204" pitchFamily="34" charset="0"/>
              </a:rPr>
              <a:t>Qixin</a:t>
            </a:r>
            <a:r>
              <a:rPr lang="en-US" altLang="zh-CN" dirty="0">
                <a:solidFill>
                  <a:srgbClr val="222222"/>
                </a:solidFill>
                <a:latin typeface="Arial" panose="020B0604020202020204" pitchFamily="34" charset="0"/>
              </a:rPr>
              <a:t> Chen. "Co-optimizing Bidding and Power Allocation of an EV Aggregator Providing Real-time Frequency Regulation Service." </a:t>
            </a:r>
            <a:r>
              <a:rPr lang="en-US" altLang="zh-CN" i="1" dirty="0">
                <a:solidFill>
                  <a:srgbClr val="222222"/>
                </a:solidFill>
                <a:latin typeface="Arial" panose="020B0604020202020204" pitchFamily="34" charset="0"/>
              </a:rPr>
              <a:t>IEEE Transactions on Smart Grid</a:t>
            </a:r>
            <a:r>
              <a:rPr lang="en-US" altLang="zh-CN" dirty="0">
                <a:solidFill>
                  <a:srgbClr val="222222"/>
                </a:solidFill>
                <a:latin typeface="Arial" panose="020B0604020202020204" pitchFamily="34" charset="0"/>
              </a:rPr>
              <a:t> (2023).</a:t>
            </a:r>
            <a:endParaRPr lang="zh-CN" altLang="en-US" dirty="0"/>
          </a:p>
        </p:txBody>
      </p:sp>
      <p:cxnSp>
        <p:nvCxnSpPr>
          <p:cNvPr id="7" name="直接连接符 6" descr="e7d195523061f1c0220a3acd2f99070e22f7f2176c6c61f4AB5BC6AF3DF28E09514168BD2F6654DA4347BEC42B9A9B38EB2139F52FD80B94EB8F1B847F5BC18ECD11DB8433CCABD6DAEA8D49E99C31D3DFA65C87AB47BEF2EBD72A926FB0AF1199505237C234A284873CCE3328CA643726F81DDAFEDC2CBF8D8B176CEDE7716E3C4F3629C7CA82035F0EFC4174C3580C">
            <a:extLst>
              <a:ext uri="{FF2B5EF4-FFF2-40B4-BE49-F238E27FC236}">
                <a16:creationId xmlns:a16="http://schemas.microsoft.com/office/drawing/2014/main" id="{AD5E1F3A-3D4C-41FA-BC9C-D4F9656179D4}"/>
              </a:ext>
            </a:extLst>
          </p:cNvPr>
          <p:cNvCxnSpPr>
            <a:cxnSpLocks/>
          </p:cNvCxnSpPr>
          <p:nvPr/>
        </p:nvCxnSpPr>
        <p:spPr>
          <a:xfrm>
            <a:off x="409009" y="6081490"/>
            <a:ext cx="11635209" cy="52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403711"/>
      </p:ext>
    </p:extLst>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ISLIDE.ICON" val="#371240;#380168;#393620;"/>
</p:tagLst>
</file>

<file path=ppt/tags/tag2.xml><?xml version="1.0" encoding="utf-8"?>
<p:tagLst xmlns:a="http://schemas.openxmlformats.org/drawingml/2006/main" xmlns:r="http://schemas.openxmlformats.org/officeDocument/2006/relationships" xmlns:p="http://schemas.openxmlformats.org/presentationml/2006/main">
  <p:tag name="ISLIDE.ICON" val="#371240;#380168;#393620;"/>
</p:tagLst>
</file>

<file path=ppt/tags/tag3.xml><?xml version="1.0" encoding="utf-8"?>
<p:tagLst xmlns:a="http://schemas.openxmlformats.org/drawingml/2006/main" xmlns:r="http://schemas.openxmlformats.org/officeDocument/2006/relationships" xmlns:p="http://schemas.openxmlformats.org/presentationml/2006/main">
  <p:tag name="ISLIDE.ICON" val="#371240;#380168;#393620;"/>
</p:tagLst>
</file>

<file path=ppt/tags/tag4.xml><?xml version="1.0" encoding="utf-8"?>
<p:tagLst xmlns:a="http://schemas.openxmlformats.org/drawingml/2006/main" xmlns:r="http://schemas.openxmlformats.org/officeDocument/2006/relationships" xmlns:p="http://schemas.openxmlformats.org/presentationml/2006/main">
  <p:tag name="ISLIDE.ICON" val="#371240;#380168;#393620;"/>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ISLIDE.ICON" val="#371240;#380168;#393620;"/>
</p:tagLst>
</file>

<file path=ppt/theme/theme1.xml><?xml version="1.0" encoding="utf-8"?>
<a:theme xmlns:a="http://schemas.openxmlformats.org/drawingml/2006/main" name="1_Office Theme">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e7d195523061f1c0 xmlns="http://e7d195523061f1c0/custom/data/def">
  <_7b1dac89e7d195523061f1c0316ecb71 xmlns="">e7d195523061f1c0220a3acd2f99070e22f7f2176c6c61f4AB5BC6AF3DF28E09514168BD2F6654DA4347BEC42B9A9B38EB2139F52FD80B94EB8F1B847F5BC18ECD11DB8433CCABD6DAEA8D49E99C31D366FABFD95683EA7742973861F4CAD8173D6A07DF1CBF951ECD69574DA7098D2AF9E090CFC8FCFB1845C62FE854CF8D2DEC20E4D9BDA909F1B0C92CC94DB2067D</_7b1dac89e7d195523061f1c0316ecb71>
  <_7b1dac89e7d195523061f1c0316ecb71 xmlns="">e7d195523061f1c0220a3acd2f99070e22f7f2176c6c61f4AB5BC6AF3DF28E09514168BD2F6654DA4347BEC42B9A9B38EB2139F52FD80B94EB8F1B847F5BC18ECD11DB8433CCABD6DAEA8D49E99C31D366FABFD95683EA77F721ED503A827061510CA2306CEA37B591700306744D3155D5EAC037532F57F40D04C7B9D3E1E2CA0E4BC013DA5C04EC96201FD825DD7BC5</_7b1dac89e7d195523061f1c0316ecb71>
  <_7b1dac89e7d195523061f1c0316ecb71 xmlns="">e7d195523061f1c0220a3acd2f99070e22f7f2176c6c61f4AB5BC6AF3DF28E09514168BD2F6654DA4347BEC42B9A9B38EB2139F52FD80B94EB8F1B847F5BC18ECD11DB8433CCABD6DAEA8D49E99C31D366FABFD95683EA773F0D608D56E1F73812E2F4F991DFC36254BEB5040BC372245635F6E25960F5109F5C3C231E71D8857F99CEF9C61B970ACEDA8DB5DFD85354</_7b1dac89e7d195523061f1c0316ecb71>
  <_7b1dac89e7d195523061f1c0316ecb71 xmlns="">e7d195523061f1c0220a3acd2f99070e22f7f2176c6c61f4AB5BC6AF3DF28E09514168BD2F6654DA4347BEC42B9A9B38EB2139F52FD80B94EB8F1B847F5BC18ECD11DB8433CCABD6DAEA8D49E99C31D366FABFD95683EA77D61387E6A27901F89A19528C0C5F7E8E39BC7262E74848E99652DD0BE839FB909BD02467D707D9BE68C8AB7FDCCBBCD673E8F1D7E152BD9B</_7b1dac89e7d195523061f1c0316ecb71>
  <_7b1dac89e7d195523061f1c0316ecb71 xmlns="">e7d195523061f1c0220a3acd2f99070e22f7f2176c6c61f4AB5BC6AF3DF28E09514168BD2F6654DA4347BEC42B9A9B38EB2139F52FD80B94EB8F1B847F5BC18ECD11DB8433CCABD6DAEA8D49E99C31D3A2490EADE14D8E6870E8671671ACB573F232927ECF53FBF65F3CAC32B2F44816AF3CBD959535DAF4DDD6BCE52D18ECEF96EE44C602B14FA5</_7b1dac89e7d195523061f1c0316ecb71>
  <_7b1dac89e7d195523061f1c0316ecb71 xmlns="">e7d195523061f1c0220a3acd2f99070e22f7f2176c6c61f4AB5BC6AF3DF28E09514168BD2F6654DA4347BEC42B9A9B38EB2139F52FD80B94EB8F1B847F5BC18ECD11DB8433CCABD6DAEA8D49E99C31D3A2490EADE14D8E68D4F5A6ADD24834AEE21904330830ACC638D31F80BE21A7A098F17FD6F74138610575E5708865A5DD67DBF468C480C066</_7b1dac89e7d195523061f1c0316ecb71>
  <_7b1dac89e7d195523061f1c0316ecb71 xmlns="">e7d195523061f1c0220a3acd2f99070e22f7f2176c6c61f4AB5BC6AF3DF28E09514168BD2F6654DA4347BEC42B9A9B38EB2139F52FD80B94EB8F1B847F5BC18ECD11DB8433CCABD6DAEA8D49E99C31D3A2490EADE14D8E6839ED356DFC2AA5FE51C7928D06F69E3BCE8E26E24E9D588A4952A9033036B8C4D17EB63479086B86AAE87112DA50D0F3</_7b1dac89e7d195523061f1c0316ecb71>
  <_7b1dac89e7d195523061f1c0316ecb71 xmlns="">e7d195523061f1c0220a3acd2f99070e22f7f2176c6c61f4AB5BC6AF3DF28E09514168BD2F6654DA4347BEC42B9A9B38EB2139F52FD80B94EB8F1B847F5BC18ECD11DB8433CCABD6DAEA8D49E99C31D3A2490EADE14D8E68EE2DFF2EE58688B2C11768A707DCBE808A22DF3B023DE49DCFD5225570E56D29091F98CCD6128FB72CA83E9D70C23E8FB95B6D3BC0C03CD0</_7b1dac89e7d195523061f1c0316ecb71>
  <_7b1dac89e7d195523061f1c0316ecb71 xmlns="">e7d195523061f1c0220a3acd2f99070e22f7f2176c6c61f4AB5BC6AF3DF28E09514168BD2F6654DA4347BEC42B9A9B38EB2139F52FD80B94EB8F1B847F5BC18ECD11DB8433CCABD6DAEA8D49E99C31D30DD985C7E7F6586801F1A9D4A6731C7B808AD6DE936560B66AF9ABAFD27B4F14F2216738F2BDCF8E8980047CD5FC5117A8630BC284B82A52</_7b1dac89e7d195523061f1c0316ecb71>
  <_7b1dac89e7d195523061f1c0316ecb71 xmlns="">e7d195523061f1c0220a3acd2f99070e22f7f2176c6c61f4AB5BC6AF3DF28E09514168BD2F6654DA4347BEC42B9A9B38EB2139F52FD80B94EB8F1B847F5BC18ECD11DB8433CCABD6DAEA8D49E99C31D30DD985C7E7F65868F2551F5885CC1A30FA7B5FAAA822AA61A3E8617C9AE80A62B52E38195D70FE1C84EE15D17315EF2237BBF13F73D223A6E2E250E2D97EC3B1</_7b1dac89e7d195523061f1c0316ecb71>
  <_7b1dac89e7d195523061f1c0316ecb71 xmlns="">e7d195523061f1c0220a3acd2f99070e22f7f2176c6c61f4AB5BC6AF3DF28E09514168BD2F6654DA4347BEC42B9A9B38EB2139F52FD80B94EB8F1B847F5BC18ECD11DB8433CCABD6DAEA8D49E99C31D30DD985C7E7F658688B7009348515AAB54ABFBB4983FE2756082B17EC8C2A625C2986296D34D71E7781AFBE705FC011F12C413BF69C59FBC185B890F34DF9788C</_7b1dac89e7d195523061f1c0316ecb71>
  <_7b1dac89e7d195523061f1c0316ecb71 xmlns="">e7d195523061f1c0220a3acd2f99070e22f7f2176c6c61f4AB5BC6AF3DF28E09514168BD2F6654DA4347BEC42B9A9B38EB2139F52FD80B94EB8F1B847F5BC18ECD11DB8433CCABD6DAEA8D49E99C31D30DD985C7E7F658683D49137DE4F457C164C70E1C808163AEDF8845922882E9C7C0746E82043C778151C341062818AE2D4FA586C607E1B57A8823EFC30C12D6D3</_7b1dac89e7d195523061f1c0316ecb71>
  <_7b1dac89e7d195523061f1c0316ecb71 xmlns="">e7d195523061f1c0220a3acd2f99070e22f7f2176c6c61f4AB5BC6AF3DF28E09514168BD2F6654DA4347BEC42B9A9B38EB2139F52FD80B94EB8F1B847F5BC18ECD11DB8433CCABD6DAEA8D49E99C31D369F6504303A5EBA9AA7D9BFCD0479EF4CD7B356364031BDC6DE59B1A1172A168DE6D6605B65076ECD0EB005641EB56FE182B3012A54447CB14EF2DF2E6200829</_7b1dac89e7d195523061f1c0316ecb71>
</e7d195523061f1c0>
</file>

<file path=customXml/itemProps1.xml><?xml version="1.0" encoding="utf-8"?>
<ds:datastoreItem xmlns:ds="http://schemas.openxmlformats.org/officeDocument/2006/customXml" ds:itemID="{FC1EB725-3096-42D0-8A20-29E1DA45BD81}">
  <ds:schemaRefs>
    <ds:schemaRef ds:uri="http://e7d195523061f1c0/custom/data/def"/>
    <ds:schemaRef ds:uri=""/>
  </ds:schemaRefs>
</ds:datastoreItem>
</file>

<file path=docProps/app.xml><?xml version="1.0" encoding="utf-8"?>
<Properties xmlns="http://schemas.openxmlformats.org/officeDocument/2006/extended-properties" xmlns:vt="http://schemas.openxmlformats.org/officeDocument/2006/docPropsVTypes">
  <Template/>
  <TotalTime>25236</TotalTime>
  <Words>2021</Words>
  <Application>Microsoft Office PowerPoint</Application>
  <PresentationFormat>宽屏</PresentationFormat>
  <Paragraphs>253</Paragraphs>
  <Slides>33</Slides>
  <Notes>29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2" baseType="lpstr">
      <vt:lpstr>等线</vt:lpstr>
      <vt:lpstr>微软雅黑</vt:lpstr>
      <vt:lpstr>Arial</vt:lpstr>
      <vt:lpstr>Calibri</vt:lpstr>
      <vt:lpstr>Cambria Math</vt:lpstr>
      <vt:lpstr>Open Sans</vt:lpstr>
      <vt:lpstr>Times New Roman</vt:lpstr>
      <vt:lpstr>1_Office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Hongye Guo</dc:creator>
  <dc:description>©PPTSTORE 版权所有</dc:description>
  <cp:lastModifiedBy>睿可 吕</cp:lastModifiedBy>
  <cp:revision>2256</cp:revision>
  <dcterms:created xsi:type="dcterms:W3CDTF">2017-04-10T03:29:31Z</dcterms:created>
  <dcterms:modified xsi:type="dcterms:W3CDTF">2023-12-08T05:15:17Z</dcterms:modified>
</cp:coreProperties>
</file>